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Soft</c:v>
                </c:pt>
              </c:strCache>
            </c:strRef>
          </c:tx>
          <c:spPr>
            <a:ln w="38100">
              <a:solidFill>
                <a:srgbClr val="FF3B3B"/>
              </a:solidFill>
            </a:ln>
          </c:spPr>
          <c:marker>
            <c:symbol val="circle"/>
            <c:size val="9"/>
            <c:spPr>
              <a:solidFill>
                <a:srgbClr val="FF3B3B"/>
              </a:solidFill>
              <a:ln>
                <a:solidFill>
                  <a:srgbClr val="15151E"/>
                </a:solidFill>
              </a:ln>
            </c:spPr>
          </c:marker>
          <c:cat>
            <c:strRef>
              <c:f>Sheet1!$A$2:$A$5</c:f>
              <c:strCache>
                <c:ptCount val="4"/>
                <c:pt idx="0">
                  <c:v>new</c:v>
                </c:pt>
                <c:pt idx="1">
                  <c:v>10 laps</c:v>
                </c:pt>
                <c:pt idx="2">
                  <c:v>20 laps</c:v>
                </c:pt>
                <c:pt idx="3">
                  <c:v>30 laps</c:v>
                </c:pt>
              </c:strCache>
            </c:strRef>
          </c:cat>
          <c:val>
            <c:numRef>
              <c:f>Sheet1!$B$2:$B$5</c:f>
              <c:numCache>
                <c:formatCode>General</c:formatCode>
                <c:ptCount val="4"/>
                <c:pt idx="0">
                  <c:v>0</c:v>
                </c:pt>
                <c:pt idx="1">
                  <c:v>0.255</c:v>
                </c:pt>
                <c:pt idx="2">
                  <c:v>0.867</c:v>
                </c:pt>
                <c:pt idx="3">
                  <c:v>1.718</c:v>
                </c:pt>
              </c:numCache>
            </c:numRef>
          </c:val>
          <c:smooth val="0"/>
        </c:ser>
        <c:ser>
          <c:idx val="1"/>
          <c:order val="1"/>
          <c:tx>
            <c:strRef>
              <c:f>Sheet1!$C$1</c:f>
              <c:strCache>
                <c:ptCount val="1"/>
                <c:pt idx="0">
                  <c:v>Medium</c:v>
                </c:pt>
              </c:strCache>
            </c:strRef>
          </c:tx>
          <c:spPr>
            <a:ln w="38100">
              <a:solidFill>
                <a:srgbClr val="FFD12E"/>
              </a:solidFill>
            </a:ln>
          </c:spPr>
          <c:marker>
            <c:symbol val="circle"/>
            <c:size val="9"/>
            <c:spPr>
              <a:solidFill>
                <a:srgbClr val="FFD12E"/>
              </a:solidFill>
              <a:ln>
                <a:solidFill>
                  <a:srgbClr val="15151E"/>
                </a:solidFill>
              </a:ln>
            </c:spPr>
          </c:marker>
          <c:cat>
            <c:strRef>
              <c:f>Sheet1!$A$2:$A$5</c:f>
              <c:strCache>
                <c:ptCount val="4"/>
                <c:pt idx="0">
                  <c:v>new</c:v>
                </c:pt>
                <c:pt idx="1">
                  <c:v>10 laps</c:v>
                </c:pt>
                <c:pt idx="2">
                  <c:v>20 laps</c:v>
                </c:pt>
                <c:pt idx="3">
                  <c:v>30 laps</c:v>
                </c:pt>
              </c:strCache>
            </c:strRef>
          </c:cat>
          <c:val>
            <c:numRef>
              <c:f>Sheet1!$C$2:$C$5</c:f>
              <c:numCache>
                <c:formatCode>General</c:formatCode>
                <c:ptCount val="4"/>
                <c:pt idx="0">
                  <c:v>0</c:v>
                </c:pt>
                <c:pt idx="1">
                  <c:v>0.728</c:v>
                </c:pt>
                <c:pt idx="2">
                  <c:v>1.337</c:v>
                </c:pt>
                <c:pt idx="3">
                  <c:v>1.996</c:v>
                </c:pt>
              </c:numCache>
            </c:numRef>
          </c:val>
          <c:smooth val="0"/>
        </c:ser>
        <c:ser>
          <c:idx val="2"/>
          <c:order val="2"/>
          <c:tx>
            <c:strRef>
              <c:f>Sheet1!$D$1</c:f>
              <c:strCache>
                <c:ptCount val="1"/>
                <c:pt idx="0">
                  <c:v>Hard</c:v>
                </c:pt>
              </c:strCache>
            </c:strRef>
          </c:tx>
          <c:spPr>
            <a:ln w="38100">
              <a:solidFill>
                <a:srgbClr val="F2F2F2"/>
              </a:solidFill>
            </a:ln>
          </c:spPr>
          <c:marker>
            <c:symbol val="circle"/>
            <c:size val="9"/>
            <c:spPr>
              <a:solidFill>
                <a:srgbClr val="F2F2F2"/>
              </a:solidFill>
              <a:ln>
                <a:solidFill>
                  <a:srgbClr val="15151E"/>
                </a:solidFill>
              </a:ln>
            </c:spPr>
          </c:marker>
          <c:cat>
            <c:strRef>
              <c:f>Sheet1!$A$2:$A$5</c:f>
              <c:strCache>
                <c:ptCount val="4"/>
                <c:pt idx="0">
                  <c:v>new</c:v>
                </c:pt>
                <c:pt idx="1">
                  <c:v>10 laps</c:v>
                </c:pt>
                <c:pt idx="2">
                  <c:v>20 laps</c:v>
                </c:pt>
                <c:pt idx="3">
                  <c:v>30 laps</c:v>
                </c:pt>
              </c:strCache>
            </c:strRef>
          </c:cat>
          <c:val>
            <c:numRef>
              <c:f>Sheet1!$D$2:$D$5</c:f>
              <c:numCache>
                <c:formatCode>General</c:formatCode>
                <c:ptCount val="4"/>
                <c:pt idx="0">
                  <c:v>0</c:v>
                </c:pt>
                <c:pt idx="1">
                  <c:v>0.551</c:v>
                </c:pt>
                <c:pt idx="2">
                  <c:v>1.076</c:v>
                </c:pt>
                <c:pt idx="3">
                  <c:v>1.589</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a:solidFill>
              <a:srgbClr val="2A2A36"/>
            </a:solidFill>
          </a:ln>
        </c:spPr>
        <c:txPr>
          <a:bodyPr/>
          <a:lstStyle/>
          <a:p>
            <a:pPr>
              <a:defRPr sz="1200" b="1">
                <a:latin typeface="Barlow Condensed"/>
              </a:defRPr>
            </a:pPr>
          </a:p>
        </c:txPr>
        <c:crossAx val="2140495176"/>
        <c:crosses val="autoZero"/>
        <c:auto val="1"/>
        <c:lblAlgn val="ctr"/>
        <c:lblOffset val="100"/>
        <c:noMultiLvlLbl val="0"/>
      </c:catAx>
      <c:valAx>
        <c:axId val="2140495176"/>
        <c:scaling>
          <c:max val="2.5"/>
          <c:min val="0.0"/>
        </c:scaling>
        <c:delete val="0"/>
        <c:axPos val="l"/>
        <c:majorGridlines>
          <c:spPr>
            <a:ln>
              <a:solidFill>
                <a:srgbClr val="1E1E28"/>
              </a:solidFill>
            </a:ln>
          </c:spPr>
        </c:majorGridlines>
        <c:numFmt formatCode="+0.0&quot; s&quot;;-0.0&quot; s&quot;;0" sourceLinked="0"/>
        <c:majorTickMark val="out"/>
        <c:minorTickMark val="none"/>
        <c:tickLblPos val="nextTo"/>
        <c:spPr>
          <a:ln>
            <a:noFill/>
          </a:ln>
        </c:spPr>
        <c:txPr>
          <a:bodyPr/>
          <a:lstStyle/>
          <a:p>
            <a:pPr>
              <a:defRPr sz="1100"/>
            </a:pPr>
          </a:p>
        </c:txPr>
        <c:crossAx val="2118791784"/>
        <c:crosses val="autoZero"/>
        <c:majorUnit val="0.5"/>
      </c:valAx>
      <c:spPr>
        <a:noFill/>
        <a:ln>
          <a:noFill/>
        </a:ln>
      </c:spPr>
    </c:plotArea>
    <c:legend>
      <c:legendPos val="t"/>
      <c:layout/>
      <c:overlay val="0"/>
      <c:txPr>
        <a:bodyPr/>
        <a:lstStyle/>
        <a:p>
          <a:pPr>
            <a:defRPr sz="1300" b="1">
              <a:solidFill>
                <a:srgbClr val="F5F5F7"/>
              </a:solidFill>
              <a:latin typeface="Barlow Condensed"/>
            </a:defRPr>
          </a:pPr>
        </a:p>
      </c:txPr>
    </c:legend>
    <c:plotVisOnly val="1"/>
    <c:dispBlanksAs val="gap"/>
    <c:showDLblsOverMax val="0"/>
  </c:chart>
  <c:spPr>
    <a:noFill/>
    <a:ln>
      <a:noFill/>
    </a:ln>
  </c:spPr>
  <c:txPr>
    <a:bodyPr/>
    <a:lstStyle/>
    <a:p>
      <a:pPr>
        <a:defRPr sz="1100">
          <a:solidFill>
            <a:srgbClr val="A9A9B8"/>
          </a:solidFill>
          <a:latin typeface="JetBrains Mon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dPt>
            <c:idx val="0"/>
            <c:spPr>
              <a:solidFill>
                <a:srgbClr val="E10600"/>
              </a:solidFill>
              <a:ln>
                <a:noFill/>
              </a:ln>
            </c:spPr>
          </c:dPt>
          <c:dPt>
            <c:idx val="1"/>
            <c:spPr>
              <a:solidFill>
                <a:srgbClr val="4A4A58"/>
              </a:solidFill>
              <a:ln>
                <a:noFill/>
              </a:ln>
            </c:spPr>
          </c:dPt>
          <c:dPt>
            <c:idx val="2"/>
            <c:spPr>
              <a:solidFill>
                <a:srgbClr val="4A4A58"/>
              </a:solidFill>
              <a:ln>
                <a:noFill/>
              </a:ln>
            </c:spPr>
          </c:dPt>
          <c:dPt>
            <c:idx val="3"/>
            <c:spPr>
              <a:solidFill>
                <a:srgbClr val="4A4A58"/>
              </a:solidFill>
              <a:ln>
                <a:noFill/>
              </a:ln>
            </c:spPr>
          </c:dPt>
          <c:cat>
            <c:strRef>
              <c:f>Sheet1!$A$2:$A$5</c:f>
              <c:strCache>
                <c:ptCount val="4"/>
                <c:pt idx="0">
                  <c:v>Pitwall</c:v>
                </c:pt>
                <c:pt idx="1">
                  <c:v>Repeat the last lap</c:v>
                </c:pt>
                <c:pt idx="2">
                  <c:v>Mean of last 5 laps</c:v>
                </c:pt>
                <c:pt idx="3">
                  <c:v>Linear fit on the race</c:v>
                </c:pt>
              </c:strCache>
            </c:strRef>
          </c:cat>
          <c:val>
            <c:numRef>
              <c:f>Sheet1!$B$2:$B$5</c:f>
              <c:numCache>
                <c:formatCode>General</c:formatCode>
                <c:ptCount val="4"/>
                <c:pt idx="0">
                  <c:v>0.616</c:v>
                </c:pt>
                <c:pt idx="1">
                  <c:v>1.111</c:v>
                </c:pt>
                <c:pt idx="2">
                  <c:v>1.148</c:v>
                </c:pt>
                <c:pt idx="3">
                  <c:v>2.549</c:v>
                </c:pt>
              </c:numCache>
            </c:numRef>
          </c:val>
        </c:ser>
        <c:dLbls>
          <c:numFmt formatCode="0.000&quot; s&quot;" sourceLinked="0"/>
          <c:txPr>
            <a:bodyPr/>
            <a:lstStyle/>
            <a:p>
              <a:pPr>
                <a:defRPr sz="1300" b="1">
                  <a:solidFill>
                    <a:srgbClr val="F5F5F7"/>
                  </a:solidFill>
                  <a:latin typeface="JetBrains Mon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2A2A36"/>
            </a:solidFill>
          </a:ln>
        </c:spPr>
        <c:txPr>
          <a:bodyPr/>
          <a:lstStyle/>
          <a:p>
            <a:pPr>
              <a:defRPr sz="1300" b="1">
                <a:solidFill>
                  <a:srgbClr val="F5F5F7"/>
                </a:solidFill>
                <a:latin typeface="Barlow Condensed"/>
              </a:defRPr>
            </a:pPr>
          </a:p>
        </c:txPr>
        <c:crossAx val="-2113994440"/>
        <c:crosses val="autoZero"/>
        <c:auto val="1"/>
        <c:lblAlgn val="ctr"/>
        <c:lblOffset val="100"/>
        <c:noMultiLvlLbl val="0"/>
      </c:catAx>
      <c:valAx>
        <c:axId val="-2113994440"/>
        <c:scaling>
          <c:max val="3.1"/>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100">
          <a:solidFill>
            <a:srgbClr val="A9A9B8"/>
          </a:solidFill>
          <a:latin typeface="JetBrains Mon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dPt>
            <c:idx val="0"/>
            <c:spPr>
              <a:solidFill>
                <a:srgbClr val="E10600"/>
              </a:solidFill>
              <a:ln>
                <a:noFill/>
              </a:ln>
            </c:spPr>
          </c:dPt>
          <c:dPt>
            <c:idx val="1"/>
            <c:spPr>
              <a:solidFill>
                <a:srgbClr val="4A4A58"/>
              </a:solidFill>
              <a:ln>
                <a:noFill/>
              </a:ln>
            </c:spPr>
          </c:dPt>
          <c:dPt>
            <c:idx val="2"/>
            <c:spPr>
              <a:solidFill>
                <a:srgbClr val="F5F5F7"/>
              </a:solidFill>
              <a:ln>
                <a:noFill/>
              </a:ln>
            </c:spPr>
          </c:dPt>
          <c:dPt>
            <c:idx val="3"/>
            <c:spPr>
              <a:solidFill>
                <a:srgbClr val="4A4A58"/>
              </a:solidFill>
              <a:ln>
                <a:noFill/>
              </a:ln>
            </c:spPr>
          </c:dPt>
          <c:cat>
            <c:strRef>
              <c:f>Sheet1!$A$2:$A$5</c:f>
              <c:strCache>
                <c:ptCount val="4"/>
                <c:pt idx="0">
                  <c:v>Pitwall, shown the lap's own time</c:v>
                </c:pt>
                <c:pt idx="1">
                  <c:v>Published Bi-LSTM</c:v>
                </c:pt>
                <c:pt idx="2">
                  <c:v>Pitwall pit-call model</c:v>
                </c:pt>
                <c:pt idx="3">
                  <c:v>Optimiser alone</c:v>
                </c:pt>
              </c:strCache>
            </c:strRef>
          </c:cat>
          <c:val>
            <c:numRef>
              <c:f>Sheet1!$B$2:$B$5</c:f>
              <c:numCache>
                <c:formatCode>General</c:formatCode>
                <c:ptCount val="4"/>
                <c:pt idx="0">
                  <c:v>0.839</c:v>
                </c:pt>
                <c:pt idx="1">
                  <c:v>0.81</c:v>
                </c:pt>
                <c:pt idx="2">
                  <c:v>0.273</c:v>
                </c:pt>
                <c:pt idx="3">
                  <c:v>0.159</c:v>
                </c:pt>
              </c:numCache>
            </c:numRef>
          </c:val>
        </c:ser>
        <c:dLbls>
          <c:numFmt formatCode="0.00" sourceLinked="0"/>
          <c:txPr>
            <a:bodyPr/>
            <a:lstStyle/>
            <a:p>
              <a:pPr>
                <a:defRPr sz="1300" b="1">
                  <a:solidFill>
                    <a:srgbClr val="F5F5F7"/>
                  </a:solidFill>
                  <a:latin typeface="JetBrains Mon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2A2A36"/>
            </a:solidFill>
          </a:ln>
        </c:spPr>
        <c:txPr>
          <a:bodyPr/>
          <a:lstStyle/>
          <a:p>
            <a:pPr>
              <a:defRPr sz="1300" b="1">
                <a:solidFill>
                  <a:srgbClr val="F5F5F7"/>
                </a:solidFill>
                <a:latin typeface="Barlow Condensed"/>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100">
          <a:solidFill>
            <a:srgbClr val="A9A9B8"/>
          </a:solidFill>
          <a:latin typeface="JetBrains Mon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Pitwall answers the question a Formula 1 pit wall asks every lap: box now, or stay out? It predicts lap times, models how tyres wear, measures what a stop costs and makes the call, trained on every race from 2021 to 2025. This is the story of how it works, how it failed, and how it evolved.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lap the tyres get a little slower, and a stop costs about 22.6 seconds. The pit wall's job is finding the lap where fresh tyres win back more than the stop costs, while a Safety Car can make a stop nearly free. So the project has three jobs: predict the lap time, model the tyre, decide the call.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race from 2021 to 2025 from FastF1 timing, rebuilt offline: 114 races and 125,046 laps. Unlike v1, every lap is kept, including in-laps, out-laps and Safety Car laps, because those are exactly what a pit-stop model needs. The split is by whole seasons: fit on 2021 to 2023, tune on 2024, and score 2025 exactly once at the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1, July to September 2026: a Ridge regression on absolute lap time scored R squared 0.91 on the 2024 dev season. It looked great. Then the ablation: remove circuit and driver and it collapses to 0.02. It had learned that Monaco laps are slow, not how tyres wear. The tyre-age coefficient even came out backwards. Along the way the data had duplicated races, which had inflated an earlier score to 0.948, and a round_number column corrupted in 82 percent of training rows.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rebuild starts with one idea: give every driver in every race their own base pace. Then the model never needs tyre or fuel terms to explain why one car or one track is faster, and tyre wear and fuel are learned only from changes within a driver's race. Every other term has a physical meaning: compound offsets shrunk from global to circuit to race, fuel, a piecewise-linear wear curve, temperature times age, and traffic. It is one penalised least-squares fit with about 2,500 parameters, solved in closed form.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one stint, fuel falls and tyre age rises together, lap for lap, so you cannot tell them apart. At a pit stop the tyres reset to zero but the fuel keeps falling. That break is where the model separates the two. The learned fuel effect, 0.0333 seconds per kilogram, about 0.058 seconds per lap, sits inside the range quoted for current F1 cars, which is the main sanity check that the separation worked.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learned wear curves, fuel removed, as time lost against a fresh set of the same compound. At 30 laps old a soft costs about 1.7 seconds a lap, a medium about 2.0 and a hard about 1.6. Running within a second of the car ahead costs another 0.41 seconds a lap. Beyond the 95th-percentile stint length at each circuit the optimiser adds a cliff penalty rather than trusting the extrapolation.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 loss is measured, not assumed: for every real stop, the in-lap plus out-lap minus what those laps would have taken without stopping. That is 1.53 seconds of error per stop against 2.16 for a fixed 22 seconds. Under a Safety Car a lap-time comparison is misleading because the queue gives the time back, so those stops are measured by the gap to the leader three laps later against matched cars that did not stop. An SC stop costs 9 percent of a green one, a VSC stop 59 percent, but teams behave as if an SC stop costs about half, because track position is hard to win back.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 comes from a stochastic dynamic programme. At each lap the state is the compound, tyre age, whether two compounds have been used, and the track status. Working backwards from the flag, it computes the best expected remaining race time from every state, staying out or pitting. Safety Car states follow the circuit's chain, so it values staying out for a cheap stop. 30 refits of the tyre model on resampled races vote, which gives the agreement ring. The same optimiser runs in the browser, and a test checks it makes the same calls as Python.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on 2025, a season the model never saw. During a race, the average lap-time error is 0.616 seconds, against 1.111 for simply repeating the last lap: 45 percent less error. Before the race it is 1.556 seconds, better than the v1 Ridge. Pit loss per stop: 1.53 seconds of error. Remaining race time from lap 10: within 0.49 percent.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published Bi-LSTM pit predictor reports F1 0.81. Pitwall can match it: give the classifier the lap's own time and it scores 0.84, ROC-AUC 0.994. But a lap that ends in the pit lane is slow because of the stop, so the model is reading the answer off the lap. Using only what is known before the lap, the honest pit-call model scores F1 0.27, ROC-AUC 0.876. We had our own version of this leak: end-of-lap gap features lifted F1 to 0.32 until they were moved to lap n minus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broke while building the model, as a DNF board. Each one cost time; each one changed how the project works. The most important: the pit and Safety Car laps were being thrown away by a FastF1 filter, and a groupby returned labels instead of positions, which silently corrupted the design matrix without raising any error.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broke in its own ways. A stale cached file crashed the 3D view, one exception could freeze the replay forever, the car flipped in corners because a rotation was degenerate near a 180 degree heading, and smoothing the track to stop the wobble also erased chicanes, so corners are now found from braking zones in the real speed trace.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timeline. v1 in July 2026 built the data pipeline and the Ridge baseline. September brought per-compound models and mostly negative results, plus the round_number fix. On 2026-10-06 v2 rebuilt everything around the structural model, the measured pit loss, the Safety Car chain and the optimiser. v2.1 added recency weighting, which cut in-race error by 18 percent, and the leak-free pit-call model. v2.2 turned the dashboard into a cinematic 3D app, and v2.3 is the F1 broadcast redesign with the What If engine, onboard telemetry, the race-engineer guide and the corner cinematics.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became an app you can watch. Six views: Pit Wall for the call, Race Theatre replaying every 2025 race in 3D on the real circuits with all 20 cars at their recorded pace, Onboard with real telemetry, What If, Tyre Lab and Proof. A personal race-engineer guide tours it at your level, and Explain mode explains anything you click.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If reruns a real 2025 race with one thing changed. You ask in plain English; the parser shows what it understood and reports anything it cannot place. Each driver's real clean pace is taken lap by lap, the change goes through the model, and Safety Cars are queue events where lapped cars keep their deficit. Each what-if clock is the real clock plus the modelled difference, so an unchanged race reproduces reality exactly. Here, if Leclerc had followed Pitwall's strategy at Monza, he finishes second instead of fourth, 13 seconds quicker.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Making it feel real. Corners are found from braking zones in the fastest-lap speed trace: every minimum at least 20 kilometres per hour below its run-up. At Monza that finds all six real braking zones. A trackside camera sits on the outside of each corner with a long lens that zooms to hold the car's size. The front wheels steer from the real curvature, and every pose is yaw and pitch only, so the car can never flip. The Director mode cuts like a broadcast.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lessons. A high R squared can be a lookup table, so ablate before you believe it. Separate effects where they decouple: the pit stop resets the tyres but not the fuel. Leaks hide in time, so use only what was known before the lap. Hold out whole seasons and score the test year once. And stability is a feature: smooth inputs and damped rigs beat clever cameras.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next. A two-car undercut and overcut model to close the gap between the time-minimising optimiser and what teams actually do. Mapping soft, medium and hard to Pirelli's C1 to C5 per event. And FP2 long runs to counter survivorship bias in the tyre curves.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Pitwall: a structural model that knows why a lap is slow, a decision engine that solves the rest of the race, an honest evaluation, and an app that lets you watch it and ask it what if. The live app and all the code are linked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 Id="rId4" Type="http://schemas.openxmlformats.org/officeDocument/2006/relationships/image" Target="../media/image3.jpg"/><Relationship Id="rId5"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1.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5.xml"/><Relationship Id="rId4" Type="http://schemas.openxmlformats.org/officeDocument/2006/relationships/image" Target="../media/image5.jpg"/><Relationship Id="rId5" Type="http://schemas.openxmlformats.org/officeDocument/2006/relationships/image" Target="../media/image3.jpg"/><Relationship Id="rId6"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6.xm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7.xml"/><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title_car.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LIGHTS OUT</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01</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609584"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18120" y="502920"/>
            <a:ext cx="566928" cy="1207008"/>
          </a:xfrm>
          <a:prstGeom prst="roundRect">
            <a:avLst>
              <a:gd name="adj" fmla="val 18000"/>
            </a:avLst>
          </a:prstGeom>
          <a:solidFill>
            <a:srgbClr val="121218"/>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909560" y="612648"/>
            <a:ext cx="384048" cy="384048"/>
          </a:xfrm>
          <a:prstGeom prst="ellipse">
            <a:avLst/>
          </a:prstGeom>
          <a:solidFill>
            <a:srgbClr val="3A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909560" y="1216152"/>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04504" y="502920"/>
            <a:ext cx="566928" cy="1207008"/>
          </a:xfrm>
          <a:prstGeom prst="roundRect">
            <a:avLst>
              <a:gd name="adj" fmla="val 18000"/>
            </a:avLst>
          </a:prstGeom>
          <a:solidFill>
            <a:srgbClr val="121218"/>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695944" y="612648"/>
            <a:ext cx="384048" cy="384048"/>
          </a:xfrm>
          <a:prstGeom prst="ellipse">
            <a:avLst/>
          </a:prstGeom>
          <a:solidFill>
            <a:srgbClr val="3A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95944" y="1216152"/>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390888" y="502920"/>
            <a:ext cx="566928" cy="1207008"/>
          </a:xfrm>
          <a:prstGeom prst="roundRect">
            <a:avLst>
              <a:gd name="adj" fmla="val 18000"/>
            </a:avLst>
          </a:prstGeom>
          <a:solidFill>
            <a:srgbClr val="121218"/>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82328" y="612648"/>
            <a:ext cx="384048" cy="384048"/>
          </a:xfrm>
          <a:prstGeom prst="ellipse">
            <a:avLst/>
          </a:prstGeom>
          <a:solidFill>
            <a:srgbClr val="3A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82328" y="1216152"/>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177272" y="502920"/>
            <a:ext cx="566928" cy="1207008"/>
          </a:xfrm>
          <a:prstGeom prst="roundRect">
            <a:avLst>
              <a:gd name="adj" fmla="val 18000"/>
            </a:avLst>
          </a:prstGeom>
          <a:solidFill>
            <a:srgbClr val="121218"/>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68712" y="612648"/>
            <a:ext cx="384048" cy="384048"/>
          </a:xfrm>
          <a:prstGeom prst="ellipse">
            <a:avLst/>
          </a:prstGeom>
          <a:solidFill>
            <a:srgbClr val="3A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68712" y="1216152"/>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963656" y="502920"/>
            <a:ext cx="566928" cy="1207008"/>
          </a:xfrm>
          <a:prstGeom prst="roundRect">
            <a:avLst>
              <a:gd name="adj" fmla="val 18000"/>
            </a:avLst>
          </a:prstGeom>
          <a:solidFill>
            <a:srgbClr val="121218"/>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55096" y="612648"/>
            <a:ext cx="384048" cy="384048"/>
          </a:xfrm>
          <a:prstGeom prst="ellipse">
            <a:avLst/>
          </a:prstGeom>
          <a:solidFill>
            <a:srgbClr val="3A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055096" y="1216152"/>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649224"/>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566928"/>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F1 STRATEGY ENGINE  ·  FASTF1 DATA 2021-2025</a:t>
            </a:r>
          </a:p>
        </p:txBody>
      </p:sp>
      <p:sp>
        <p:nvSpPr>
          <p:cNvPr id="24" name="TextBox 23"/>
          <p:cNvSpPr txBox="1"/>
          <p:nvPr/>
        </p:nvSpPr>
        <p:spPr>
          <a:xfrm>
            <a:off x="502920" y="914400"/>
            <a:ext cx="6949440" cy="1645920"/>
          </a:xfrm>
          <a:prstGeom prst="rect">
            <a:avLst/>
          </a:prstGeom>
          <a:noFill/>
        </p:spPr>
        <p:txBody>
          <a:bodyPr wrap="square" lIns="0" rIns="0" tIns="0" bIns="0" anchor="t">
            <a:spAutoFit/>
          </a:bodyPr>
          <a:lstStyle/>
          <a:p>
            <a:pPr algn="l">
              <a:lnSpc>
                <a:spcPct val="85000"/>
              </a:lnSpc>
            </a:pPr>
            <a:r>
              <a:rPr sz="11800" b="1" i="1">
                <a:solidFill>
                  <a:srgbClr val="F5F5F7"/>
                </a:solidFill>
                <a:latin typeface="Barlow Condensed"/>
              </a:rPr>
              <a:t>PIT</a:t>
            </a:r>
            <a:r>
              <a:rPr sz="11800" b="1" i="1">
                <a:solidFill>
                  <a:srgbClr val="E10600"/>
                </a:solidFill>
                <a:latin typeface="Barlow Condensed"/>
              </a:rPr>
              <a:t>WALL</a:t>
            </a:r>
          </a:p>
        </p:txBody>
      </p:sp>
      <p:sp>
        <p:nvSpPr>
          <p:cNvPr id="25" name="TextBox 24"/>
          <p:cNvSpPr txBox="1"/>
          <p:nvPr/>
        </p:nvSpPr>
        <p:spPr>
          <a:xfrm>
            <a:off x="548640" y="2606040"/>
            <a:ext cx="4023360" cy="1188720"/>
          </a:xfrm>
          <a:prstGeom prst="rect">
            <a:avLst/>
          </a:prstGeom>
          <a:noFill/>
        </p:spPr>
        <p:txBody>
          <a:bodyPr wrap="square" lIns="0" rIns="0" tIns="0" bIns="0" anchor="t">
            <a:spAutoFit/>
          </a:bodyPr>
          <a:lstStyle/>
          <a:p>
            <a:pPr algn="l">
              <a:lnSpc>
                <a:spcPct val="110000"/>
              </a:lnSpc>
            </a:pPr>
            <a:r>
              <a:rPr sz="2000" b="0" i="0">
                <a:solidFill>
                  <a:srgbClr val="A9A9B8"/>
                </a:solidFill>
                <a:latin typeface="Barlow"/>
              </a:rPr>
              <a:t>Predicting lap times, tyre wear and the pit call from 125,046 laps of Formula 1.</a:t>
            </a:r>
          </a:p>
        </p:txBody>
      </p:sp>
      <p:sp>
        <p:nvSpPr>
          <p:cNvPr id="26" name="Parallelogram 25"/>
          <p:cNvSpPr/>
          <p:nvPr/>
        </p:nvSpPr>
        <p:spPr>
          <a:xfrm>
            <a:off x="548640" y="3931920"/>
            <a:ext cx="1051560" cy="347472"/>
          </a:xfrm>
          <a:prstGeom prst="parallelogram">
            <a:avLst>
              <a:gd name="adj" fmla="val 25000"/>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LAP TIME</a:t>
            </a:r>
          </a:p>
        </p:txBody>
      </p:sp>
      <p:sp>
        <p:nvSpPr>
          <p:cNvPr id="27" name="Parallelogram 26"/>
          <p:cNvSpPr/>
          <p:nvPr/>
        </p:nvSpPr>
        <p:spPr>
          <a:xfrm>
            <a:off x="1673352" y="3931920"/>
            <a:ext cx="1143000" cy="347472"/>
          </a:xfrm>
          <a:prstGeom prst="parallelogram">
            <a:avLst>
              <a:gd name="adj" fmla="val 25000"/>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TYRE WEAR</a:t>
            </a:r>
          </a:p>
        </p:txBody>
      </p:sp>
      <p:sp>
        <p:nvSpPr>
          <p:cNvPr id="28" name="Parallelogram 27"/>
          <p:cNvSpPr/>
          <p:nvPr/>
        </p:nvSpPr>
        <p:spPr>
          <a:xfrm>
            <a:off x="2889504" y="3931920"/>
            <a:ext cx="1600200" cy="347472"/>
          </a:xfrm>
          <a:prstGeom prst="parallelogram">
            <a:avLst>
              <a:gd name="adj" fmla="val 25000"/>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BOX OR STAY OUT</a:t>
            </a:r>
          </a:p>
        </p:txBody>
      </p:sp>
      <p:sp>
        <p:nvSpPr>
          <p:cNvPr id="29" name="Parallelogram 28"/>
          <p:cNvSpPr/>
          <p:nvPr/>
        </p:nvSpPr>
        <p:spPr>
          <a:xfrm>
            <a:off x="4562856" y="3931920"/>
            <a:ext cx="960120" cy="347472"/>
          </a:xfrm>
          <a:prstGeom prst="parallelogram">
            <a:avLst>
              <a:gd name="adj" fmla="val 25000"/>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WHAT IF</a:t>
            </a:r>
          </a:p>
        </p:txBody>
      </p:sp>
      <p:sp>
        <p:nvSpPr>
          <p:cNvPr id="30" name="TextBox 29"/>
          <p:cNvSpPr txBox="1"/>
          <p:nvPr/>
        </p:nvSpPr>
        <p:spPr>
          <a:xfrm>
            <a:off x="548640" y="5715000"/>
            <a:ext cx="5486400" cy="274320"/>
          </a:xfrm>
          <a:prstGeom prst="rect">
            <a:avLst/>
          </a:prstGeom>
          <a:noFill/>
        </p:spPr>
        <p:txBody>
          <a:bodyPr wrap="square" lIns="0" rIns="0" tIns="0" bIns="0" anchor="t">
            <a:spAutoFit/>
          </a:bodyPr>
          <a:lstStyle/>
          <a:p>
            <a:pPr algn="l"/>
            <a:r>
              <a:rPr sz="1200" b="1" i="0">
                <a:solidFill>
                  <a:srgbClr val="F5F5F7"/>
                </a:solidFill>
                <a:latin typeface="JetBrains Mono"/>
              </a:rPr>
              <a:t>ARNAV YADAV</a:t>
            </a:r>
            <a:r>
              <a:rPr sz="1200" b="0" i="0">
                <a:solidFill>
                  <a:srgbClr val="A9A9B8"/>
                </a:solidFill>
                <a:latin typeface="JetBrains Mono"/>
              </a:rPr>
              <a:t>   ·   2026-10-06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THE QUESTION</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02</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1219169"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THE QUESTION</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EVERY LAP, </a:t>
            </a:r>
            <a:r>
              <a:rPr sz="4600" b="1" i="1">
                <a:solidFill>
                  <a:srgbClr val="E10600"/>
                </a:solidFill>
                <a:latin typeface="Barlow Condensed"/>
              </a:rPr>
              <a:t>ONE QUESTION.</a:t>
            </a:r>
          </a:p>
        </p:txBody>
      </p:sp>
      <p:sp>
        <p:nvSpPr>
          <p:cNvPr id="10" name="TextBox 9"/>
          <p:cNvSpPr txBox="1"/>
          <p:nvPr/>
        </p:nvSpPr>
        <p:spPr>
          <a:xfrm>
            <a:off x="548640" y="1874519"/>
            <a:ext cx="5120640" cy="731520"/>
          </a:xfrm>
          <a:prstGeom prst="rect">
            <a:avLst/>
          </a:prstGeom>
          <a:noFill/>
        </p:spPr>
        <p:txBody>
          <a:bodyPr wrap="square" lIns="0" rIns="0" tIns="0" bIns="0" anchor="t">
            <a:spAutoFit/>
          </a:bodyPr>
          <a:lstStyle/>
          <a:p>
            <a:pPr algn="l"/>
            <a:r>
              <a:rPr sz="4000" b="1" i="1">
                <a:solidFill>
                  <a:srgbClr val="F5F5F7"/>
                </a:solidFill>
                <a:latin typeface="Barlow Condensed"/>
              </a:rPr>
              <a:t>“Box, or stay out?”</a:t>
            </a:r>
          </a:p>
        </p:txBody>
      </p:sp>
      <p:sp>
        <p:nvSpPr>
          <p:cNvPr id="11" name="TextBox 10"/>
          <p:cNvSpPr txBox="1"/>
          <p:nvPr/>
        </p:nvSpPr>
        <p:spPr>
          <a:xfrm>
            <a:off x="548640" y="2697480"/>
            <a:ext cx="4937760" cy="1554480"/>
          </a:xfrm>
          <a:prstGeom prst="rect">
            <a:avLst/>
          </a:prstGeom>
          <a:noFill/>
        </p:spPr>
        <p:txBody>
          <a:bodyPr wrap="square" lIns="0" rIns="0" tIns="0" bIns="0" anchor="t">
            <a:spAutoFit/>
          </a:bodyPr>
          <a:lstStyle/>
          <a:p>
            <a:pPr algn="l">
              <a:lnSpc>
                <a:spcPct val="120000"/>
              </a:lnSpc>
            </a:pPr>
            <a:r>
              <a:rPr sz="1500" b="0" i="0">
                <a:solidFill>
                  <a:srgbClr val="A9A9B8"/>
                </a:solidFill>
                <a:latin typeface="Barlow"/>
              </a:rPr>
              <a:t>A pit stop costs about 22.6 seconds. Old tyres cost a little more every lap. The pit wall has to find the lap where fresh tyres win back more than the stop costs, knowing a Safety Car could make the stop almost free.</a:t>
            </a:r>
          </a:p>
        </p:txBody>
      </p:sp>
      <p:sp>
        <p:nvSpPr>
          <p:cNvPr id="12" name="Rectangle 11"/>
          <p:cNvSpPr/>
          <p:nvPr/>
        </p:nvSpPr>
        <p:spPr>
          <a:xfrm>
            <a:off x="548640" y="4434840"/>
            <a:ext cx="1591056" cy="13258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434840"/>
            <a:ext cx="1591056" cy="45720"/>
          </a:xfrm>
          <a:prstGeom prst="rect">
            <a:avLst/>
          </a:prstGeom>
          <a:solidFill>
            <a:srgbClr val="2A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599432"/>
            <a:ext cx="1280160" cy="274320"/>
          </a:xfrm>
          <a:prstGeom prst="rect">
            <a:avLst/>
          </a:prstGeom>
          <a:noFill/>
        </p:spPr>
        <p:txBody>
          <a:bodyPr wrap="square" lIns="0" rIns="0" tIns="0" bIns="0" anchor="t">
            <a:spAutoFit/>
          </a:bodyPr>
          <a:lstStyle/>
          <a:p>
            <a:pPr algn="l"/>
            <a:r>
              <a:rPr sz="1100" b="0" i="0">
                <a:solidFill>
                  <a:srgbClr val="E10600"/>
                </a:solidFill>
                <a:latin typeface="JetBrains Mono"/>
              </a:rPr>
              <a:t>01</a:t>
            </a:r>
          </a:p>
        </p:txBody>
      </p:sp>
      <p:sp>
        <p:nvSpPr>
          <p:cNvPr id="15" name="TextBox 14"/>
          <p:cNvSpPr txBox="1"/>
          <p:nvPr/>
        </p:nvSpPr>
        <p:spPr>
          <a:xfrm>
            <a:off x="713232" y="4846320"/>
            <a:ext cx="1371600" cy="411480"/>
          </a:xfrm>
          <a:prstGeom prst="rect">
            <a:avLst/>
          </a:prstGeom>
          <a:noFill/>
        </p:spPr>
        <p:txBody>
          <a:bodyPr wrap="square" lIns="0" rIns="0" tIns="0" bIns="0" anchor="t">
            <a:spAutoFit/>
          </a:bodyPr>
          <a:lstStyle/>
          <a:p>
            <a:pPr algn="l"/>
            <a:r>
              <a:rPr sz="2400" b="1" i="1">
                <a:solidFill>
                  <a:srgbClr val="F5F5F7"/>
                </a:solidFill>
                <a:latin typeface="Barlow Condensed"/>
              </a:rPr>
              <a:t>PREDICT</a:t>
            </a:r>
          </a:p>
        </p:txBody>
      </p:sp>
      <p:sp>
        <p:nvSpPr>
          <p:cNvPr id="16" name="TextBox 15"/>
          <p:cNvSpPr txBox="1"/>
          <p:nvPr/>
        </p:nvSpPr>
        <p:spPr>
          <a:xfrm>
            <a:off x="713232" y="5285232"/>
            <a:ext cx="1371600" cy="274320"/>
          </a:xfrm>
          <a:prstGeom prst="rect">
            <a:avLst/>
          </a:prstGeom>
          <a:noFill/>
        </p:spPr>
        <p:txBody>
          <a:bodyPr wrap="square" lIns="0" rIns="0" tIns="0" bIns="0" anchor="t">
            <a:spAutoFit/>
          </a:bodyPr>
          <a:lstStyle/>
          <a:p>
            <a:pPr algn="l"/>
            <a:r>
              <a:rPr sz="1300" b="0" i="0">
                <a:solidFill>
                  <a:srgbClr val="A9A9B8"/>
                </a:solidFill>
                <a:latin typeface="Barlow"/>
              </a:rPr>
              <a:t>the lap time</a:t>
            </a:r>
          </a:p>
        </p:txBody>
      </p:sp>
      <p:sp>
        <p:nvSpPr>
          <p:cNvPr id="17" name="Rectangle 16"/>
          <p:cNvSpPr/>
          <p:nvPr/>
        </p:nvSpPr>
        <p:spPr>
          <a:xfrm>
            <a:off x="2249424" y="4434840"/>
            <a:ext cx="1591056" cy="13258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49424" y="4434840"/>
            <a:ext cx="1591056" cy="45720"/>
          </a:xfrm>
          <a:prstGeom prst="rect">
            <a:avLst/>
          </a:prstGeom>
          <a:solidFill>
            <a:srgbClr val="2A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14016" y="4599432"/>
            <a:ext cx="1280160" cy="274320"/>
          </a:xfrm>
          <a:prstGeom prst="rect">
            <a:avLst/>
          </a:prstGeom>
          <a:noFill/>
        </p:spPr>
        <p:txBody>
          <a:bodyPr wrap="square" lIns="0" rIns="0" tIns="0" bIns="0" anchor="t">
            <a:spAutoFit/>
          </a:bodyPr>
          <a:lstStyle/>
          <a:p>
            <a:pPr algn="l"/>
            <a:r>
              <a:rPr sz="1100" b="0" i="0">
                <a:solidFill>
                  <a:srgbClr val="E10600"/>
                </a:solidFill>
                <a:latin typeface="JetBrains Mono"/>
              </a:rPr>
              <a:t>02</a:t>
            </a:r>
          </a:p>
        </p:txBody>
      </p:sp>
      <p:sp>
        <p:nvSpPr>
          <p:cNvPr id="20" name="TextBox 19"/>
          <p:cNvSpPr txBox="1"/>
          <p:nvPr/>
        </p:nvSpPr>
        <p:spPr>
          <a:xfrm>
            <a:off x="2414016" y="4846320"/>
            <a:ext cx="1371600" cy="411480"/>
          </a:xfrm>
          <a:prstGeom prst="rect">
            <a:avLst/>
          </a:prstGeom>
          <a:noFill/>
        </p:spPr>
        <p:txBody>
          <a:bodyPr wrap="square" lIns="0" rIns="0" tIns="0" bIns="0" anchor="t">
            <a:spAutoFit/>
          </a:bodyPr>
          <a:lstStyle/>
          <a:p>
            <a:pPr algn="l"/>
            <a:r>
              <a:rPr sz="2400" b="1" i="1">
                <a:solidFill>
                  <a:srgbClr val="F5F5F7"/>
                </a:solidFill>
                <a:latin typeface="Barlow Condensed"/>
              </a:rPr>
              <a:t>MODEL</a:t>
            </a:r>
          </a:p>
        </p:txBody>
      </p:sp>
      <p:sp>
        <p:nvSpPr>
          <p:cNvPr id="21" name="TextBox 20"/>
          <p:cNvSpPr txBox="1"/>
          <p:nvPr/>
        </p:nvSpPr>
        <p:spPr>
          <a:xfrm>
            <a:off x="2414016" y="5285232"/>
            <a:ext cx="1371600" cy="274320"/>
          </a:xfrm>
          <a:prstGeom prst="rect">
            <a:avLst/>
          </a:prstGeom>
          <a:noFill/>
        </p:spPr>
        <p:txBody>
          <a:bodyPr wrap="square" lIns="0" rIns="0" tIns="0" bIns="0" anchor="t">
            <a:spAutoFit/>
          </a:bodyPr>
          <a:lstStyle/>
          <a:p>
            <a:pPr algn="l"/>
            <a:r>
              <a:rPr sz="1300" b="0" i="0">
                <a:solidFill>
                  <a:srgbClr val="A9A9B8"/>
                </a:solidFill>
                <a:latin typeface="Barlow"/>
              </a:rPr>
              <a:t>the tyre</a:t>
            </a:r>
          </a:p>
        </p:txBody>
      </p:sp>
      <p:sp>
        <p:nvSpPr>
          <p:cNvPr id="22" name="Rectangle 21"/>
          <p:cNvSpPr/>
          <p:nvPr/>
        </p:nvSpPr>
        <p:spPr>
          <a:xfrm>
            <a:off x="3950208" y="4434840"/>
            <a:ext cx="1591056" cy="13258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950208" y="4434840"/>
            <a:ext cx="1591056" cy="45720"/>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4599432"/>
            <a:ext cx="1280160" cy="274320"/>
          </a:xfrm>
          <a:prstGeom prst="rect">
            <a:avLst/>
          </a:prstGeom>
          <a:noFill/>
        </p:spPr>
        <p:txBody>
          <a:bodyPr wrap="square" lIns="0" rIns="0" tIns="0" bIns="0" anchor="t">
            <a:spAutoFit/>
          </a:bodyPr>
          <a:lstStyle/>
          <a:p>
            <a:pPr algn="l"/>
            <a:r>
              <a:rPr sz="1100" b="0" i="0">
                <a:solidFill>
                  <a:srgbClr val="E10600"/>
                </a:solidFill>
                <a:latin typeface="JetBrains Mono"/>
              </a:rPr>
              <a:t>03</a:t>
            </a:r>
          </a:p>
        </p:txBody>
      </p:sp>
      <p:sp>
        <p:nvSpPr>
          <p:cNvPr id="25" name="TextBox 24"/>
          <p:cNvSpPr txBox="1"/>
          <p:nvPr/>
        </p:nvSpPr>
        <p:spPr>
          <a:xfrm>
            <a:off x="4114800" y="4846320"/>
            <a:ext cx="1371600" cy="411480"/>
          </a:xfrm>
          <a:prstGeom prst="rect">
            <a:avLst/>
          </a:prstGeom>
          <a:noFill/>
        </p:spPr>
        <p:txBody>
          <a:bodyPr wrap="square" lIns="0" rIns="0" tIns="0" bIns="0" anchor="t">
            <a:spAutoFit/>
          </a:bodyPr>
          <a:lstStyle/>
          <a:p>
            <a:pPr algn="l"/>
            <a:r>
              <a:rPr sz="2400" b="1" i="1">
                <a:solidFill>
                  <a:srgbClr val="F5F5F7"/>
                </a:solidFill>
                <a:latin typeface="Barlow Condensed"/>
              </a:rPr>
              <a:t>DECIDE</a:t>
            </a:r>
          </a:p>
        </p:txBody>
      </p:sp>
      <p:sp>
        <p:nvSpPr>
          <p:cNvPr id="26" name="TextBox 25"/>
          <p:cNvSpPr txBox="1"/>
          <p:nvPr/>
        </p:nvSpPr>
        <p:spPr>
          <a:xfrm>
            <a:off x="4114800" y="5285232"/>
            <a:ext cx="1371600" cy="274320"/>
          </a:xfrm>
          <a:prstGeom prst="rect">
            <a:avLst/>
          </a:prstGeom>
          <a:noFill/>
        </p:spPr>
        <p:txBody>
          <a:bodyPr wrap="square" lIns="0" rIns="0" tIns="0" bIns="0" anchor="t">
            <a:spAutoFit/>
          </a:bodyPr>
          <a:lstStyle/>
          <a:p>
            <a:pPr algn="l"/>
            <a:r>
              <a:rPr sz="1300" b="0" i="0">
                <a:solidFill>
                  <a:srgbClr val="A9A9B8"/>
                </a:solidFill>
                <a:latin typeface="Barlow"/>
              </a:rPr>
              <a:t>the call</a:t>
            </a:r>
          </a:p>
        </p:txBody>
      </p:sp>
      <p:sp>
        <p:nvSpPr>
          <p:cNvPr id="27" name="Rectangle 26"/>
          <p:cNvSpPr/>
          <p:nvPr/>
        </p:nvSpPr>
        <p:spPr>
          <a:xfrm>
            <a:off x="6172200" y="1783080"/>
            <a:ext cx="5468112" cy="420624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201168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SCHEMATIC · THE INTUITION</a:t>
            </a:r>
          </a:p>
        </p:txBody>
      </p:sp>
      <p:cxnSp>
        <p:nvCxnSpPr>
          <p:cNvPr id="29" name="Connector 28"/>
          <p:cNvCxnSpPr/>
          <p:nvPr/>
        </p:nvCxnSpPr>
        <p:spPr>
          <a:xfrm>
            <a:off x="6766560" y="5349240"/>
            <a:ext cx="4553712" cy="0"/>
          </a:xfrm>
          <a:prstGeom prst="line">
            <a:avLst/>
          </a:prstGeom>
          <a:ln w="12700">
            <a:solidFill>
              <a:srgbClr val="6E6E7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766560" y="2560320"/>
            <a:ext cx="0" cy="2788920"/>
          </a:xfrm>
          <a:prstGeom prst="line">
            <a:avLst/>
          </a:prstGeom>
          <a:ln w="12700">
            <a:solidFill>
              <a:srgbClr val="6E6E7E"/>
            </a:solidFill>
          </a:ln>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6766560" y="2560320"/>
            <a:ext cx="4553712" cy="2788920"/>
          </a:xfrm>
          <a:custGeom>
            <a:avLst/>
            <a:gdLst/>
            <a:ahLst/>
            <a:cxnLst/>
            <a:rect l="l" t="t" r="r" b="b"/>
            <a:pathLst>
              <a:path w="4553712" h="2788920">
                <a:moveTo>
                  <a:pt x="0" y="2788920"/>
                </a:moveTo>
                <a:lnTo>
                  <a:pt x="113842" y="2784194"/>
                </a:lnTo>
                <a:lnTo>
                  <a:pt x="227685" y="2777885"/>
                </a:lnTo>
                <a:lnTo>
                  <a:pt x="341528" y="2769590"/>
                </a:lnTo>
                <a:lnTo>
                  <a:pt x="455371" y="2759047"/>
                </a:lnTo>
                <a:lnTo>
                  <a:pt x="569214" y="2746051"/>
                </a:lnTo>
                <a:lnTo>
                  <a:pt x="683056" y="2730432"/>
                </a:lnTo>
                <a:lnTo>
                  <a:pt x="796899" y="2712042"/>
                </a:lnTo>
                <a:lnTo>
                  <a:pt x="910742" y="2690748"/>
                </a:lnTo>
                <a:lnTo>
                  <a:pt x="1024585" y="2666432"/>
                </a:lnTo>
                <a:lnTo>
                  <a:pt x="1138428" y="2638986"/>
                </a:lnTo>
                <a:lnTo>
                  <a:pt x="1252270" y="2608307"/>
                </a:lnTo>
                <a:lnTo>
                  <a:pt x="1366113" y="2574303"/>
                </a:lnTo>
                <a:lnTo>
                  <a:pt x="1479956" y="2536886"/>
                </a:lnTo>
                <a:lnTo>
                  <a:pt x="1593799" y="2495972"/>
                </a:lnTo>
                <a:lnTo>
                  <a:pt x="1707642" y="2451483"/>
                </a:lnTo>
                <a:lnTo>
                  <a:pt x="1821484" y="2403344"/>
                </a:lnTo>
                <a:lnTo>
                  <a:pt x="1935327" y="2351484"/>
                </a:lnTo>
                <a:lnTo>
                  <a:pt x="2049170" y="2295834"/>
                </a:lnTo>
                <a:lnTo>
                  <a:pt x="2163013" y="2236328"/>
                </a:lnTo>
                <a:lnTo>
                  <a:pt x="2276856" y="2172905"/>
                </a:lnTo>
                <a:lnTo>
                  <a:pt x="2390698" y="2105502"/>
                </a:lnTo>
                <a:lnTo>
                  <a:pt x="2504541" y="2034061"/>
                </a:lnTo>
                <a:lnTo>
                  <a:pt x="2618384" y="1958526"/>
                </a:lnTo>
                <a:lnTo>
                  <a:pt x="2732227" y="1878841"/>
                </a:lnTo>
                <a:lnTo>
                  <a:pt x="2846070" y="1794954"/>
                </a:lnTo>
                <a:lnTo>
                  <a:pt x="2959912" y="1706811"/>
                </a:lnTo>
                <a:lnTo>
                  <a:pt x="3073755" y="1614364"/>
                </a:lnTo>
                <a:lnTo>
                  <a:pt x="3187598" y="1517563"/>
                </a:lnTo>
                <a:lnTo>
                  <a:pt x="3301441" y="1416359"/>
                </a:lnTo>
                <a:lnTo>
                  <a:pt x="3415284" y="1310708"/>
                </a:lnTo>
                <a:lnTo>
                  <a:pt x="3529126" y="1200562"/>
                </a:lnTo>
                <a:lnTo>
                  <a:pt x="3642969" y="1085878"/>
                </a:lnTo>
                <a:lnTo>
                  <a:pt x="3756812" y="966612"/>
                </a:lnTo>
                <a:lnTo>
                  <a:pt x="3870655" y="842722"/>
                </a:lnTo>
                <a:lnTo>
                  <a:pt x="3984498" y="714166"/>
                </a:lnTo>
                <a:lnTo>
                  <a:pt x="4098340" y="580904"/>
                </a:lnTo>
                <a:lnTo>
                  <a:pt x="4212183" y="442895"/>
                </a:lnTo>
                <a:lnTo>
                  <a:pt x="4326026" y="300100"/>
                </a:lnTo>
                <a:lnTo>
                  <a:pt x="4439869" y="152481"/>
                </a:lnTo>
                <a:lnTo>
                  <a:pt x="4553712" y="0"/>
                </a:lnTo>
              </a:path>
            </a:pathLst>
          </a:custGeom>
          <a:noFill/>
          <a:ln w="38100">
            <a:solidFill>
              <a:srgbClr val="E10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6766560" y="3954779"/>
            <a:ext cx="4553712" cy="0"/>
          </a:xfrm>
          <a:prstGeom prst="line">
            <a:avLst/>
          </a:prstGeom>
          <a:ln w="19050">
            <a:solidFill>
              <a:srgbClr val="F5F5F7"/>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942832" y="3643883"/>
            <a:ext cx="2377440" cy="274320"/>
          </a:xfrm>
          <a:prstGeom prst="rect">
            <a:avLst/>
          </a:prstGeom>
          <a:noFill/>
        </p:spPr>
        <p:txBody>
          <a:bodyPr wrap="square" lIns="0" rIns="0" tIns="0" bIns="0" anchor="t">
            <a:spAutoFit/>
          </a:bodyPr>
          <a:lstStyle/>
          <a:p>
            <a:pPr algn="r"/>
            <a:r>
              <a:rPr sz="1200" b="0" i="0">
                <a:solidFill>
                  <a:srgbClr val="F5F5F7"/>
                </a:solidFill>
                <a:latin typeface="JetBrains Mono"/>
              </a:rPr>
              <a:t>PIT STOP · 22.6 S</a:t>
            </a:r>
          </a:p>
        </p:txBody>
      </p:sp>
      <p:cxnSp>
        <p:nvCxnSpPr>
          <p:cNvPr id="34" name="Connector 33"/>
          <p:cNvCxnSpPr/>
          <p:nvPr/>
        </p:nvCxnSpPr>
        <p:spPr>
          <a:xfrm>
            <a:off x="10102154" y="2468879"/>
            <a:ext cx="0" cy="2880361"/>
          </a:xfrm>
          <a:prstGeom prst="line">
            <a:avLst/>
          </a:prstGeom>
          <a:ln w="15875">
            <a:solidFill>
              <a:srgbClr val="E10600"/>
            </a:solidFill>
            <a:prstDash val="dash"/>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0010714" y="3863339"/>
            <a:ext cx="182880" cy="182880"/>
          </a:xfrm>
          <a:prstGeom prst="ellipse">
            <a:avLst/>
          </a:prstGeom>
          <a:solidFill>
            <a:srgbClr val="E10600"/>
          </a:solidFill>
          <a:ln w="19050">
            <a:solidFill>
              <a:srgbClr val="F5F5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arallelogram 35"/>
          <p:cNvSpPr/>
          <p:nvPr/>
        </p:nvSpPr>
        <p:spPr>
          <a:xfrm>
            <a:off x="9718106" y="2103120"/>
            <a:ext cx="768096" cy="329184"/>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500" b="1" i="1" spc="100">
                <a:solidFill>
                  <a:srgbClr val="F5F5F7"/>
                </a:solidFill>
                <a:latin typeface="Barlow Condensed"/>
              </a:rPr>
              <a:t>BOX</a:t>
            </a:r>
          </a:p>
        </p:txBody>
      </p:sp>
      <p:sp>
        <p:nvSpPr>
          <p:cNvPr id="37" name="TextBox 36"/>
          <p:cNvSpPr txBox="1"/>
          <p:nvPr/>
        </p:nvSpPr>
        <p:spPr>
          <a:xfrm>
            <a:off x="6903720" y="4434840"/>
            <a:ext cx="2377440" cy="457200"/>
          </a:xfrm>
          <a:prstGeom prst="rect">
            <a:avLst/>
          </a:prstGeom>
          <a:noFill/>
        </p:spPr>
        <p:txBody>
          <a:bodyPr wrap="square" lIns="0" rIns="0" tIns="0" bIns="0" anchor="t">
            <a:spAutoFit/>
          </a:bodyPr>
          <a:lstStyle/>
          <a:p>
            <a:pPr algn="l"/>
            <a:r>
              <a:rPr sz="1200" b="0" i="0">
                <a:solidFill>
                  <a:srgbClr val="FF3B3B"/>
                </a:solidFill>
                <a:latin typeface="Barlow"/>
              </a:rPr>
              <a:t>time lost to worn tyres,</a:t>
            </a:r>
          </a:p>
          <a:p>
            <a:pPr algn="l"/>
            <a:r>
              <a:rPr sz="1200" b="0" i="0">
                <a:solidFill>
                  <a:srgbClr val="FF3B3B"/>
                </a:solidFill>
                <a:latin typeface="Barlow"/>
              </a:rPr>
              <a:t>added up lap by lap</a:t>
            </a:r>
          </a:p>
        </p:txBody>
      </p:sp>
      <p:sp>
        <p:nvSpPr>
          <p:cNvPr id="38" name="TextBox 37"/>
          <p:cNvSpPr txBox="1"/>
          <p:nvPr/>
        </p:nvSpPr>
        <p:spPr>
          <a:xfrm>
            <a:off x="9125712" y="5404103"/>
            <a:ext cx="2194560" cy="228600"/>
          </a:xfrm>
          <a:prstGeom prst="rect">
            <a:avLst/>
          </a:prstGeom>
          <a:noFill/>
        </p:spPr>
        <p:txBody>
          <a:bodyPr wrap="square" lIns="0" rIns="0" tIns="0" bIns="0" anchor="t">
            <a:spAutoFit/>
          </a:bodyPr>
          <a:lstStyle/>
          <a:p>
            <a:pPr algn="r"/>
            <a:r>
              <a:rPr sz="1050" b="1" i="0" spc="200">
                <a:solidFill>
                  <a:srgbClr val="6E6E7E"/>
                </a:solidFill>
                <a:latin typeface="Barlow Condensed"/>
              </a:rPr>
              <a:t>LAPS ON THIS SET  →</a:t>
            </a:r>
          </a:p>
        </p:txBody>
      </p:sp>
      <p:sp>
        <p:nvSpPr>
          <p:cNvPr id="39" name="TextBox 38"/>
          <p:cNvSpPr txBox="1"/>
          <p:nvPr/>
        </p:nvSpPr>
        <p:spPr>
          <a:xfrm>
            <a:off x="6446520" y="5715000"/>
            <a:ext cx="4919472" cy="228600"/>
          </a:xfrm>
          <a:prstGeom prst="rect">
            <a:avLst/>
          </a:prstGeom>
          <a:noFill/>
        </p:spPr>
        <p:txBody>
          <a:bodyPr wrap="square" lIns="0" rIns="0" tIns="0" bIns="0" anchor="t">
            <a:spAutoFit/>
          </a:bodyPr>
          <a:lstStyle/>
          <a:p>
            <a:pPr algn="l"/>
            <a:r>
              <a:rPr sz="1100" b="0" i="0">
                <a:solidFill>
                  <a:srgbClr val="6E6E7E"/>
                </a:solidFill>
                <a:latin typeface="Barlow"/>
              </a:rPr>
              <a:t>The engine solves the whole remaining race, Safety Car odds included.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THE DATA</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03</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1828754"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THE DATA</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FIVE SEASONS. </a:t>
            </a:r>
            <a:r>
              <a:rPr sz="4600" b="1" i="1">
                <a:solidFill>
                  <a:srgbClr val="E10600"/>
                </a:solidFill>
                <a:latin typeface="Barlow Condensed"/>
              </a:rPr>
              <a:t>ONE HONEST TEST.</a:t>
            </a:r>
          </a:p>
        </p:txBody>
      </p:sp>
      <p:sp>
        <p:nvSpPr>
          <p:cNvPr id="10" name="TextBox 9"/>
          <p:cNvSpPr txBox="1"/>
          <p:nvPr/>
        </p:nvSpPr>
        <p:spPr>
          <a:xfrm>
            <a:off x="548640" y="1874519"/>
            <a:ext cx="2606040" cy="914400"/>
          </a:xfrm>
          <a:prstGeom prst="rect">
            <a:avLst/>
          </a:prstGeom>
          <a:noFill/>
        </p:spPr>
        <p:txBody>
          <a:bodyPr wrap="square" lIns="0" rIns="0" tIns="0" bIns="0" anchor="t">
            <a:spAutoFit/>
          </a:bodyPr>
          <a:lstStyle/>
          <a:p>
            <a:pPr algn="l"/>
            <a:r>
              <a:rPr sz="6200" b="1" i="1">
                <a:solidFill>
                  <a:srgbClr val="F5F5F7"/>
                </a:solidFill>
                <a:latin typeface="Barlow Condensed"/>
              </a:rPr>
              <a:t>114</a:t>
            </a:r>
          </a:p>
        </p:txBody>
      </p:sp>
      <p:sp>
        <p:nvSpPr>
          <p:cNvPr id="11" name="TextBox 10"/>
          <p:cNvSpPr txBox="1"/>
          <p:nvPr/>
        </p:nvSpPr>
        <p:spPr>
          <a:xfrm>
            <a:off x="585216" y="2880360"/>
            <a:ext cx="2651760" cy="228600"/>
          </a:xfrm>
          <a:prstGeom prst="rect">
            <a:avLst/>
          </a:prstGeom>
          <a:noFill/>
        </p:spPr>
        <p:txBody>
          <a:bodyPr wrap="square" lIns="0" rIns="0" tIns="0" bIns="0" anchor="t">
            <a:spAutoFit/>
          </a:bodyPr>
          <a:lstStyle/>
          <a:p>
            <a:pPr algn="l"/>
            <a:r>
              <a:rPr sz="1200" b="1" i="0" spc="200">
                <a:solidFill>
                  <a:srgbClr val="A9A9B8"/>
                </a:solidFill>
                <a:latin typeface="Barlow Condensed"/>
              </a:rPr>
              <a:t>RACES</a:t>
            </a:r>
          </a:p>
        </p:txBody>
      </p:sp>
      <p:cxnSp>
        <p:nvCxnSpPr>
          <p:cNvPr id="12" name="Connector 11"/>
          <p:cNvCxnSpPr/>
          <p:nvPr/>
        </p:nvCxnSpPr>
        <p:spPr>
          <a:xfrm>
            <a:off x="3154679" y="1965960"/>
            <a:ext cx="0" cy="1188720"/>
          </a:xfrm>
          <a:prstGeom prst="line">
            <a:avLst/>
          </a:prstGeom>
          <a:ln w="12700">
            <a:solidFill>
              <a:srgbClr val="2A2A3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337560" y="1874519"/>
            <a:ext cx="2606040" cy="914400"/>
          </a:xfrm>
          <a:prstGeom prst="rect">
            <a:avLst/>
          </a:prstGeom>
          <a:noFill/>
        </p:spPr>
        <p:txBody>
          <a:bodyPr wrap="square" lIns="0" rIns="0" tIns="0" bIns="0" anchor="t">
            <a:spAutoFit/>
          </a:bodyPr>
          <a:lstStyle/>
          <a:p>
            <a:pPr algn="l"/>
            <a:r>
              <a:rPr sz="6200" b="1" i="1">
                <a:solidFill>
                  <a:srgbClr val="F5F5F7"/>
                </a:solidFill>
                <a:latin typeface="Barlow Condensed"/>
              </a:rPr>
              <a:t>125,046</a:t>
            </a:r>
          </a:p>
        </p:txBody>
      </p:sp>
      <p:sp>
        <p:nvSpPr>
          <p:cNvPr id="14" name="TextBox 13"/>
          <p:cNvSpPr txBox="1"/>
          <p:nvPr/>
        </p:nvSpPr>
        <p:spPr>
          <a:xfrm>
            <a:off x="3374136" y="2880360"/>
            <a:ext cx="2651760" cy="228600"/>
          </a:xfrm>
          <a:prstGeom prst="rect">
            <a:avLst/>
          </a:prstGeom>
          <a:noFill/>
        </p:spPr>
        <p:txBody>
          <a:bodyPr wrap="square" lIns="0" rIns="0" tIns="0" bIns="0" anchor="t">
            <a:spAutoFit/>
          </a:bodyPr>
          <a:lstStyle/>
          <a:p>
            <a:pPr algn="l"/>
            <a:r>
              <a:rPr sz="1200" b="1" i="0" spc="200">
                <a:solidFill>
                  <a:srgbClr val="A9A9B8"/>
                </a:solidFill>
                <a:latin typeface="Barlow Condensed"/>
              </a:rPr>
              <a:t>LAPS</a:t>
            </a:r>
          </a:p>
        </p:txBody>
      </p:sp>
      <p:cxnSp>
        <p:nvCxnSpPr>
          <p:cNvPr id="15" name="Connector 14"/>
          <p:cNvCxnSpPr/>
          <p:nvPr/>
        </p:nvCxnSpPr>
        <p:spPr>
          <a:xfrm>
            <a:off x="5943599" y="1965960"/>
            <a:ext cx="0" cy="1188720"/>
          </a:xfrm>
          <a:prstGeom prst="line">
            <a:avLst/>
          </a:prstGeom>
          <a:ln w="12700">
            <a:solidFill>
              <a:srgbClr val="2A2A3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9" y="1874519"/>
            <a:ext cx="2606040" cy="914400"/>
          </a:xfrm>
          <a:prstGeom prst="rect">
            <a:avLst/>
          </a:prstGeom>
          <a:noFill/>
        </p:spPr>
        <p:txBody>
          <a:bodyPr wrap="square" lIns="0" rIns="0" tIns="0" bIns="0" anchor="t">
            <a:spAutoFit/>
          </a:bodyPr>
          <a:lstStyle/>
          <a:p>
            <a:pPr algn="l"/>
            <a:r>
              <a:rPr sz="6200" b="1" i="1">
                <a:solidFill>
                  <a:srgbClr val="F5F5F7"/>
                </a:solidFill>
                <a:latin typeface="Barlow Condensed"/>
              </a:rPr>
              <a:t>26</a:t>
            </a:r>
          </a:p>
        </p:txBody>
      </p:sp>
      <p:sp>
        <p:nvSpPr>
          <p:cNvPr id="17" name="TextBox 16"/>
          <p:cNvSpPr txBox="1"/>
          <p:nvPr/>
        </p:nvSpPr>
        <p:spPr>
          <a:xfrm>
            <a:off x="6163055" y="2880360"/>
            <a:ext cx="2651760" cy="228600"/>
          </a:xfrm>
          <a:prstGeom prst="rect">
            <a:avLst/>
          </a:prstGeom>
          <a:noFill/>
        </p:spPr>
        <p:txBody>
          <a:bodyPr wrap="square" lIns="0" rIns="0" tIns="0" bIns="0" anchor="t">
            <a:spAutoFit/>
          </a:bodyPr>
          <a:lstStyle/>
          <a:p>
            <a:pPr algn="l"/>
            <a:r>
              <a:rPr sz="1200" b="1" i="0" spc="200">
                <a:solidFill>
                  <a:srgbClr val="A9A9B8"/>
                </a:solidFill>
                <a:latin typeface="Barlow Condensed"/>
              </a:rPr>
              <a:t>CIRCUITS</a:t>
            </a:r>
          </a:p>
        </p:txBody>
      </p:sp>
      <p:cxnSp>
        <p:nvCxnSpPr>
          <p:cNvPr id="18" name="Connector 17"/>
          <p:cNvCxnSpPr/>
          <p:nvPr/>
        </p:nvCxnSpPr>
        <p:spPr>
          <a:xfrm>
            <a:off x="8732519" y="1965960"/>
            <a:ext cx="0" cy="1188720"/>
          </a:xfrm>
          <a:prstGeom prst="line">
            <a:avLst/>
          </a:prstGeom>
          <a:ln w="12700">
            <a:solidFill>
              <a:srgbClr val="2A2A3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915399" y="1874519"/>
            <a:ext cx="2606040" cy="914400"/>
          </a:xfrm>
          <a:prstGeom prst="rect">
            <a:avLst/>
          </a:prstGeom>
          <a:noFill/>
        </p:spPr>
        <p:txBody>
          <a:bodyPr wrap="square" lIns="0" rIns="0" tIns="0" bIns="0" anchor="t">
            <a:spAutoFit/>
          </a:bodyPr>
          <a:lstStyle/>
          <a:p>
            <a:pPr algn="l"/>
            <a:r>
              <a:rPr sz="6200" b="1" i="1">
                <a:solidFill>
                  <a:srgbClr val="F5F5F7"/>
                </a:solidFill>
                <a:latin typeface="Barlow Condensed"/>
              </a:rPr>
              <a:t>5</a:t>
            </a:r>
          </a:p>
        </p:txBody>
      </p:sp>
      <p:sp>
        <p:nvSpPr>
          <p:cNvPr id="20" name="TextBox 19"/>
          <p:cNvSpPr txBox="1"/>
          <p:nvPr/>
        </p:nvSpPr>
        <p:spPr>
          <a:xfrm>
            <a:off x="8951975" y="2880360"/>
            <a:ext cx="2651760" cy="228600"/>
          </a:xfrm>
          <a:prstGeom prst="rect">
            <a:avLst/>
          </a:prstGeom>
          <a:noFill/>
        </p:spPr>
        <p:txBody>
          <a:bodyPr wrap="square" lIns="0" rIns="0" tIns="0" bIns="0" anchor="t">
            <a:spAutoFit/>
          </a:bodyPr>
          <a:lstStyle/>
          <a:p>
            <a:pPr algn="l"/>
            <a:r>
              <a:rPr sz="1200" b="1" i="0" spc="200">
                <a:solidFill>
                  <a:srgbClr val="A9A9B8"/>
                </a:solidFill>
                <a:latin typeface="Barlow Condensed"/>
              </a:rPr>
              <a:t>SEASONS · 2021-2025</a:t>
            </a:r>
          </a:p>
        </p:txBody>
      </p:sp>
      <p:sp>
        <p:nvSpPr>
          <p:cNvPr id="21" name="Parallelogram 20"/>
          <p:cNvSpPr/>
          <p:nvPr/>
        </p:nvSpPr>
        <p:spPr>
          <a:xfrm>
            <a:off x="548640" y="3749039"/>
            <a:ext cx="6528816" cy="566928"/>
          </a:xfrm>
          <a:prstGeom prst="parallelogram">
            <a:avLst>
              <a:gd name="adj" fmla="val 18000"/>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700" b="1" i="1" spc="100">
                <a:solidFill>
                  <a:srgbClr val="F5F5F7"/>
                </a:solidFill>
                <a:latin typeface="Barlow Condensed"/>
              </a:rPr>
              <a:t>FIT · 2021-2023</a:t>
            </a:r>
          </a:p>
        </p:txBody>
      </p:sp>
      <p:sp>
        <p:nvSpPr>
          <p:cNvPr id="22" name="Parallelogram 21"/>
          <p:cNvSpPr/>
          <p:nvPr/>
        </p:nvSpPr>
        <p:spPr>
          <a:xfrm>
            <a:off x="7132320" y="3749039"/>
            <a:ext cx="2185416" cy="566928"/>
          </a:xfrm>
          <a:prstGeom prst="parallelogram">
            <a:avLst>
              <a:gd name="adj" fmla="val 18000"/>
            </a:avLst>
          </a:prstGeom>
          <a:solidFill>
            <a:srgbClr val="123453"/>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700" b="1" i="1" spc="100">
                <a:solidFill>
                  <a:srgbClr val="F5F5F7"/>
                </a:solidFill>
                <a:latin typeface="Barlow Condensed"/>
              </a:rPr>
              <a:t>TUNE · 2024</a:t>
            </a:r>
          </a:p>
        </p:txBody>
      </p:sp>
      <p:sp>
        <p:nvSpPr>
          <p:cNvPr id="23" name="Parallelogram 22"/>
          <p:cNvSpPr/>
          <p:nvPr/>
        </p:nvSpPr>
        <p:spPr>
          <a:xfrm>
            <a:off x="9372600" y="3749039"/>
            <a:ext cx="2185416" cy="566928"/>
          </a:xfrm>
          <a:prstGeom prst="parallelogram">
            <a:avLst>
              <a:gd name="adj" fmla="val 18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700" b="1" i="1" spc="100">
                <a:solidFill>
                  <a:srgbClr val="F5F5F7"/>
                </a:solidFill>
                <a:latin typeface="Barlow Condensed"/>
              </a:rPr>
              <a:t>TEST · 2025</a:t>
            </a:r>
          </a:p>
        </p:txBody>
      </p:sp>
      <p:sp>
        <p:nvSpPr>
          <p:cNvPr id="24" name="TextBox 23"/>
          <p:cNvSpPr txBox="1"/>
          <p:nvPr/>
        </p:nvSpPr>
        <p:spPr>
          <a:xfrm>
            <a:off x="685800" y="4480560"/>
            <a:ext cx="6217920" cy="640080"/>
          </a:xfrm>
          <a:prstGeom prst="rect">
            <a:avLst/>
          </a:prstGeom>
          <a:noFill/>
        </p:spPr>
        <p:txBody>
          <a:bodyPr wrap="square" lIns="0" rIns="0" tIns="0" bIns="0" anchor="t">
            <a:spAutoFit/>
          </a:bodyPr>
          <a:lstStyle/>
          <a:p>
            <a:pPr algn="l">
              <a:lnSpc>
                <a:spcPct val="115000"/>
              </a:lnSpc>
            </a:pPr>
            <a:r>
              <a:rPr sz="1300" b="0" i="0">
                <a:solidFill>
                  <a:srgbClr val="A9A9B8"/>
                </a:solidFill>
                <a:latin typeface="Barlow"/>
              </a:rPr>
              <a:t>Model parameters learned only from these three seasons.</a:t>
            </a:r>
          </a:p>
        </p:txBody>
      </p:sp>
      <p:sp>
        <p:nvSpPr>
          <p:cNvPr id="25" name="TextBox 24"/>
          <p:cNvSpPr txBox="1"/>
          <p:nvPr/>
        </p:nvSpPr>
        <p:spPr>
          <a:xfrm>
            <a:off x="7178040" y="4480560"/>
            <a:ext cx="2103120" cy="640080"/>
          </a:xfrm>
          <a:prstGeom prst="rect">
            <a:avLst/>
          </a:prstGeom>
          <a:noFill/>
        </p:spPr>
        <p:txBody>
          <a:bodyPr wrap="square" lIns="0" rIns="0" tIns="0" bIns="0" anchor="t">
            <a:spAutoFit/>
          </a:bodyPr>
          <a:lstStyle/>
          <a:p>
            <a:pPr algn="l">
              <a:lnSpc>
                <a:spcPct val="115000"/>
              </a:lnSpc>
            </a:pPr>
            <a:r>
              <a:rPr sz="1300" b="0" i="0">
                <a:solidFill>
                  <a:srgbClr val="A9A9B8"/>
                </a:solidFill>
                <a:latin typeface="Barlow"/>
              </a:rPr>
              <a:t>Every knob, threshold and prior chosen here.</a:t>
            </a:r>
          </a:p>
        </p:txBody>
      </p:sp>
      <p:sp>
        <p:nvSpPr>
          <p:cNvPr id="26" name="TextBox 25"/>
          <p:cNvSpPr txBox="1"/>
          <p:nvPr/>
        </p:nvSpPr>
        <p:spPr>
          <a:xfrm>
            <a:off x="9418320" y="4480560"/>
            <a:ext cx="2103120" cy="640080"/>
          </a:xfrm>
          <a:prstGeom prst="rect">
            <a:avLst/>
          </a:prstGeom>
          <a:noFill/>
        </p:spPr>
        <p:txBody>
          <a:bodyPr wrap="square" lIns="0" rIns="0" tIns="0" bIns="0" anchor="t">
            <a:spAutoFit/>
          </a:bodyPr>
          <a:lstStyle/>
          <a:p>
            <a:pPr algn="l">
              <a:lnSpc>
                <a:spcPct val="115000"/>
              </a:lnSpc>
            </a:pPr>
            <a:r>
              <a:rPr sz="1300" b="0" i="0">
                <a:solidFill>
                  <a:srgbClr val="A9A9B8"/>
                </a:solidFill>
                <a:latin typeface="Barlow"/>
              </a:rPr>
              <a:t>Touched once, after everything was frozen.</a:t>
            </a:r>
          </a:p>
        </p:txBody>
      </p:sp>
      <p:sp>
        <p:nvSpPr>
          <p:cNvPr id="27" name="Rectangle 26"/>
          <p:cNvSpPr/>
          <p:nvPr/>
        </p:nvSpPr>
        <p:spPr>
          <a:xfrm>
            <a:off x="548640" y="5349240"/>
            <a:ext cx="11091672" cy="658368"/>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349240"/>
            <a:ext cx="54864" cy="658368"/>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468112"/>
            <a:ext cx="10607040" cy="457200"/>
          </a:xfrm>
          <a:prstGeom prst="rect">
            <a:avLst/>
          </a:prstGeom>
          <a:noFill/>
        </p:spPr>
        <p:txBody>
          <a:bodyPr wrap="square" lIns="0" rIns="0" tIns="0" bIns="0" anchor="ctr">
            <a:spAutoFit/>
          </a:bodyPr>
          <a:lstStyle/>
          <a:p>
            <a:pPr algn="l"/>
            <a:r>
              <a:rPr sz="1400" b="1" i="0">
                <a:solidFill>
                  <a:srgbClr val="F5F5F7"/>
                </a:solidFill>
                <a:latin typeface="Barlow"/>
              </a:rPr>
              <a:t>Every lap kept: </a:t>
            </a:r>
            <a:r>
              <a:rPr sz="1400" b="0" i="0">
                <a:solidFill>
                  <a:srgbClr val="A9A9B8"/>
                </a:solidFill>
                <a:latin typeface="Barlow"/>
              </a:rPr>
              <a:t>in-laps, out-laps and Safety Car laps are exactly what a pit-stop model needs. Representative laps (90,709) are flagged for fitting pace.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ACT I · V1</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04</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2438339"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ACT I  ·  V1  ·  JULY TO SEPTEMBER 2026</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IT LOOKED </a:t>
            </a:r>
            <a:r>
              <a:rPr sz="4600" b="1" i="1">
                <a:solidFill>
                  <a:srgbClr val="E10600"/>
                </a:solidFill>
                <a:latin typeface="Barlow Condensed"/>
              </a:rPr>
              <a:t>GREAT.</a:t>
            </a:r>
          </a:p>
        </p:txBody>
      </p:sp>
      <p:sp>
        <p:nvSpPr>
          <p:cNvPr id="10" name="Rectangle 9"/>
          <p:cNvSpPr/>
          <p:nvPr/>
        </p:nvSpPr>
        <p:spPr>
          <a:xfrm>
            <a:off x="548640" y="1783080"/>
            <a:ext cx="5120640" cy="324612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011680"/>
            <a:ext cx="4572000" cy="228600"/>
          </a:xfrm>
          <a:prstGeom prst="rect">
            <a:avLst/>
          </a:prstGeom>
          <a:noFill/>
        </p:spPr>
        <p:txBody>
          <a:bodyPr wrap="square" lIns="0" rIns="0" tIns="0" bIns="0" anchor="t">
            <a:spAutoFit/>
          </a:bodyPr>
          <a:lstStyle/>
          <a:p>
            <a:pPr algn="l"/>
            <a:r>
              <a:rPr sz="1050" b="1" i="0" spc="200">
                <a:solidFill>
                  <a:srgbClr val="A9A9B8"/>
                </a:solidFill>
                <a:latin typeface="Barlow Condensed"/>
              </a:rPr>
              <a:t>RIDGE REGRESSION ON LAP TIME · 71 FEATURES</a:t>
            </a:r>
          </a:p>
        </p:txBody>
      </p:sp>
      <p:sp>
        <p:nvSpPr>
          <p:cNvPr id="12" name="TextBox 11"/>
          <p:cNvSpPr txBox="1"/>
          <p:nvPr/>
        </p:nvSpPr>
        <p:spPr>
          <a:xfrm>
            <a:off x="822960" y="2240280"/>
            <a:ext cx="4754880" cy="1828800"/>
          </a:xfrm>
          <a:prstGeom prst="rect">
            <a:avLst/>
          </a:prstGeom>
          <a:noFill/>
        </p:spPr>
        <p:txBody>
          <a:bodyPr wrap="square" lIns="0" rIns="0" tIns="0" bIns="0" anchor="t">
            <a:spAutoFit/>
          </a:bodyPr>
          <a:lstStyle/>
          <a:p>
            <a:pPr algn="l">
              <a:lnSpc>
                <a:spcPct val="85000"/>
              </a:lnSpc>
            </a:pPr>
            <a:r>
              <a:rPr sz="4800" b="1" i="1">
                <a:solidFill>
                  <a:srgbClr val="6E6E7E"/>
                </a:solidFill>
                <a:latin typeface="Barlow Condensed"/>
              </a:rPr>
              <a:t>R² </a:t>
            </a:r>
            <a:r>
              <a:rPr sz="15000" b="1" i="1">
                <a:solidFill>
                  <a:srgbClr val="F5F5F7"/>
                </a:solidFill>
                <a:latin typeface="Barlow Condensed"/>
              </a:rPr>
              <a:t>0.91</a:t>
            </a:r>
          </a:p>
        </p:txBody>
      </p:sp>
      <p:sp>
        <p:nvSpPr>
          <p:cNvPr id="13" name="TextBox 12"/>
          <p:cNvSpPr txBox="1"/>
          <p:nvPr/>
        </p:nvSpPr>
        <p:spPr>
          <a:xfrm>
            <a:off x="868680" y="4251960"/>
            <a:ext cx="4572000" cy="548640"/>
          </a:xfrm>
          <a:prstGeom prst="rect">
            <a:avLst/>
          </a:prstGeom>
          <a:noFill/>
        </p:spPr>
        <p:txBody>
          <a:bodyPr wrap="square" lIns="0" rIns="0" tIns="0" bIns="0" anchor="t">
            <a:spAutoFit/>
          </a:bodyPr>
          <a:lstStyle/>
          <a:p>
            <a:pPr algn="l"/>
            <a:r>
              <a:rPr sz="1400" b="0" i="0">
                <a:solidFill>
                  <a:srgbClr val="A9A9B8"/>
                </a:solidFill>
                <a:latin typeface="Barlow"/>
              </a:rPr>
              <a:t>on the 2024 dev season. RMSE about 3.5 s.</a:t>
            </a:r>
          </a:p>
        </p:txBody>
      </p:sp>
      <p:cxnSp>
        <p:nvCxnSpPr>
          <p:cNvPr id="14" name="Connector 13"/>
          <p:cNvCxnSpPr/>
          <p:nvPr/>
        </p:nvCxnSpPr>
        <p:spPr>
          <a:xfrm>
            <a:off x="5852160" y="3401568"/>
            <a:ext cx="594360" cy="0"/>
          </a:xfrm>
          <a:prstGeom prst="line">
            <a:avLst/>
          </a:prstGeom>
          <a:ln w="31750">
            <a:solidFill>
              <a:srgbClr val="E10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519672" y="1783080"/>
            <a:ext cx="5120640" cy="3246120"/>
          </a:xfrm>
          <a:prstGeom prst="rect">
            <a:avLst/>
          </a:prstGeom>
          <a:solidFill>
            <a:srgbClr val="1A0D0F"/>
          </a:solidFill>
          <a:ln w="15875">
            <a:solidFill>
              <a:srgbClr val="E10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39712" y="2011680"/>
            <a:ext cx="4572000" cy="228600"/>
          </a:xfrm>
          <a:prstGeom prst="rect">
            <a:avLst/>
          </a:prstGeom>
          <a:noFill/>
        </p:spPr>
        <p:txBody>
          <a:bodyPr wrap="square" lIns="0" rIns="0" tIns="0" bIns="0" anchor="t">
            <a:spAutoFit/>
          </a:bodyPr>
          <a:lstStyle/>
          <a:p>
            <a:pPr algn="l"/>
            <a:r>
              <a:rPr sz="1050" b="1" i="0" spc="200">
                <a:solidFill>
                  <a:srgbClr val="FF3B3B"/>
                </a:solidFill>
                <a:latin typeface="Barlow Condensed"/>
              </a:rPr>
              <a:t>SAME MODEL, CIRCUIT AND DRIVER REMOVED</a:t>
            </a:r>
          </a:p>
        </p:txBody>
      </p:sp>
      <p:sp>
        <p:nvSpPr>
          <p:cNvPr id="17" name="TextBox 16"/>
          <p:cNvSpPr txBox="1"/>
          <p:nvPr/>
        </p:nvSpPr>
        <p:spPr>
          <a:xfrm>
            <a:off x="6793992" y="2240280"/>
            <a:ext cx="4754880" cy="1828800"/>
          </a:xfrm>
          <a:prstGeom prst="rect">
            <a:avLst/>
          </a:prstGeom>
          <a:noFill/>
        </p:spPr>
        <p:txBody>
          <a:bodyPr wrap="square" lIns="0" rIns="0" tIns="0" bIns="0" anchor="t">
            <a:spAutoFit/>
          </a:bodyPr>
          <a:lstStyle/>
          <a:p>
            <a:pPr algn="l">
              <a:lnSpc>
                <a:spcPct val="85000"/>
              </a:lnSpc>
            </a:pPr>
            <a:r>
              <a:rPr sz="4800" b="1" i="1">
                <a:solidFill>
                  <a:srgbClr val="6E6E7E"/>
                </a:solidFill>
                <a:latin typeface="Barlow Condensed"/>
              </a:rPr>
              <a:t>R² </a:t>
            </a:r>
            <a:r>
              <a:rPr sz="15000" b="1" i="1">
                <a:solidFill>
                  <a:srgbClr val="E10600"/>
                </a:solidFill>
                <a:latin typeface="Barlow Condensed"/>
              </a:rPr>
              <a:t>0.02</a:t>
            </a:r>
          </a:p>
        </p:txBody>
      </p:sp>
      <p:sp>
        <p:nvSpPr>
          <p:cNvPr id="18" name="TextBox 17"/>
          <p:cNvSpPr txBox="1"/>
          <p:nvPr/>
        </p:nvSpPr>
        <p:spPr>
          <a:xfrm>
            <a:off x="6839712" y="4251960"/>
            <a:ext cx="4572000" cy="640080"/>
          </a:xfrm>
          <a:prstGeom prst="rect">
            <a:avLst/>
          </a:prstGeom>
          <a:noFill/>
        </p:spPr>
        <p:txBody>
          <a:bodyPr wrap="square" lIns="0" rIns="0" tIns="0" bIns="0" anchor="t">
            <a:spAutoFit/>
          </a:bodyPr>
          <a:lstStyle/>
          <a:p>
            <a:pPr algn="l"/>
            <a:r>
              <a:rPr sz="1400" b="0" i="0">
                <a:solidFill>
                  <a:srgbClr val="F5F5F7"/>
                </a:solidFill>
                <a:latin typeface="Barlow"/>
              </a:rPr>
              <a:t>It knew Monaco laps are slow. It knew nothing about tyres.</a:t>
            </a:r>
          </a:p>
        </p:txBody>
      </p:sp>
      <p:sp>
        <p:nvSpPr>
          <p:cNvPr id="19" name="Rectangle 18"/>
          <p:cNvSpPr/>
          <p:nvPr/>
        </p:nvSpPr>
        <p:spPr>
          <a:xfrm>
            <a:off x="548640" y="5257800"/>
            <a:ext cx="3630168" cy="804672"/>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257800"/>
            <a:ext cx="54864" cy="804672"/>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340096"/>
            <a:ext cx="3291840" cy="320040"/>
          </a:xfrm>
          <a:prstGeom prst="rect">
            <a:avLst/>
          </a:prstGeom>
          <a:noFill/>
        </p:spPr>
        <p:txBody>
          <a:bodyPr wrap="square" lIns="0" rIns="0" tIns="0" bIns="0" anchor="t">
            <a:spAutoFit/>
          </a:bodyPr>
          <a:lstStyle/>
          <a:p>
            <a:pPr algn="l"/>
            <a:r>
              <a:rPr sz="1500" b="1" i="1">
                <a:solidFill>
                  <a:srgbClr val="F5F5F7"/>
                </a:solidFill>
                <a:latin typeface="Barlow Condensed"/>
              </a:rPr>
              <a:t>DUPLICATED RACES</a:t>
            </a:r>
          </a:p>
        </p:txBody>
      </p:sp>
      <p:sp>
        <p:nvSpPr>
          <p:cNvPr id="22" name="TextBox 21"/>
          <p:cNvSpPr txBox="1"/>
          <p:nvPr/>
        </p:nvSpPr>
        <p:spPr>
          <a:xfrm>
            <a:off x="777240" y="5669280"/>
            <a:ext cx="3291840" cy="320040"/>
          </a:xfrm>
          <a:prstGeom prst="rect">
            <a:avLst/>
          </a:prstGeom>
          <a:noFill/>
        </p:spPr>
        <p:txBody>
          <a:bodyPr wrap="square" lIns="0" rIns="0" tIns="0" bIns="0" anchor="t">
            <a:spAutoFit/>
          </a:bodyPr>
          <a:lstStyle/>
          <a:p>
            <a:pPr algn="l"/>
            <a:r>
              <a:rPr sz="1250" b="0" i="0">
                <a:solidFill>
                  <a:srgbClr val="A9A9B8"/>
                </a:solidFill>
                <a:latin typeface="Barlow"/>
              </a:rPr>
              <a:t>inflated an earlier R² to 0.948</a:t>
            </a:r>
          </a:p>
        </p:txBody>
      </p:sp>
      <p:sp>
        <p:nvSpPr>
          <p:cNvPr id="23" name="Rectangle 22"/>
          <p:cNvSpPr/>
          <p:nvPr/>
        </p:nvSpPr>
        <p:spPr>
          <a:xfrm>
            <a:off x="4279392" y="5257800"/>
            <a:ext cx="3630168" cy="804672"/>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79392" y="5257800"/>
            <a:ext cx="54864" cy="804672"/>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07992" y="5340096"/>
            <a:ext cx="3291840" cy="320040"/>
          </a:xfrm>
          <a:prstGeom prst="rect">
            <a:avLst/>
          </a:prstGeom>
          <a:noFill/>
        </p:spPr>
        <p:txBody>
          <a:bodyPr wrap="square" lIns="0" rIns="0" tIns="0" bIns="0" anchor="t">
            <a:spAutoFit/>
          </a:bodyPr>
          <a:lstStyle/>
          <a:p>
            <a:pPr algn="l"/>
            <a:r>
              <a:rPr sz="1500" b="1" i="1">
                <a:solidFill>
                  <a:srgbClr val="F5F5F7"/>
                </a:solidFill>
                <a:latin typeface="Barlow Condensed"/>
              </a:rPr>
              <a:t>ROUND_NUMBER CORRUPTED</a:t>
            </a:r>
          </a:p>
        </p:txBody>
      </p:sp>
      <p:sp>
        <p:nvSpPr>
          <p:cNvPr id="26" name="TextBox 25"/>
          <p:cNvSpPr txBox="1"/>
          <p:nvPr/>
        </p:nvSpPr>
        <p:spPr>
          <a:xfrm>
            <a:off x="4507992" y="5669280"/>
            <a:ext cx="3291840" cy="320040"/>
          </a:xfrm>
          <a:prstGeom prst="rect">
            <a:avLst/>
          </a:prstGeom>
          <a:noFill/>
        </p:spPr>
        <p:txBody>
          <a:bodyPr wrap="square" lIns="0" rIns="0" tIns="0" bIns="0" anchor="t">
            <a:spAutoFit/>
          </a:bodyPr>
          <a:lstStyle/>
          <a:p>
            <a:pPr algn="l"/>
            <a:r>
              <a:rPr sz="1250" b="0" i="0">
                <a:solidFill>
                  <a:srgbClr val="A9A9B8"/>
                </a:solidFill>
                <a:latin typeface="Barlow"/>
              </a:rPr>
              <a:t>in 82% of training rows</a:t>
            </a:r>
          </a:p>
        </p:txBody>
      </p:sp>
      <p:sp>
        <p:nvSpPr>
          <p:cNvPr id="27" name="Rectangle 26"/>
          <p:cNvSpPr/>
          <p:nvPr/>
        </p:nvSpPr>
        <p:spPr>
          <a:xfrm>
            <a:off x="8010144" y="5257800"/>
            <a:ext cx="3630168" cy="804672"/>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10144" y="5257800"/>
            <a:ext cx="54864" cy="804672"/>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38744" y="5340096"/>
            <a:ext cx="3291840" cy="320040"/>
          </a:xfrm>
          <a:prstGeom prst="rect">
            <a:avLst/>
          </a:prstGeom>
          <a:noFill/>
        </p:spPr>
        <p:txBody>
          <a:bodyPr wrap="square" lIns="0" rIns="0" tIns="0" bIns="0" anchor="t">
            <a:spAutoFit/>
          </a:bodyPr>
          <a:lstStyle/>
          <a:p>
            <a:pPr algn="l"/>
            <a:r>
              <a:rPr sz="1500" b="1" i="1">
                <a:solidFill>
                  <a:srgbClr val="F5F5F7"/>
                </a:solidFill>
                <a:latin typeface="Barlow Condensed"/>
              </a:rPr>
              <a:t>TYRE AGE BACKWARDS</a:t>
            </a:r>
          </a:p>
        </p:txBody>
      </p:sp>
      <p:sp>
        <p:nvSpPr>
          <p:cNvPr id="30" name="TextBox 29"/>
          <p:cNvSpPr txBox="1"/>
          <p:nvPr/>
        </p:nvSpPr>
        <p:spPr>
          <a:xfrm>
            <a:off x="8238744" y="5669280"/>
            <a:ext cx="3291840" cy="320040"/>
          </a:xfrm>
          <a:prstGeom prst="rect">
            <a:avLst/>
          </a:prstGeom>
          <a:noFill/>
        </p:spPr>
        <p:txBody>
          <a:bodyPr wrap="square" lIns="0" rIns="0" tIns="0" bIns="0" anchor="t">
            <a:spAutoFit/>
          </a:bodyPr>
          <a:lstStyle/>
          <a:p>
            <a:pPr algn="l"/>
            <a:r>
              <a:rPr sz="1250" b="0" i="0">
                <a:solidFill>
                  <a:srgbClr val="A9A9B8"/>
                </a:solidFill>
                <a:latin typeface="Barlow"/>
              </a:rPr>
              <a:t>−0.0045 s per lap older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ACT II · THE REBUILD</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05</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3047923"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ACT II  ·  THE REBUILD</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GIVE EVERY DRIVER </a:t>
            </a:r>
            <a:r>
              <a:rPr sz="4600" b="1" i="1">
                <a:solidFill>
                  <a:srgbClr val="E10600"/>
                </a:solidFill>
                <a:latin typeface="Barlow Condensed"/>
              </a:rPr>
              <a:t>THEIR OWN PACE.</a:t>
            </a:r>
          </a:p>
        </p:txBody>
      </p:sp>
      <p:sp>
        <p:nvSpPr>
          <p:cNvPr id="10" name="TextBox 9"/>
          <p:cNvSpPr txBox="1"/>
          <p:nvPr/>
        </p:nvSpPr>
        <p:spPr>
          <a:xfrm>
            <a:off x="548640" y="1645920"/>
            <a:ext cx="10515600" cy="640080"/>
          </a:xfrm>
          <a:prstGeom prst="rect">
            <a:avLst/>
          </a:prstGeom>
          <a:noFill/>
        </p:spPr>
        <p:txBody>
          <a:bodyPr wrap="square" lIns="0" rIns="0" tIns="0" bIns="0" anchor="t">
            <a:spAutoFit/>
          </a:bodyPr>
          <a:lstStyle/>
          <a:p>
            <a:pPr algn="l"/>
            <a:r>
              <a:rPr sz="1500" b="0" i="0">
                <a:solidFill>
                  <a:srgbClr val="A9A9B8"/>
                </a:solidFill>
                <a:latin typeface="Barlow"/>
              </a:rPr>
              <a:t>Each driver in each race gets a base pace, so tyres and fuel are learned only from changes inside that race. That was the step v1 was missing.</a:t>
            </a:r>
          </a:p>
        </p:txBody>
      </p:sp>
      <p:sp>
        <p:nvSpPr>
          <p:cNvPr id="11" name="Rectangle 10"/>
          <p:cNvSpPr/>
          <p:nvPr/>
        </p:nvSpPr>
        <p:spPr>
          <a:xfrm>
            <a:off x="548640" y="2377440"/>
            <a:ext cx="1755648" cy="22402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77440"/>
            <a:ext cx="1755648" cy="5486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578608"/>
            <a:ext cx="1554480" cy="274320"/>
          </a:xfrm>
          <a:prstGeom prst="rect">
            <a:avLst/>
          </a:prstGeom>
          <a:noFill/>
        </p:spPr>
        <p:txBody>
          <a:bodyPr wrap="square" lIns="0" rIns="0" tIns="0" bIns="0" anchor="t">
            <a:spAutoFit/>
          </a:bodyPr>
          <a:lstStyle/>
          <a:p>
            <a:pPr algn="l"/>
            <a:r>
              <a:rPr sz="1050" b="0" i="0">
                <a:solidFill>
                  <a:srgbClr val="6E6E7E"/>
                </a:solidFill>
                <a:latin typeface="JetBrains Mono"/>
              </a:rPr>
              <a:t>01</a:t>
            </a:r>
          </a:p>
        </p:txBody>
      </p:sp>
      <p:sp>
        <p:nvSpPr>
          <p:cNvPr id="14" name="TextBox 13"/>
          <p:cNvSpPr txBox="1"/>
          <p:nvPr/>
        </p:nvSpPr>
        <p:spPr>
          <a:xfrm>
            <a:off x="713232" y="2816352"/>
            <a:ext cx="1554480" cy="365760"/>
          </a:xfrm>
          <a:prstGeom prst="rect">
            <a:avLst/>
          </a:prstGeom>
          <a:noFill/>
        </p:spPr>
        <p:txBody>
          <a:bodyPr wrap="square" lIns="0" rIns="0" tIns="0" bIns="0" anchor="t">
            <a:spAutoFit/>
          </a:bodyPr>
          <a:lstStyle/>
          <a:p>
            <a:pPr algn="l"/>
            <a:r>
              <a:rPr sz="2000" b="1" i="1">
                <a:solidFill>
                  <a:srgbClr val="F5F5F7"/>
                </a:solidFill>
                <a:latin typeface="Barlow Condensed"/>
              </a:rPr>
              <a:t>BASE PACE</a:t>
            </a:r>
          </a:p>
        </p:txBody>
      </p:sp>
      <p:sp>
        <p:nvSpPr>
          <p:cNvPr id="15" name="TextBox 14"/>
          <p:cNvSpPr txBox="1"/>
          <p:nvPr/>
        </p:nvSpPr>
        <p:spPr>
          <a:xfrm>
            <a:off x="713232" y="3172968"/>
            <a:ext cx="1554480" cy="274320"/>
          </a:xfrm>
          <a:prstGeom prst="rect">
            <a:avLst/>
          </a:prstGeom>
          <a:noFill/>
        </p:spPr>
        <p:txBody>
          <a:bodyPr wrap="square" lIns="0" rIns="0" tIns="0" bIns="0" anchor="t">
            <a:spAutoFit/>
          </a:bodyPr>
          <a:lstStyle/>
          <a:p>
            <a:pPr algn="l"/>
            <a:r>
              <a:rPr sz="1150" b="0" i="0">
                <a:solidFill>
                  <a:srgbClr val="A9A9B8"/>
                </a:solidFill>
                <a:latin typeface="Barlow"/>
              </a:rPr>
              <a:t>per driver, per race</a:t>
            </a:r>
          </a:p>
        </p:txBody>
      </p:sp>
      <p:sp>
        <p:nvSpPr>
          <p:cNvPr id="16" name="TextBox 15"/>
          <p:cNvSpPr txBox="1"/>
          <p:nvPr/>
        </p:nvSpPr>
        <p:spPr>
          <a:xfrm>
            <a:off x="713232" y="3611880"/>
            <a:ext cx="1554480" cy="457200"/>
          </a:xfrm>
          <a:prstGeom prst="rect">
            <a:avLst/>
          </a:prstGeom>
          <a:noFill/>
        </p:spPr>
        <p:txBody>
          <a:bodyPr wrap="square" lIns="0" rIns="0" tIns="0" bIns="0" anchor="t">
            <a:spAutoFit/>
          </a:bodyPr>
          <a:lstStyle/>
          <a:p>
            <a:pPr algn="l"/>
            <a:r>
              <a:rPr sz="2600" b="1" i="1">
                <a:solidFill>
                  <a:srgbClr val="F5F5F7"/>
                </a:solidFill>
                <a:latin typeface="Barlow Condensed"/>
              </a:rPr>
              <a:t>free</a:t>
            </a:r>
          </a:p>
        </p:txBody>
      </p:sp>
      <p:sp>
        <p:nvSpPr>
          <p:cNvPr id="17" name="TextBox 16"/>
          <p:cNvSpPr txBox="1"/>
          <p:nvPr/>
        </p:nvSpPr>
        <p:spPr>
          <a:xfrm>
            <a:off x="713232" y="4087368"/>
            <a:ext cx="1508760" cy="457200"/>
          </a:xfrm>
          <a:prstGeom prst="rect">
            <a:avLst/>
          </a:prstGeom>
          <a:noFill/>
        </p:spPr>
        <p:txBody>
          <a:bodyPr wrap="square" lIns="0" rIns="0" tIns="0" bIns="0" anchor="t">
            <a:spAutoFit/>
          </a:bodyPr>
          <a:lstStyle/>
          <a:p>
            <a:pPr algn="l">
              <a:lnSpc>
                <a:spcPct val="105000"/>
              </a:lnSpc>
            </a:pPr>
            <a:r>
              <a:rPr sz="1100" b="0" i="0">
                <a:solidFill>
                  <a:srgbClr val="6E6E7E"/>
                </a:solidFill>
                <a:latin typeface="Barlow"/>
              </a:rPr>
              <a:t>car + driver + track today</a:t>
            </a:r>
          </a:p>
        </p:txBody>
      </p:sp>
      <p:sp>
        <p:nvSpPr>
          <p:cNvPr id="18" name="Rectangle 17"/>
          <p:cNvSpPr/>
          <p:nvPr/>
        </p:nvSpPr>
        <p:spPr>
          <a:xfrm>
            <a:off x="2414016" y="2377440"/>
            <a:ext cx="1755648" cy="22402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414016" y="2377440"/>
            <a:ext cx="1755648" cy="5486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78608" y="2578608"/>
            <a:ext cx="1554480" cy="274320"/>
          </a:xfrm>
          <a:prstGeom prst="rect">
            <a:avLst/>
          </a:prstGeom>
          <a:noFill/>
        </p:spPr>
        <p:txBody>
          <a:bodyPr wrap="square" lIns="0" rIns="0" tIns="0" bIns="0" anchor="t">
            <a:spAutoFit/>
          </a:bodyPr>
          <a:lstStyle/>
          <a:p>
            <a:pPr algn="l"/>
            <a:r>
              <a:rPr sz="1050" b="0" i="0">
                <a:solidFill>
                  <a:srgbClr val="6E6E7E"/>
                </a:solidFill>
                <a:latin typeface="JetBrains Mono"/>
              </a:rPr>
              <a:t>02</a:t>
            </a:r>
          </a:p>
        </p:txBody>
      </p:sp>
      <p:sp>
        <p:nvSpPr>
          <p:cNvPr id="21" name="TextBox 20"/>
          <p:cNvSpPr txBox="1"/>
          <p:nvPr/>
        </p:nvSpPr>
        <p:spPr>
          <a:xfrm>
            <a:off x="2578608" y="2816352"/>
            <a:ext cx="1554480" cy="365760"/>
          </a:xfrm>
          <a:prstGeom prst="rect">
            <a:avLst/>
          </a:prstGeom>
          <a:noFill/>
        </p:spPr>
        <p:txBody>
          <a:bodyPr wrap="square" lIns="0" rIns="0" tIns="0" bIns="0" anchor="t">
            <a:spAutoFit/>
          </a:bodyPr>
          <a:lstStyle/>
          <a:p>
            <a:pPr algn="l"/>
            <a:r>
              <a:rPr sz="2000" b="1" i="1">
                <a:solidFill>
                  <a:srgbClr val="F5F5F7"/>
                </a:solidFill>
                <a:latin typeface="Barlow Condensed"/>
              </a:rPr>
              <a:t>COMPOUND</a:t>
            </a:r>
          </a:p>
        </p:txBody>
      </p:sp>
      <p:sp>
        <p:nvSpPr>
          <p:cNvPr id="22" name="TextBox 21"/>
          <p:cNvSpPr txBox="1"/>
          <p:nvPr/>
        </p:nvSpPr>
        <p:spPr>
          <a:xfrm>
            <a:off x="2578608" y="3172968"/>
            <a:ext cx="1554480" cy="274320"/>
          </a:xfrm>
          <a:prstGeom prst="rect">
            <a:avLst/>
          </a:prstGeom>
          <a:noFill/>
        </p:spPr>
        <p:txBody>
          <a:bodyPr wrap="square" lIns="0" rIns="0" tIns="0" bIns="0" anchor="t">
            <a:spAutoFit/>
          </a:bodyPr>
          <a:lstStyle/>
          <a:p>
            <a:pPr algn="l"/>
            <a:r>
              <a:rPr sz="1150" b="0" i="0">
                <a:solidFill>
                  <a:srgbClr val="A9A9B8"/>
                </a:solidFill>
                <a:latin typeface="Barlow"/>
              </a:rPr>
              <a:t>soft / medium / hard</a:t>
            </a:r>
          </a:p>
        </p:txBody>
      </p:sp>
      <p:sp>
        <p:nvSpPr>
          <p:cNvPr id="23" name="TextBox 22"/>
          <p:cNvSpPr txBox="1"/>
          <p:nvPr/>
        </p:nvSpPr>
        <p:spPr>
          <a:xfrm>
            <a:off x="2578608" y="3611880"/>
            <a:ext cx="1554480" cy="457200"/>
          </a:xfrm>
          <a:prstGeom prst="rect">
            <a:avLst/>
          </a:prstGeom>
          <a:noFill/>
        </p:spPr>
        <p:txBody>
          <a:bodyPr wrap="square" lIns="0" rIns="0" tIns="0" bIns="0" anchor="t">
            <a:spAutoFit/>
          </a:bodyPr>
          <a:lstStyle/>
          <a:p>
            <a:pPr algn="l"/>
            <a:r>
              <a:rPr sz="2600" b="1" i="1">
                <a:solidFill>
                  <a:srgbClr val="E10600"/>
                </a:solidFill>
                <a:latin typeface="Barlow Condensed"/>
              </a:rPr>
              <a:t>3 levels</a:t>
            </a:r>
          </a:p>
        </p:txBody>
      </p:sp>
      <p:sp>
        <p:nvSpPr>
          <p:cNvPr id="24" name="TextBox 23"/>
          <p:cNvSpPr txBox="1"/>
          <p:nvPr/>
        </p:nvSpPr>
        <p:spPr>
          <a:xfrm>
            <a:off x="2578608" y="4087368"/>
            <a:ext cx="1508760" cy="457200"/>
          </a:xfrm>
          <a:prstGeom prst="rect">
            <a:avLst/>
          </a:prstGeom>
          <a:noFill/>
        </p:spPr>
        <p:txBody>
          <a:bodyPr wrap="square" lIns="0" rIns="0" tIns="0" bIns="0" anchor="t">
            <a:spAutoFit/>
          </a:bodyPr>
          <a:lstStyle/>
          <a:p>
            <a:pPr algn="l">
              <a:lnSpc>
                <a:spcPct val="105000"/>
              </a:lnSpc>
            </a:pPr>
            <a:r>
              <a:rPr sz="1100" b="0" i="0">
                <a:solidFill>
                  <a:srgbClr val="6E6E7E"/>
                </a:solidFill>
                <a:latin typeface="Barlow"/>
              </a:rPr>
              <a:t>global → circuit → race</a:t>
            </a:r>
          </a:p>
        </p:txBody>
      </p:sp>
      <p:sp>
        <p:nvSpPr>
          <p:cNvPr id="25" name="Rectangle 24"/>
          <p:cNvSpPr/>
          <p:nvPr/>
        </p:nvSpPr>
        <p:spPr>
          <a:xfrm>
            <a:off x="4279392" y="2377440"/>
            <a:ext cx="1755648" cy="22402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79392" y="2377440"/>
            <a:ext cx="1755648" cy="54864"/>
          </a:xfrm>
          <a:prstGeom prst="rect">
            <a:avLst/>
          </a:prstGeom>
          <a:solidFill>
            <a:srgbClr val="2A8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43983" y="2578608"/>
            <a:ext cx="1554480" cy="274320"/>
          </a:xfrm>
          <a:prstGeom prst="rect">
            <a:avLst/>
          </a:prstGeom>
          <a:noFill/>
        </p:spPr>
        <p:txBody>
          <a:bodyPr wrap="square" lIns="0" rIns="0" tIns="0" bIns="0" anchor="t">
            <a:spAutoFit/>
          </a:bodyPr>
          <a:lstStyle/>
          <a:p>
            <a:pPr algn="l"/>
            <a:r>
              <a:rPr sz="1050" b="0" i="0">
                <a:solidFill>
                  <a:srgbClr val="6E6E7E"/>
                </a:solidFill>
                <a:latin typeface="JetBrains Mono"/>
              </a:rPr>
              <a:t>03</a:t>
            </a:r>
          </a:p>
        </p:txBody>
      </p:sp>
      <p:sp>
        <p:nvSpPr>
          <p:cNvPr id="28" name="TextBox 27"/>
          <p:cNvSpPr txBox="1"/>
          <p:nvPr/>
        </p:nvSpPr>
        <p:spPr>
          <a:xfrm>
            <a:off x="4443983" y="2816352"/>
            <a:ext cx="1554480" cy="365760"/>
          </a:xfrm>
          <a:prstGeom prst="rect">
            <a:avLst/>
          </a:prstGeom>
          <a:noFill/>
        </p:spPr>
        <p:txBody>
          <a:bodyPr wrap="square" lIns="0" rIns="0" tIns="0" bIns="0" anchor="t">
            <a:spAutoFit/>
          </a:bodyPr>
          <a:lstStyle/>
          <a:p>
            <a:pPr algn="l"/>
            <a:r>
              <a:rPr sz="2000" b="1" i="1">
                <a:solidFill>
                  <a:srgbClr val="F5F5F7"/>
                </a:solidFill>
                <a:latin typeface="Barlow Condensed"/>
              </a:rPr>
              <a:t>FUEL</a:t>
            </a:r>
          </a:p>
        </p:txBody>
      </p:sp>
      <p:sp>
        <p:nvSpPr>
          <p:cNvPr id="29" name="TextBox 28"/>
          <p:cNvSpPr txBox="1"/>
          <p:nvPr/>
        </p:nvSpPr>
        <p:spPr>
          <a:xfrm>
            <a:off x="4443983" y="3172968"/>
            <a:ext cx="1554480" cy="274320"/>
          </a:xfrm>
          <a:prstGeom prst="rect">
            <a:avLst/>
          </a:prstGeom>
          <a:noFill/>
        </p:spPr>
        <p:txBody>
          <a:bodyPr wrap="square" lIns="0" rIns="0" tIns="0" bIns="0" anchor="t">
            <a:spAutoFit/>
          </a:bodyPr>
          <a:lstStyle/>
          <a:p>
            <a:pPr algn="l"/>
            <a:r>
              <a:rPr sz="1150" b="0" i="0">
                <a:solidFill>
                  <a:srgbClr val="A9A9B8"/>
                </a:solidFill>
                <a:latin typeface="Barlow"/>
              </a:rPr>
              <a:t>per kg on board</a:t>
            </a:r>
          </a:p>
        </p:txBody>
      </p:sp>
      <p:sp>
        <p:nvSpPr>
          <p:cNvPr id="30" name="TextBox 29"/>
          <p:cNvSpPr txBox="1"/>
          <p:nvPr/>
        </p:nvSpPr>
        <p:spPr>
          <a:xfrm>
            <a:off x="4443983" y="3611880"/>
            <a:ext cx="1554480" cy="457200"/>
          </a:xfrm>
          <a:prstGeom prst="rect">
            <a:avLst/>
          </a:prstGeom>
          <a:noFill/>
        </p:spPr>
        <p:txBody>
          <a:bodyPr wrap="square" lIns="0" rIns="0" tIns="0" bIns="0" anchor="t">
            <a:spAutoFit/>
          </a:bodyPr>
          <a:lstStyle/>
          <a:p>
            <a:pPr algn="l"/>
            <a:r>
              <a:rPr sz="2600" b="1" i="1">
                <a:solidFill>
                  <a:srgbClr val="2A8BDB"/>
                </a:solidFill>
                <a:latin typeface="Barlow Condensed"/>
              </a:rPr>
              <a:t>0.0333 s</a:t>
            </a:r>
          </a:p>
        </p:txBody>
      </p:sp>
      <p:sp>
        <p:nvSpPr>
          <p:cNvPr id="31" name="TextBox 30"/>
          <p:cNvSpPr txBox="1"/>
          <p:nvPr/>
        </p:nvSpPr>
        <p:spPr>
          <a:xfrm>
            <a:off x="4443983" y="4087368"/>
            <a:ext cx="1508760" cy="457200"/>
          </a:xfrm>
          <a:prstGeom prst="rect">
            <a:avLst/>
          </a:prstGeom>
          <a:noFill/>
        </p:spPr>
        <p:txBody>
          <a:bodyPr wrap="square" lIns="0" rIns="0" tIns="0" bIns="0" anchor="t">
            <a:spAutoFit/>
          </a:bodyPr>
          <a:lstStyle/>
          <a:p>
            <a:pPr algn="l">
              <a:lnSpc>
                <a:spcPct val="105000"/>
              </a:lnSpc>
            </a:pPr>
            <a:r>
              <a:rPr sz="1100" b="0" i="0">
                <a:solidFill>
                  <a:srgbClr val="6E6E7E"/>
                </a:solidFill>
                <a:latin typeface="Barlow"/>
              </a:rPr>
              <a:t>per kg per 90 s lap</a:t>
            </a:r>
          </a:p>
        </p:txBody>
      </p:sp>
      <p:sp>
        <p:nvSpPr>
          <p:cNvPr id="32" name="Rectangle 31"/>
          <p:cNvSpPr/>
          <p:nvPr/>
        </p:nvSpPr>
        <p:spPr>
          <a:xfrm>
            <a:off x="6144768" y="2377440"/>
            <a:ext cx="1755648" cy="22402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44768" y="2377440"/>
            <a:ext cx="1755648" cy="54864"/>
          </a:xfrm>
          <a:prstGeom prst="rect">
            <a:avLst/>
          </a:prstGeom>
          <a:solidFill>
            <a:srgbClr val="FFD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59" y="2578608"/>
            <a:ext cx="1554480" cy="274320"/>
          </a:xfrm>
          <a:prstGeom prst="rect">
            <a:avLst/>
          </a:prstGeom>
          <a:noFill/>
        </p:spPr>
        <p:txBody>
          <a:bodyPr wrap="square" lIns="0" rIns="0" tIns="0" bIns="0" anchor="t">
            <a:spAutoFit/>
          </a:bodyPr>
          <a:lstStyle/>
          <a:p>
            <a:pPr algn="l"/>
            <a:r>
              <a:rPr sz="1050" b="0" i="0">
                <a:solidFill>
                  <a:srgbClr val="6E6E7E"/>
                </a:solidFill>
                <a:latin typeface="JetBrains Mono"/>
              </a:rPr>
              <a:t>04</a:t>
            </a:r>
          </a:p>
        </p:txBody>
      </p:sp>
      <p:sp>
        <p:nvSpPr>
          <p:cNvPr id="35" name="TextBox 34"/>
          <p:cNvSpPr txBox="1"/>
          <p:nvPr/>
        </p:nvSpPr>
        <p:spPr>
          <a:xfrm>
            <a:off x="6309359" y="2816352"/>
            <a:ext cx="1554480" cy="365760"/>
          </a:xfrm>
          <a:prstGeom prst="rect">
            <a:avLst/>
          </a:prstGeom>
          <a:noFill/>
        </p:spPr>
        <p:txBody>
          <a:bodyPr wrap="square" lIns="0" rIns="0" tIns="0" bIns="0" anchor="t">
            <a:spAutoFit/>
          </a:bodyPr>
          <a:lstStyle/>
          <a:p>
            <a:pPr algn="l"/>
            <a:r>
              <a:rPr sz="2000" b="1" i="1">
                <a:solidFill>
                  <a:srgbClr val="F5F5F7"/>
                </a:solidFill>
                <a:latin typeface="Barlow Condensed"/>
              </a:rPr>
              <a:t>TYRE WEAR</a:t>
            </a:r>
          </a:p>
        </p:txBody>
      </p:sp>
      <p:sp>
        <p:nvSpPr>
          <p:cNvPr id="36" name="TextBox 35"/>
          <p:cNvSpPr txBox="1"/>
          <p:nvPr/>
        </p:nvSpPr>
        <p:spPr>
          <a:xfrm>
            <a:off x="6309359" y="3172968"/>
            <a:ext cx="1554480" cy="274320"/>
          </a:xfrm>
          <a:prstGeom prst="rect">
            <a:avLst/>
          </a:prstGeom>
          <a:noFill/>
        </p:spPr>
        <p:txBody>
          <a:bodyPr wrap="square" lIns="0" rIns="0" tIns="0" bIns="0" anchor="t">
            <a:spAutoFit/>
          </a:bodyPr>
          <a:lstStyle/>
          <a:p>
            <a:pPr algn="l"/>
            <a:r>
              <a:rPr sz="1150" b="0" i="0">
                <a:solidFill>
                  <a:srgbClr val="A9A9B8"/>
                </a:solidFill>
                <a:latin typeface="Barlow"/>
              </a:rPr>
              <a:t>by tyre age</a:t>
            </a:r>
          </a:p>
        </p:txBody>
      </p:sp>
      <p:sp>
        <p:nvSpPr>
          <p:cNvPr id="37" name="TextBox 36"/>
          <p:cNvSpPr txBox="1"/>
          <p:nvPr/>
        </p:nvSpPr>
        <p:spPr>
          <a:xfrm>
            <a:off x="6309359" y="3611880"/>
            <a:ext cx="1554480" cy="457200"/>
          </a:xfrm>
          <a:prstGeom prst="rect">
            <a:avLst/>
          </a:prstGeom>
          <a:noFill/>
        </p:spPr>
        <p:txBody>
          <a:bodyPr wrap="square" lIns="0" rIns="0" tIns="0" bIns="0" anchor="t">
            <a:spAutoFit/>
          </a:bodyPr>
          <a:lstStyle/>
          <a:p>
            <a:pPr algn="l"/>
            <a:r>
              <a:rPr sz="2600" b="1" i="1">
                <a:solidFill>
                  <a:srgbClr val="FFD12E"/>
                </a:solidFill>
                <a:latin typeface="Barlow Condensed"/>
              </a:rPr>
              <a:t>6 knots</a:t>
            </a:r>
          </a:p>
        </p:txBody>
      </p:sp>
      <p:sp>
        <p:nvSpPr>
          <p:cNvPr id="38" name="TextBox 37"/>
          <p:cNvSpPr txBox="1"/>
          <p:nvPr/>
        </p:nvSpPr>
        <p:spPr>
          <a:xfrm>
            <a:off x="6309359" y="4087368"/>
            <a:ext cx="1508760" cy="457200"/>
          </a:xfrm>
          <a:prstGeom prst="rect">
            <a:avLst/>
          </a:prstGeom>
          <a:noFill/>
        </p:spPr>
        <p:txBody>
          <a:bodyPr wrap="square" lIns="0" rIns="0" tIns="0" bIns="0" anchor="t">
            <a:spAutoFit/>
          </a:bodyPr>
          <a:lstStyle/>
          <a:p>
            <a:pPr algn="l">
              <a:lnSpc>
                <a:spcPct val="105000"/>
              </a:lnSpc>
            </a:pPr>
            <a:r>
              <a:rPr sz="1100" b="0" i="0">
                <a:solidFill>
                  <a:srgbClr val="6E6E7E"/>
                </a:solidFill>
                <a:latin typeface="Barlow"/>
              </a:rPr>
              <a:t>0, 4, 10, 18, 28, 40 laps</a:t>
            </a:r>
          </a:p>
        </p:txBody>
      </p:sp>
      <p:sp>
        <p:nvSpPr>
          <p:cNvPr id="39" name="Rectangle 38"/>
          <p:cNvSpPr/>
          <p:nvPr/>
        </p:nvSpPr>
        <p:spPr>
          <a:xfrm>
            <a:off x="8010144" y="2377440"/>
            <a:ext cx="1755648" cy="22402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10144" y="2377440"/>
            <a:ext cx="1755648" cy="54864"/>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74736" y="2578608"/>
            <a:ext cx="1554480" cy="274320"/>
          </a:xfrm>
          <a:prstGeom prst="rect">
            <a:avLst/>
          </a:prstGeom>
          <a:noFill/>
        </p:spPr>
        <p:txBody>
          <a:bodyPr wrap="square" lIns="0" rIns="0" tIns="0" bIns="0" anchor="t">
            <a:spAutoFit/>
          </a:bodyPr>
          <a:lstStyle/>
          <a:p>
            <a:pPr algn="l"/>
            <a:r>
              <a:rPr sz="1050" b="0" i="0">
                <a:solidFill>
                  <a:srgbClr val="6E6E7E"/>
                </a:solidFill>
                <a:latin typeface="JetBrains Mono"/>
              </a:rPr>
              <a:t>05</a:t>
            </a:r>
          </a:p>
        </p:txBody>
      </p:sp>
      <p:sp>
        <p:nvSpPr>
          <p:cNvPr id="42" name="TextBox 41"/>
          <p:cNvSpPr txBox="1"/>
          <p:nvPr/>
        </p:nvSpPr>
        <p:spPr>
          <a:xfrm>
            <a:off x="8174736" y="2816352"/>
            <a:ext cx="1554480" cy="365760"/>
          </a:xfrm>
          <a:prstGeom prst="rect">
            <a:avLst/>
          </a:prstGeom>
          <a:noFill/>
        </p:spPr>
        <p:txBody>
          <a:bodyPr wrap="square" lIns="0" rIns="0" tIns="0" bIns="0" anchor="t">
            <a:spAutoFit/>
          </a:bodyPr>
          <a:lstStyle/>
          <a:p>
            <a:pPr algn="l"/>
            <a:r>
              <a:rPr sz="2000" b="1" i="1">
                <a:solidFill>
                  <a:srgbClr val="F5F5F7"/>
                </a:solidFill>
                <a:latin typeface="Barlow Condensed"/>
              </a:rPr>
              <a:t>TEMPERATURE</a:t>
            </a:r>
          </a:p>
        </p:txBody>
      </p:sp>
      <p:sp>
        <p:nvSpPr>
          <p:cNvPr id="43" name="TextBox 42"/>
          <p:cNvSpPr txBox="1"/>
          <p:nvPr/>
        </p:nvSpPr>
        <p:spPr>
          <a:xfrm>
            <a:off x="8174736" y="3172968"/>
            <a:ext cx="1554480" cy="274320"/>
          </a:xfrm>
          <a:prstGeom prst="rect">
            <a:avLst/>
          </a:prstGeom>
          <a:noFill/>
        </p:spPr>
        <p:txBody>
          <a:bodyPr wrap="square" lIns="0" rIns="0" tIns="0" bIns="0" anchor="t">
            <a:spAutoFit/>
          </a:bodyPr>
          <a:lstStyle/>
          <a:p>
            <a:pPr algn="l"/>
            <a:r>
              <a:rPr sz="1150" b="0" i="0">
                <a:solidFill>
                  <a:srgbClr val="A9A9B8"/>
                </a:solidFill>
                <a:latin typeface="Barlow"/>
              </a:rPr>
              <a:t>track temp × age</a:t>
            </a:r>
          </a:p>
        </p:txBody>
      </p:sp>
      <p:sp>
        <p:nvSpPr>
          <p:cNvPr id="44" name="TextBox 43"/>
          <p:cNvSpPr txBox="1"/>
          <p:nvPr/>
        </p:nvSpPr>
        <p:spPr>
          <a:xfrm>
            <a:off x="8174736" y="3611880"/>
            <a:ext cx="1554480" cy="457200"/>
          </a:xfrm>
          <a:prstGeom prst="rect">
            <a:avLst/>
          </a:prstGeom>
          <a:noFill/>
        </p:spPr>
        <p:txBody>
          <a:bodyPr wrap="square" lIns="0" rIns="0" tIns="0" bIns="0" anchor="t">
            <a:spAutoFit/>
          </a:bodyPr>
          <a:lstStyle/>
          <a:p>
            <a:pPr algn="l"/>
            <a:r>
              <a:rPr sz="2600" b="1" i="1">
                <a:solidFill>
                  <a:srgbClr val="A855F7"/>
                </a:solidFill>
                <a:latin typeface="Barlow Condensed"/>
              </a:rPr>
              <a:t>faster wear</a:t>
            </a:r>
          </a:p>
        </p:txBody>
      </p:sp>
      <p:sp>
        <p:nvSpPr>
          <p:cNvPr id="45" name="TextBox 44"/>
          <p:cNvSpPr txBox="1"/>
          <p:nvPr/>
        </p:nvSpPr>
        <p:spPr>
          <a:xfrm>
            <a:off x="8174736" y="4087368"/>
            <a:ext cx="1508760" cy="457200"/>
          </a:xfrm>
          <a:prstGeom prst="rect">
            <a:avLst/>
          </a:prstGeom>
          <a:noFill/>
        </p:spPr>
        <p:txBody>
          <a:bodyPr wrap="square" lIns="0" rIns="0" tIns="0" bIns="0" anchor="t">
            <a:spAutoFit/>
          </a:bodyPr>
          <a:lstStyle/>
          <a:p>
            <a:pPr algn="l">
              <a:lnSpc>
                <a:spcPct val="105000"/>
              </a:lnSpc>
            </a:pPr>
            <a:r>
              <a:rPr sz="1100" b="0" i="0">
                <a:solidFill>
                  <a:srgbClr val="6E6E7E"/>
                </a:solidFill>
                <a:latin typeface="Barlow"/>
              </a:rPr>
              <a:t>when the track is hotter</a:t>
            </a:r>
          </a:p>
        </p:txBody>
      </p:sp>
      <p:sp>
        <p:nvSpPr>
          <p:cNvPr id="46" name="Rectangle 45"/>
          <p:cNvSpPr/>
          <p:nvPr/>
        </p:nvSpPr>
        <p:spPr>
          <a:xfrm>
            <a:off x="9875519" y="2377440"/>
            <a:ext cx="1755648" cy="22402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875519" y="2377440"/>
            <a:ext cx="1755648" cy="54864"/>
          </a:xfrm>
          <a:prstGeom prst="rect">
            <a:avLst/>
          </a:prstGeom>
          <a:solidFill>
            <a:srgbClr val="2BA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40111" y="2578608"/>
            <a:ext cx="1554480" cy="274320"/>
          </a:xfrm>
          <a:prstGeom prst="rect">
            <a:avLst/>
          </a:prstGeom>
          <a:noFill/>
        </p:spPr>
        <p:txBody>
          <a:bodyPr wrap="square" lIns="0" rIns="0" tIns="0" bIns="0" anchor="t">
            <a:spAutoFit/>
          </a:bodyPr>
          <a:lstStyle/>
          <a:p>
            <a:pPr algn="l"/>
            <a:r>
              <a:rPr sz="1050" b="0" i="0">
                <a:solidFill>
                  <a:srgbClr val="6E6E7E"/>
                </a:solidFill>
                <a:latin typeface="JetBrains Mono"/>
              </a:rPr>
              <a:t>06</a:t>
            </a:r>
          </a:p>
        </p:txBody>
      </p:sp>
      <p:sp>
        <p:nvSpPr>
          <p:cNvPr id="49" name="TextBox 48"/>
          <p:cNvSpPr txBox="1"/>
          <p:nvPr/>
        </p:nvSpPr>
        <p:spPr>
          <a:xfrm>
            <a:off x="10040111" y="2816352"/>
            <a:ext cx="1554480" cy="365760"/>
          </a:xfrm>
          <a:prstGeom prst="rect">
            <a:avLst/>
          </a:prstGeom>
          <a:noFill/>
        </p:spPr>
        <p:txBody>
          <a:bodyPr wrap="square" lIns="0" rIns="0" tIns="0" bIns="0" anchor="t">
            <a:spAutoFit/>
          </a:bodyPr>
          <a:lstStyle/>
          <a:p>
            <a:pPr algn="l"/>
            <a:r>
              <a:rPr sz="2000" b="1" i="1">
                <a:solidFill>
                  <a:srgbClr val="F5F5F7"/>
                </a:solidFill>
                <a:latin typeface="Barlow Condensed"/>
              </a:rPr>
              <a:t>TRAFFIC</a:t>
            </a:r>
          </a:p>
        </p:txBody>
      </p:sp>
      <p:sp>
        <p:nvSpPr>
          <p:cNvPr id="50" name="TextBox 49"/>
          <p:cNvSpPr txBox="1"/>
          <p:nvPr/>
        </p:nvSpPr>
        <p:spPr>
          <a:xfrm>
            <a:off x="10040111" y="3172968"/>
            <a:ext cx="1554480" cy="274320"/>
          </a:xfrm>
          <a:prstGeom prst="rect">
            <a:avLst/>
          </a:prstGeom>
          <a:noFill/>
        </p:spPr>
        <p:txBody>
          <a:bodyPr wrap="square" lIns="0" rIns="0" tIns="0" bIns="0" anchor="t">
            <a:spAutoFit/>
          </a:bodyPr>
          <a:lstStyle/>
          <a:p>
            <a:pPr algn="l"/>
            <a:r>
              <a:rPr sz="1150" b="0" i="0">
                <a:solidFill>
                  <a:srgbClr val="A9A9B8"/>
                </a:solidFill>
                <a:latin typeface="Barlow"/>
              </a:rPr>
              <a:t>car ahead within 1 s</a:t>
            </a:r>
          </a:p>
        </p:txBody>
      </p:sp>
      <p:sp>
        <p:nvSpPr>
          <p:cNvPr id="51" name="TextBox 50"/>
          <p:cNvSpPr txBox="1"/>
          <p:nvPr/>
        </p:nvSpPr>
        <p:spPr>
          <a:xfrm>
            <a:off x="10040111" y="3611880"/>
            <a:ext cx="1554480" cy="457200"/>
          </a:xfrm>
          <a:prstGeom prst="rect">
            <a:avLst/>
          </a:prstGeom>
          <a:noFill/>
        </p:spPr>
        <p:txBody>
          <a:bodyPr wrap="square" lIns="0" rIns="0" tIns="0" bIns="0" anchor="t">
            <a:spAutoFit/>
          </a:bodyPr>
          <a:lstStyle/>
          <a:p>
            <a:pPr algn="l"/>
            <a:r>
              <a:rPr sz="2600" b="1" i="1">
                <a:solidFill>
                  <a:srgbClr val="2BA84A"/>
                </a:solidFill>
                <a:latin typeface="Barlow Condensed"/>
              </a:rPr>
              <a:t>+0.41 s</a:t>
            </a:r>
          </a:p>
        </p:txBody>
      </p:sp>
      <p:sp>
        <p:nvSpPr>
          <p:cNvPr id="52" name="TextBox 51"/>
          <p:cNvSpPr txBox="1"/>
          <p:nvPr/>
        </p:nvSpPr>
        <p:spPr>
          <a:xfrm>
            <a:off x="10040111" y="4087368"/>
            <a:ext cx="1508760" cy="457200"/>
          </a:xfrm>
          <a:prstGeom prst="rect">
            <a:avLst/>
          </a:prstGeom>
          <a:noFill/>
        </p:spPr>
        <p:txBody>
          <a:bodyPr wrap="square" lIns="0" rIns="0" tIns="0" bIns="0" anchor="t">
            <a:spAutoFit/>
          </a:bodyPr>
          <a:lstStyle/>
          <a:p>
            <a:pPr algn="l">
              <a:lnSpc>
                <a:spcPct val="105000"/>
              </a:lnSpc>
            </a:pPr>
            <a:r>
              <a:rPr sz="1100" b="0" i="0">
                <a:solidFill>
                  <a:srgbClr val="6E6E7E"/>
                </a:solidFill>
                <a:latin typeface="Barlow"/>
              </a:rPr>
              <a:t>per lap; +0.20 s at 1-2 s</a:t>
            </a:r>
          </a:p>
        </p:txBody>
      </p:sp>
      <p:sp>
        <p:nvSpPr>
          <p:cNvPr id="53" name="Rectangle 52"/>
          <p:cNvSpPr/>
          <p:nvPr/>
        </p:nvSpPr>
        <p:spPr>
          <a:xfrm>
            <a:off x="548640" y="4846320"/>
            <a:ext cx="11091672" cy="566928"/>
          </a:xfrm>
          <a:prstGeom prst="rect">
            <a:avLst/>
          </a:prstGeom>
          <a:solidFill>
            <a:srgbClr val="101016"/>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4846320"/>
            <a:ext cx="10698480" cy="566928"/>
          </a:xfrm>
          <a:prstGeom prst="rect">
            <a:avLst/>
          </a:prstGeom>
          <a:noFill/>
        </p:spPr>
        <p:txBody>
          <a:bodyPr wrap="square" lIns="0" rIns="0" tIns="0" bIns="0" anchor="ctr">
            <a:spAutoFit/>
          </a:bodyPr>
          <a:lstStyle/>
          <a:p>
            <a:pPr algn="l"/>
            <a:r>
              <a:rPr sz="1150" b="0" i="0">
                <a:solidFill>
                  <a:srgbClr val="F5F5F7"/>
                </a:solidFill>
                <a:latin typeface="JetBrains Mono"/>
              </a:rPr>
              <a:t>lap time</a:t>
            </a:r>
            <a:r>
              <a:rPr sz="1150" b="0" i="0">
                <a:solidFill>
                  <a:srgbClr val="A9A9B8"/>
                </a:solidFill>
                <a:latin typeface="JetBrains Mono"/>
              </a:rPr>
              <a:t> = base[driver, race] + L · ( compound + 0.0333·fuel + wear(age) + age·(temp + circuit + race) + traffic )</a:t>
            </a:r>
          </a:p>
        </p:txBody>
      </p:sp>
      <p:sp>
        <p:nvSpPr>
          <p:cNvPr id="55" name="TextBox 54"/>
          <p:cNvSpPr txBox="1"/>
          <p:nvPr/>
        </p:nvSpPr>
        <p:spPr>
          <a:xfrm>
            <a:off x="548640" y="5596128"/>
            <a:ext cx="11064240" cy="548640"/>
          </a:xfrm>
          <a:prstGeom prst="rect">
            <a:avLst/>
          </a:prstGeom>
          <a:noFill/>
        </p:spPr>
        <p:txBody>
          <a:bodyPr wrap="square" lIns="0" rIns="0" tIns="0" bIns="0" anchor="t">
            <a:spAutoFit/>
          </a:bodyPr>
          <a:lstStyle/>
          <a:p>
            <a:pPr algn="l">
              <a:lnSpc>
                <a:spcPct val="110000"/>
              </a:lnSpc>
            </a:pPr>
            <a:r>
              <a:rPr sz="1200" b="0" i="0">
                <a:solidFill>
                  <a:srgbClr val="6E6E7E"/>
                </a:solidFill>
                <a:latin typeface="Barlow"/>
              </a:rPr>
              <a:t>One penalised least-squares fit, about 2,500 parameters, solved in closed form. Gaussian priors shrink thin data toward the circuit, then the global value. L scales everything to a 90 s lap. Lap-to-lap noise: 0.41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THE TRICK</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06</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3657508"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THE TRICK</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THE PIT STOP SPLITS </a:t>
            </a:r>
            <a:r>
              <a:rPr sz="4600" b="1" i="1">
                <a:solidFill>
                  <a:srgbClr val="E10600"/>
                </a:solidFill>
                <a:latin typeface="Barlow Condensed"/>
              </a:rPr>
              <a:t>FUEL FROM WEAR.</a:t>
            </a:r>
          </a:p>
        </p:txBody>
      </p:sp>
      <p:sp>
        <p:nvSpPr>
          <p:cNvPr id="10" name="TextBox 9"/>
          <p:cNvSpPr txBox="1"/>
          <p:nvPr/>
        </p:nvSpPr>
        <p:spPr>
          <a:xfrm>
            <a:off x="548640" y="1828800"/>
            <a:ext cx="4846320" cy="2011680"/>
          </a:xfrm>
          <a:prstGeom prst="rect">
            <a:avLst/>
          </a:prstGeom>
          <a:noFill/>
        </p:spPr>
        <p:txBody>
          <a:bodyPr wrap="square" lIns="0" rIns="0" tIns="0" bIns="0" anchor="t">
            <a:spAutoFit/>
          </a:bodyPr>
          <a:lstStyle/>
          <a:p>
            <a:pPr algn="l">
              <a:lnSpc>
                <a:spcPct val="120000"/>
              </a:lnSpc>
            </a:pPr>
            <a:r>
              <a:rPr sz="1550" b="0" i="0">
                <a:solidFill>
                  <a:srgbClr val="A9A9B8"/>
                </a:solidFill>
                <a:latin typeface="Barlow"/>
              </a:rPr>
              <a:t>Inside one stint, fuel falls and tyre age rises together, lap for lap. You cannot tell them apart.</a:t>
            </a:r>
          </a:p>
          <a:p>
            <a:pPr algn="l">
              <a:lnSpc>
                <a:spcPct val="120000"/>
              </a:lnSpc>
            </a:pPr>
            <a:r>
              <a:rPr sz="1550" b="0" i="0">
                <a:solidFill>
                  <a:srgbClr val="A9A9B8"/>
                </a:solidFill>
                <a:latin typeface="Barlow"/>
              </a:rPr>
              <a:t/>
            </a:r>
          </a:p>
          <a:p>
            <a:pPr algn="l">
              <a:lnSpc>
                <a:spcPct val="120000"/>
              </a:lnSpc>
            </a:pPr>
            <a:r>
              <a:rPr sz="1550" b="0" i="0">
                <a:solidFill>
                  <a:srgbClr val="A9A9B8"/>
                </a:solidFill>
                <a:latin typeface="Barlow"/>
              </a:rPr>
              <a:t>At a pit stop the tyres reset to zero but the fuel keeps falling. That break is where the model learns each effect.</a:t>
            </a:r>
          </a:p>
        </p:txBody>
      </p:sp>
      <p:sp>
        <p:nvSpPr>
          <p:cNvPr id="11" name="TextBox 10"/>
          <p:cNvSpPr txBox="1"/>
          <p:nvPr/>
        </p:nvSpPr>
        <p:spPr>
          <a:xfrm>
            <a:off x="548640" y="3977639"/>
            <a:ext cx="4846320" cy="914400"/>
          </a:xfrm>
          <a:prstGeom prst="rect">
            <a:avLst/>
          </a:prstGeom>
          <a:noFill/>
        </p:spPr>
        <p:txBody>
          <a:bodyPr wrap="square" lIns="0" rIns="0" tIns="0" bIns="0" anchor="t">
            <a:spAutoFit/>
          </a:bodyPr>
          <a:lstStyle/>
          <a:p>
            <a:pPr algn="l"/>
            <a:r>
              <a:rPr sz="6800" b="1" i="1">
                <a:solidFill>
                  <a:srgbClr val="2A8BDB"/>
                </a:solidFill>
                <a:latin typeface="Barlow Condensed"/>
              </a:rPr>
              <a:t>0.0333</a:t>
            </a:r>
            <a:r>
              <a:rPr sz="2800" b="1" i="1">
                <a:solidFill>
                  <a:srgbClr val="A9A9B8"/>
                </a:solidFill>
                <a:latin typeface="Barlow Condensed"/>
              </a:rPr>
              <a:t> s/kg</a:t>
            </a:r>
          </a:p>
        </p:txBody>
      </p:sp>
      <p:sp>
        <p:nvSpPr>
          <p:cNvPr id="12" name="TextBox 11"/>
          <p:cNvSpPr txBox="1"/>
          <p:nvPr/>
        </p:nvSpPr>
        <p:spPr>
          <a:xfrm>
            <a:off x="566928" y="4937760"/>
            <a:ext cx="4572000" cy="731520"/>
          </a:xfrm>
          <a:prstGeom prst="rect">
            <a:avLst/>
          </a:prstGeom>
          <a:noFill/>
        </p:spPr>
        <p:txBody>
          <a:bodyPr wrap="square" lIns="0" rIns="0" tIns="0" bIns="0" anchor="t">
            <a:spAutoFit/>
          </a:bodyPr>
          <a:lstStyle/>
          <a:p>
            <a:pPr algn="l"/>
            <a:r>
              <a:rPr sz="1300" b="0" i="0">
                <a:solidFill>
                  <a:srgbClr val="6E6E7E"/>
                </a:solidFill>
                <a:latin typeface="Barlow"/>
              </a:rPr>
              <a:t>About 0.058 s per lap of fuel burned: inside the range quoted for current F1 cars.</a:t>
            </a:r>
          </a:p>
        </p:txBody>
      </p:sp>
      <p:sp>
        <p:nvSpPr>
          <p:cNvPr id="13" name="Rectangle 12"/>
          <p:cNvSpPr/>
          <p:nvPr/>
        </p:nvSpPr>
        <p:spPr>
          <a:xfrm>
            <a:off x="5943600" y="1783080"/>
            <a:ext cx="5696712" cy="42976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2057400"/>
            <a:ext cx="3657600" cy="228600"/>
          </a:xfrm>
          <a:prstGeom prst="rect">
            <a:avLst/>
          </a:prstGeom>
          <a:noFill/>
        </p:spPr>
        <p:txBody>
          <a:bodyPr wrap="square" lIns="0" rIns="0" tIns="0" bIns="0" anchor="t">
            <a:spAutoFit/>
          </a:bodyPr>
          <a:lstStyle/>
          <a:p>
            <a:pPr algn="l"/>
            <a:r>
              <a:rPr sz="1050" b="1" i="0" spc="200">
                <a:solidFill>
                  <a:srgbClr val="2A8BDB"/>
                </a:solidFill>
                <a:latin typeface="Barlow Condensed"/>
              </a:rPr>
              <a:t>FUEL LOAD</a:t>
            </a:r>
          </a:p>
        </p:txBody>
      </p:sp>
      <p:sp>
        <p:nvSpPr>
          <p:cNvPr id="15" name="TextBox 14"/>
          <p:cNvSpPr txBox="1"/>
          <p:nvPr/>
        </p:nvSpPr>
        <p:spPr>
          <a:xfrm>
            <a:off x="6217920" y="3931920"/>
            <a:ext cx="3657600" cy="228600"/>
          </a:xfrm>
          <a:prstGeom prst="rect">
            <a:avLst/>
          </a:prstGeom>
          <a:noFill/>
        </p:spPr>
        <p:txBody>
          <a:bodyPr wrap="square" lIns="0" rIns="0" tIns="0" bIns="0" anchor="t">
            <a:spAutoFit/>
          </a:bodyPr>
          <a:lstStyle/>
          <a:p>
            <a:pPr algn="l"/>
            <a:r>
              <a:rPr sz="1050" b="1" i="0" spc="200">
                <a:solidFill>
                  <a:srgbClr val="FF3B3B"/>
                </a:solidFill>
                <a:latin typeface="Barlow Condensed"/>
              </a:rPr>
              <a:t>TYRE AGE</a:t>
            </a:r>
          </a:p>
        </p:txBody>
      </p:sp>
      <p:cxnSp>
        <p:nvCxnSpPr>
          <p:cNvPr id="16" name="Connector 15"/>
          <p:cNvCxnSpPr/>
          <p:nvPr/>
        </p:nvCxnSpPr>
        <p:spPr>
          <a:xfrm>
            <a:off x="6446520" y="3794760"/>
            <a:ext cx="4873752" cy="0"/>
          </a:xfrm>
          <a:prstGeom prst="line">
            <a:avLst/>
          </a:prstGeom>
          <a:ln w="12700">
            <a:solidFill>
              <a:srgbClr val="2A2A3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446520" y="5532120"/>
            <a:ext cx="4873752" cy="0"/>
          </a:xfrm>
          <a:prstGeom prst="line">
            <a:avLst/>
          </a:prstGeom>
          <a:ln w="12700">
            <a:solidFill>
              <a:srgbClr val="2A2A36"/>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6446520" y="2468880"/>
            <a:ext cx="4873752" cy="1325880"/>
          </a:xfrm>
          <a:custGeom>
            <a:avLst/>
            <a:gdLst/>
            <a:ahLst/>
            <a:cxnLst/>
            <a:rect l="l" t="t" r="r" b="b"/>
            <a:pathLst>
              <a:path w="4873752" h="1325880">
                <a:moveTo>
                  <a:pt x="0" y="0"/>
                </a:moveTo>
                <a:lnTo>
                  <a:pt x="4873752" y="1325880"/>
                </a:lnTo>
              </a:path>
            </a:pathLst>
          </a:custGeom>
          <a:noFill/>
          <a:ln w="38100">
            <a:solidFill>
              <a:srgbClr val="2A8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446520" y="4409901"/>
            <a:ext cx="1653594" cy="1122219"/>
          </a:xfrm>
          <a:custGeom>
            <a:avLst/>
            <a:gdLst/>
            <a:ahLst/>
            <a:cxnLst/>
            <a:rect l="l" t="t" r="r" b="b"/>
            <a:pathLst>
              <a:path w="1653594" h="1122219">
                <a:moveTo>
                  <a:pt x="0" y="1122219"/>
                </a:moveTo>
                <a:lnTo>
                  <a:pt x="1653594" y="0"/>
                </a:lnTo>
              </a:path>
            </a:pathLst>
          </a:custGeom>
          <a:noFill/>
          <a:ln w="38100">
            <a:solidFill>
              <a:srgbClr val="FF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8187145" y="4409901"/>
            <a:ext cx="1653595" cy="1122219"/>
          </a:xfrm>
          <a:custGeom>
            <a:avLst/>
            <a:gdLst/>
            <a:ahLst/>
            <a:cxnLst/>
            <a:rect l="l" t="t" r="r" b="b"/>
            <a:pathLst>
              <a:path w="1653595" h="1122219">
                <a:moveTo>
                  <a:pt x="0" y="1122219"/>
                </a:moveTo>
                <a:lnTo>
                  <a:pt x="1653595" y="0"/>
                </a:lnTo>
              </a:path>
            </a:pathLst>
          </a:custGeom>
          <a:noFill/>
          <a:ln w="38100">
            <a:solidFill>
              <a:srgbClr val="FF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43630" y="2331720"/>
            <a:ext cx="0" cy="3200400"/>
          </a:xfrm>
          <a:prstGeom prst="line">
            <a:avLst/>
          </a:prstGeom>
          <a:ln w="12700">
            <a:solidFill>
              <a:srgbClr val="6E6E7E"/>
            </a:solidFill>
            <a:prstDash val="dash"/>
          </a:ln>
        </p:spPr>
        <p:style>
          <a:lnRef idx="2">
            <a:schemeClr val="accent1"/>
          </a:lnRef>
          <a:fillRef idx="0">
            <a:schemeClr val="accent1"/>
          </a:fillRef>
          <a:effectRef idx="1">
            <a:schemeClr val="accent1"/>
          </a:effectRef>
          <a:fontRef idx="minor">
            <a:schemeClr val="tx1"/>
          </a:fontRef>
        </p:style>
      </p:cxnSp>
      <p:sp>
        <p:nvSpPr>
          <p:cNvPr id="22" name="Parallelogram 21"/>
          <p:cNvSpPr/>
          <p:nvPr/>
        </p:nvSpPr>
        <p:spPr>
          <a:xfrm>
            <a:off x="7851022" y="2075688"/>
            <a:ext cx="585216" cy="274320"/>
          </a:xfrm>
          <a:prstGeom prst="parallelogram">
            <a:avLst>
              <a:gd name="adj" fmla="val 25000"/>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i="1" spc="100">
                <a:solidFill>
                  <a:srgbClr val="F5F5F7"/>
                </a:solidFill>
                <a:latin typeface="Barlow Condensed"/>
              </a:rPr>
              <a:t>PIT</a:t>
            </a:r>
          </a:p>
        </p:txBody>
      </p:sp>
      <p:sp>
        <p:nvSpPr>
          <p:cNvPr id="23" name="Freeform 22"/>
          <p:cNvSpPr/>
          <p:nvPr/>
        </p:nvSpPr>
        <p:spPr>
          <a:xfrm>
            <a:off x="9927771" y="4578234"/>
            <a:ext cx="1392501" cy="953886"/>
          </a:xfrm>
          <a:custGeom>
            <a:avLst/>
            <a:gdLst/>
            <a:ahLst/>
            <a:cxnLst/>
            <a:rect l="l" t="t" r="r" b="b"/>
            <a:pathLst>
              <a:path w="1392501" h="953886">
                <a:moveTo>
                  <a:pt x="0" y="953886"/>
                </a:moveTo>
                <a:lnTo>
                  <a:pt x="1392501" y="0"/>
                </a:lnTo>
              </a:path>
            </a:pathLst>
          </a:custGeom>
          <a:noFill/>
          <a:ln w="38100">
            <a:solidFill>
              <a:srgbClr val="FF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9884255" y="2331720"/>
            <a:ext cx="0" cy="3200400"/>
          </a:xfrm>
          <a:prstGeom prst="line">
            <a:avLst/>
          </a:prstGeom>
          <a:ln w="12700">
            <a:solidFill>
              <a:srgbClr val="6E6E7E"/>
            </a:solidFill>
            <a:prstDash val="dash"/>
          </a:ln>
        </p:spPr>
        <p:style>
          <a:lnRef idx="2">
            <a:schemeClr val="accent1"/>
          </a:lnRef>
          <a:fillRef idx="0">
            <a:schemeClr val="accent1"/>
          </a:fillRef>
          <a:effectRef idx="1">
            <a:schemeClr val="accent1"/>
          </a:effectRef>
          <a:fontRef idx="minor">
            <a:schemeClr val="tx1"/>
          </a:fontRef>
        </p:style>
      </p:cxnSp>
      <p:sp>
        <p:nvSpPr>
          <p:cNvPr id="25" name="Parallelogram 24"/>
          <p:cNvSpPr/>
          <p:nvPr/>
        </p:nvSpPr>
        <p:spPr>
          <a:xfrm>
            <a:off x="9591647" y="2075688"/>
            <a:ext cx="585216" cy="274320"/>
          </a:xfrm>
          <a:prstGeom prst="parallelogram">
            <a:avLst>
              <a:gd name="adj" fmla="val 25000"/>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i="1" spc="100">
                <a:solidFill>
                  <a:srgbClr val="F5F5F7"/>
                </a:solidFill>
                <a:latin typeface="Barlow Condensed"/>
              </a:rPr>
              <a:t>PIT</a:t>
            </a:r>
          </a:p>
        </p:txBody>
      </p:sp>
      <p:sp>
        <p:nvSpPr>
          <p:cNvPr id="26" name="TextBox 25"/>
          <p:cNvSpPr txBox="1"/>
          <p:nvPr/>
        </p:nvSpPr>
        <p:spPr>
          <a:xfrm>
            <a:off x="8260297" y="5623559"/>
            <a:ext cx="2194560" cy="274320"/>
          </a:xfrm>
          <a:prstGeom prst="rect">
            <a:avLst/>
          </a:prstGeom>
          <a:noFill/>
        </p:spPr>
        <p:txBody>
          <a:bodyPr wrap="square" lIns="0" rIns="0" tIns="0" bIns="0" anchor="t">
            <a:spAutoFit/>
          </a:bodyPr>
          <a:lstStyle/>
          <a:p>
            <a:pPr algn="l"/>
            <a:r>
              <a:rPr sz="1200" b="0" i="0">
                <a:solidFill>
                  <a:srgbClr val="FF3B3B"/>
                </a:solidFill>
                <a:latin typeface="Barlow"/>
              </a:rPr>
              <a:t>tyres reset to zero</a:t>
            </a:r>
          </a:p>
        </p:txBody>
      </p:sp>
      <p:sp>
        <p:nvSpPr>
          <p:cNvPr id="27" name="TextBox 26"/>
          <p:cNvSpPr txBox="1"/>
          <p:nvPr/>
        </p:nvSpPr>
        <p:spPr>
          <a:xfrm>
            <a:off x="8361208" y="2605713"/>
            <a:ext cx="2377440" cy="274320"/>
          </a:xfrm>
          <a:prstGeom prst="rect">
            <a:avLst/>
          </a:prstGeom>
          <a:noFill/>
        </p:spPr>
        <p:txBody>
          <a:bodyPr wrap="square" lIns="0" rIns="0" tIns="0" bIns="0" anchor="t">
            <a:spAutoFit/>
          </a:bodyPr>
          <a:lstStyle/>
          <a:p>
            <a:pPr algn="l"/>
            <a:r>
              <a:rPr sz="1200" b="0" i="0">
                <a:solidFill>
                  <a:srgbClr val="2A8BDB"/>
                </a:solidFill>
                <a:latin typeface="Barlow"/>
              </a:rPr>
              <a:t>fuel keeps falling</a:t>
            </a:r>
          </a:p>
        </p:txBody>
      </p:sp>
      <p:sp>
        <p:nvSpPr>
          <p:cNvPr id="28" name="TextBox 27"/>
          <p:cNvSpPr txBox="1"/>
          <p:nvPr/>
        </p:nvSpPr>
        <p:spPr>
          <a:xfrm>
            <a:off x="9491472" y="5641848"/>
            <a:ext cx="1828800" cy="228600"/>
          </a:xfrm>
          <a:prstGeom prst="rect">
            <a:avLst/>
          </a:prstGeom>
          <a:noFill/>
        </p:spPr>
        <p:txBody>
          <a:bodyPr wrap="square" lIns="0" rIns="0" tIns="0" bIns="0" anchor="t">
            <a:spAutoFit/>
          </a:bodyPr>
          <a:lstStyle/>
          <a:p>
            <a:pPr algn="r"/>
            <a:r>
              <a:rPr sz="1050" b="1" i="0" spc="200">
                <a:solidFill>
                  <a:srgbClr val="6E6E7E"/>
                </a:solidFill>
                <a:latin typeface="Barlow Condensed"/>
              </a:rPr>
              <a:t>LAP 1 → 57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WHAT THE TYRES DO</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07</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4267093"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WHAT THE TYRES DO</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WEAR, </a:t>
            </a:r>
            <a:r>
              <a:rPr sz="4600" b="1" i="1">
                <a:solidFill>
                  <a:srgbClr val="E10600"/>
                </a:solidFill>
                <a:latin typeface="Barlow Condensed"/>
              </a:rPr>
              <a:t>MEASURED.</a:t>
            </a:r>
          </a:p>
        </p:txBody>
      </p:sp>
      <p:sp>
        <p:nvSpPr>
          <p:cNvPr id="10" name="TextBox 9"/>
          <p:cNvSpPr txBox="1"/>
          <p:nvPr/>
        </p:nvSpPr>
        <p:spPr>
          <a:xfrm>
            <a:off x="548640" y="1627632"/>
            <a:ext cx="6583680" cy="457200"/>
          </a:xfrm>
          <a:prstGeom prst="rect">
            <a:avLst/>
          </a:prstGeom>
          <a:noFill/>
        </p:spPr>
        <p:txBody>
          <a:bodyPr wrap="square" lIns="0" rIns="0" tIns="0" bIns="0" anchor="t">
            <a:spAutoFit/>
          </a:bodyPr>
          <a:lstStyle/>
          <a:p>
            <a:pPr algn="l"/>
            <a:r>
              <a:rPr sz="1400" b="0" i="0">
                <a:solidFill>
                  <a:srgbClr val="A9A9B8"/>
                </a:solidFill>
                <a:latin typeface="Barlow"/>
              </a:rPr>
              <a:t>Time lost per lap against a fresh set of the same compound, fuel removed. Fitted on all seasons.</a:t>
            </a:r>
          </a:p>
        </p:txBody>
      </p:sp>
      <p:sp>
        <p:nvSpPr>
          <p:cNvPr id="11" name="Rectangle 10"/>
          <p:cNvSpPr/>
          <p:nvPr/>
        </p:nvSpPr>
        <p:spPr>
          <a:xfrm>
            <a:off x="548640" y="2194560"/>
            <a:ext cx="6766560" cy="388620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Chart 11"/>
          <p:cNvGraphicFramePr>
            <a:graphicFrameLocks noGrp="1"/>
          </p:cNvGraphicFramePr>
          <p:nvPr/>
        </p:nvGraphicFramePr>
        <p:xfrm>
          <a:off x="685800" y="2331720"/>
          <a:ext cx="6492240" cy="3657600"/>
        </p:xfrm>
        <a:graphic>
          <a:graphicData uri="http://schemas.openxmlformats.org/drawingml/2006/chart">
            <c:chart xmlns:c="http://schemas.openxmlformats.org/drawingml/2006/chart" r:id="rId4"/>
          </a:graphicData>
        </a:graphic>
      </p:graphicFrame>
      <p:sp>
        <p:nvSpPr>
          <p:cNvPr id="13" name="Rectangle 12"/>
          <p:cNvSpPr/>
          <p:nvPr/>
        </p:nvSpPr>
        <p:spPr>
          <a:xfrm>
            <a:off x="7543800" y="2194560"/>
            <a:ext cx="4096512" cy="896112"/>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43800" y="2194560"/>
            <a:ext cx="54864" cy="896112"/>
          </a:xfrm>
          <a:prstGeom prst="rect">
            <a:avLst/>
          </a:prstGeom>
          <a:solidFill>
            <a:srgbClr val="FF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2322576"/>
            <a:ext cx="3657600" cy="228600"/>
          </a:xfrm>
          <a:prstGeom prst="rect">
            <a:avLst/>
          </a:prstGeom>
          <a:noFill/>
        </p:spPr>
        <p:txBody>
          <a:bodyPr wrap="square" lIns="0" rIns="0" tIns="0" bIns="0" anchor="t">
            <a:spAutoFit/>
          </a:bodyPr>
          <a:lstStyle/>
          <a:p>
            <a:pPr algn="l"/>
            <a:r>
              <a:rPr sz="1050" b="1" i="0" spc="200">
                <a:solidFill>
                  <a:srgbClr val="FF3B3B"/>
                </a:solidFill>
                <a:latin typeface="Barlow Condensed"/>
              </a:rPr>
              <a:t>SOFT</a:t>
            </a:r>
          </a:p>
        </p:txBody>
      </p:sp>
      <p:sp>
        <p:nvSpPr>
          <p:cNvPr id="16" name="TextBox 15"/>
          <p:cNvSpPr txBox="1"/>
          <p:nvPr/>
        </p:nvSpPr>
        <p:spPr>
          <a:xfrm>
            <a:off x="7818120" y="2542032"/>
            <a:ext cx="1828800" cy="502920"/>
          </a:xfrm>
          <a:prstGeom prst="rect">
            <a:avLst/>
          </a:prstGeom>
          <a:noFill/>
        </p:spPr>
        <p:txBody>
          <a:bodyPr wrap="square" lIns="0" rIns="0" tIns="0" bIns="0" anchor="t">
            <a:spAutoFit/>
          </a:bodyPr>
          <a:lstStyle/>
          <a:p>
            <a:pPr algn="l"/>
            <a:r>
              <a:rPr sz="3000" b="1" i="1">
                <a:solidFill>
                  <a:srgbClr val="F5F5F7"/>
                </a:solidFill>
                <a:latin typeface="Barlow Condensed"/>
              </a:rPr>
              <a:t>+1.72 s</a:t>
            </a:r>
          </a:p>
        </p:txBody>
      </p:sp>
      <p:sp>
        <p:nvSpPr>
          <p:cNvPr id="17" name="TextBox 16"/>
          <p:cNvSpPr txBox="1"/>
          <p:nvPr/>
        </p:nvSpPr>
        <p:spPr>
          <a:xfrm>
            <a:off x="9555480" y="2578608"/>
            <a:ext cx="2011680" cy="457200"/>
          </a:xfrm>
          <a:prstGeom prst="rect">
            <a:avLst/>
          </a:prstGeom>
          <a:noFill/>
        </p:spPr>
        <p:txBody>
          <a:bodyPr wrap="square" lIns="0" rIns="0" tIns="0" bIns="0" anchor="t">
            <a:spAutoFit/>
          </a:bodyPr>
          <a:lstStyle/>
          <a:p>
            <a:pPr algn="l">
              <a:lnSpc>
                <a:spcPct val="100000"/>
              </a:lnSpc>
            </a:pPr>
            <a:r>
              <a:rPr sz="1200" b="0" i="0">
                <a:solidFill>
                  <a:srgbClr val="A9A9B8"/>
                </a:solidFill>
                <a:latin typeface="Barlow"/>
              </a:rPr>
              <a:t>per lap at 30 laps old</a:t>
            </a:r>
          </a:p>
        </p:txBody>
      </p:sp>
      <p:sp>
        <p:nvSpPr>
          <p:cNvPr id="18" name="Rectangle 17"/>
          <p:cNvSpPr/>
          <p:nvPr/>
        </p:nvSpPr>
        <p:spPr>
          <a:xfrm>
            <a:off x="7543800" y="3182112"/>
            <a:ext cx="4096512" cy="896112"/>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43800" y="3182112"/>
            <a:ext cx="54864" cy="896112"/>
          </a:xfrm>
          <a:prstGeom prst="rect">
            <a:avLst/>
          </a:prstGeom>
          <a:solidFill>
            <a:srgbClr val="FFD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18120" y="3310128"/>
            <a:ext cx="3657600" cy="228600"/>
          </a:xfrm>
          <a:prstGeom prst="rect">
            <a:avLst/>
          </a:prstGeom>
          <a:noFill/>
        </p:spPr>
        <p:txBody>
          <a:bodyPr wrap="square" lIns="0" rIns="0" tIns="0" bIns="0" anchor="t">
            <a:spAutoFit/>
          </a:bodyPr>
          <a:lstStyle/>
          <a:p>
            <a:pPr algn="l"/>
            <a:r>
              <a:rPr sz="1050" b="1" i="0" spc="200">
                <a:solidFill>
                  <a:srgbClr val="FFD12E"/>
                </a:solidFill>
                <a:latin typeface="Barlow Condensed"/>
              </a:rPr>
              <a:t>MEDIUM</a:t>
            </a:r>
          </a:p>
        </p:txBody>
      </p:sp>
      <p:sp>
        <p:nvSpPr>
          <p:cNvPr id="21" name="TextBox 20"/>
          <p:cNvSpPr txBox="1"/>
          <p:nvPr/>
        </p:nvSpPr>
        <p:spPr>
          <a:xfrm>
            <a:off x="7818120" y="3529584"/>
            <a:ext cx="1828800" cy="502920"/>
          </a:xfrm>
          <a:prstGeom prst="rect">
            <a:avLst/>
          </a:prstGeom>
          <a:noFill/>
        </p:spPr>
        <p:txBody>
          <a:bodyPr wrap="square" lIns="0" rIns="0" tIns="0" bIns="0" anchor="t">
            <a:spAutoFit/>
          </a:bodyPr>
          <a:lstStyle/>
          <a:p>
            <a:pPr algn="l"/>
            <a:r>
              <a:rPr sz="3000" b="1" i="1">
                <a:solidFill>
                  <a:srgbClr val="F5F5F7"/>
                </a:solidFill>
                <a:latin typeface="Barlow Condensed"/>
              </a:rPr>
              <a:t>+2.00 s</a:t>
            </a:r>
          </a:p>
        </p:txBody>
      </p:sp>
      <p:sp>
        <p:nvSpPr>
          <p:cNvPr id="22" name="TextBox 21"/>
          <p:cNvSpPr txBox="1"/>
          <p:nvPr/>
        </p:nvSpPr>
        <p:spPr>
          <a:xfrm>
            <a:off x="9555480" y="3566160"/>
            <a:ext cx="2011680" cy="457200"/>
          </a:xfrm>
          <a:prstGeom prst="rect">
            <a:avLst/>
          </a:prstGeom>
          <a:noFill/>
        </p:spPr>
        <p:txBody>
          <a:bodyPr wrap="square" lIns="0" rIns="0" tIns="0" bIns="0" anchor="t">
            <a:spAutoFit/>
          </a:bodyPr>
          <a:lstStyle/>
          <a:p>
            <a:pPr algn="l">
              <a:lnSpc>
                <a:spcPct val="100000"/>
              </a:lnSpc>
            </a:pPr>
            <a:r>
              <a:rPr sz="1200" b="0" i="0">
                <a:solidFill>
                  <a:srgbClr val="A9A9B8"/>
                </a:solidFill>
                <a:latin typeface="Barlow"/>
              </a:rPr>
              <a:t>per lap at 30 laps old</a:t>
            </a:r>
          </a:p>
        </p:txBody>
      </p:sp>
      <p:sp>
        <p:nvSpPr>
          <p:cNvPr id="23" name="Rectangle 22"/>
          <p:cNvSpPr/>
          <p:nvPr/>
        </p:nvSpPr>
        <p:spPr>
          <a:xfrm>
            <a:off x="7543800" y="4169664"/>
            <a:ext cx="4096512" cy="896112"/>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43800" y="4169664"/>
            <a:ext cx="54864" cy="8961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18120" y="4297680"/>
            <a:ext cx="3657600" cy="228600"/>
          </a:xfrm>
          <a:prstGeom prst="rect">
            <a:avLst/>
          </a:prstGeom>
          <a:noFill/>
        </p:spPr>
        <p:txBody>
          <a:bodyPr wrap="square" lIns="0" rIns="0" tIns="0" bIns="0" anchor="t">
            <a:spAutoFit/>
          </a:bodyPr>
          <a:lstStyle/>
          <a:p>
            <a:pPr algn="l"/>
            <a:r>
              <a:rPr sz="1050" b="1" i="0" spc="200">
                <a:solidFill>
                  <a:srgbClr val="F5F5F7"/>
                </a:solidFill>
                <a:latin typeface="Barlow Condensed"/>
              </a:rPr>
              <a:t>HARD</a:t>
            </a:r>
          </a:p>
        </p:txBody>
      </p:sp>
      <p:sp>
        <p:nvSpPr>
          <p:cNvPr id="26" name="TextBox 25"/>
          <p:cNvSpPr txBox="1"/>
          <p:nvPr/>
        </p:nvSpPr>
        <p:spPr>
          <a:xfrm>
            <a:off x="7818120" y="4517136"/>
            <a:ext cx="1828800" cy="502920"/>
          </a:xfrm>
          <a:prstGeom prst="rect">
            <a:avLst/>
          </a:prstGeom>
          <a:noFill/>
        </p:spPr>
        <p:txBody>
          <a:bodyPr wrap="square" lIns="0" rIns="0" tIns="0" bIns="0" anchor="t">
            <a:spAutoFit/>
          </a:bodyPr>
          <a:lstStyle/>
          <a:p>
            <a:pPr algn="l"/>
            <a:r>
              <a:rPr sz="3000" b="1" i="1">
                <a:solidFill>
                  <a:srgbClr val="F5F5F7"/>
                </a:solidFill>
                <a:latin typeface="Barlow Condensed"/>
              </a:rPr>
              <a:t>+1.59 s</a:t>
            </a:r>
          </a:p>
        </p:txBody>
      </p:sp>
      <p:sp>
        <p:nvSpPr>
          <p:cNvPr id="27" name="TextBox 26"/>
          <p:cNvSpPr txBox="1"/>
          <p:nvPr/>
        </p:nvSpPr>
        <p:spPr>
          <a:xfrm>
            <a:off x="9555480" y="4553712"/>
            <a:ext cx="2011680" cy="457200"/>
          </a:xfrm>
          <a:prstGeom prst="rect">
            <a:avLst/>
          </a:prstGeom>
          <a:noFill/>
        </p:spPr>
        <p:txBody>
          <a:bodyPr wrap="square" lIns="0" rIns="0" tIns="0" bIns="0" anchor="t">
            <a:spAutoFit/>
          </a:bodyPr>
          <a:lstStyle/>
          <a:p>
            <a:pPr algn="l">
              <a:lnSpc>
                <a:spcPct val="100000"/>
              </a:lnSpc>
            </a:pPr>
            <a:r>
              <a:rPr sz="1200" b="0" i="0">
                <a:solidFill>
                  <a:srgbClr val="A9A9B8"/>
                </a:solidFill>
                <a:latin typeface="Barlow"/>
              </a:rPr>
              <a:t>per lap at 30 laps old</a:t>
            </a:r>
          </a:p>
        </p:txBody>
      </p:sp>
      <p:sp>
        <p:nvSpPr>
          <p:cNvPr id="28" name="Rectangle 27"/>
          <p:cNvSpPr/>
          <p:nvPr/>
        </p:nvSpPr>
        <p:spPr>
          <a:xfrm>
            <a:off x="7543800" y="5157216"/>
            <a:ext cx="4096512" cy="896112"/>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43800" y="5157216"/>
            <a:ext cx="54864" cy="896112"/>
          </a:xfrm>
          <a:prstGeom prst="rect">
            <a:avLst/>
          </a:prstGeom>
          <a:solidFill>
            <a:srgbClr val="2BA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18120" y="5285232"/>
            <a:ext cx="3657600" cy="228600"/>
          </a:xfrm>
          <a:prstGeom prst="rect">
            <a:avLst/>
          </a:prstGeom>
          <a:noFill/>
        </p:spPr>
        <p:txBody>
          <a:bodyPr wrap="square" lIns="0" rIns="0" tIns="0" bIns="0" anchor="t">
            <a:spAutoFit/>
          </a:bodyPr>
          <a:lstStyle/>
          <a:p>
            <a:pPr algn="l"/>
            <a:r>
              <a:rPr sz="1050" b="1" i="0" spc="200">
                <a:solidFill>
                  <a:srgbClr val="2BA84A"/>
                </a:solidFill>
                <a:latin typeface="Barlow Condensed"/>
              </a:rPr>
              <a:t>TRAFFIC</a:t>
            </a:r>
          </a:p>
        </p:txBody>
      </p:sp>
      <p:sp>
        <p:nvSpPr>
          <p:cNvPr id="31" name="TextBox 30"/>
          <p:cNvSpPr txBox="1"/>
          <p:nvPr/>
        </p:nvSpPr>
        <p:spPr>
          <a:xfrm>
            <a:off x="7818120" y="5504688"/>
            <a:ext cx="1828800" cy="502920"/>
          </a:xfrm>
          <a:prstGeom prst="rect">
            <a:avLst/>
          </a:prstGeom>
          <a:noFill/>
        </p:spPr>
        <p:txBody>
          <a:bodyPr wrap="square" lIns="0" rIns="0" tIns="0" bIns="0" anchor="t">
            <a:spAutoFit/>
          </a:bodyPr>
          <a:lstStyle/>
          <a:p>
            <a:pPr algn="l"/>
            <a:r>
              <a:rPr sz="3000" b="1" i="1">
                <a:solidFill>
                  <a:srgbClr val="F5F5F7"/>
                </a:solidFill>
                <a:latin typeface="Barlow Condensed"/>
              </a:rPr>
              <a:t>+0.41 s</a:t>
            </a:r>
          </a:p>
        </p:txBody>
      </p:sp>
      <p:sp>
        <p:nvSpPr>
          <p:cNvPr id="32" name="TextBox 31"/>
          <p:cNvSpPr txBox="1"/>
          <p:nvPr/>
        </p:nvSpPr>
        <p:spPr>
          <a:xfrm>
            <a:off x="9555480" y="5541264"/>
            <a:ext cx="2011680" cy="457200"/>
          </a:xfrm>
          <a:prstGeom prst="rect">
            <a:avLst/>
          </a:prstGeom>
          <a:noFill/>
        </p:spPr>
        <p:txBody>
          <a:bodyPr wrap="square" lIns="0" rIns="0" tIns="0" bIns="0" anchor="t">
            <a:spAutoFit/>
          </a:bodyPr>
          <a:lstStyle/>
          <a:p>
            <a:pPr algn="l">
              <a:lnSpc>
                <a:spcPct val="100000"/>
              </a:lnSpc>
            </a:pPr>
            <a:r>
              <a:rPr sz="1200" b="0" i="0">
                <a:solidFill>
                  <a:srgbClr val="A9A9B8"/>
                </a:solidFill>
                <a:latin typeface="Barlow"/>
              </a:rPr>
              <a:t>per lap, within 1 s of a car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WHAT A STOP COSTS</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08</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4876678"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WHAT A STOP COSTS</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22.6 SECONDS. </a:t>
            </a:r>
            <a:r>
              <a:rPr sz="4600" b="1" i="1">
                <a:solidFill>
                  <a:srgbClr val="E10600"/>
                </a:solidFill>
                <a:latin typeface="Barlow Condensed"/>
              </a:rPr>
              <a:t>UNLESS THE SAFETY CAR IS OUT.</a:t>
            </a:r>
          </a:p>
        </p:txBody>
      </p:sp>
      <p:sp>
        <p:nvSpPr>
          <p:cNvPr id="10" name="TextBox 9"/>
          <p:cNvSpPr txBox="1"/>
          <p:nvPr/>
        </p:nvSpPr>
        <p:spPr>
          <a:xfrm>
            <a:off x="548640" y="2075688"/>
            <a:ext cx="2103120" cy="228600"/>
          </a:xfrm>
          <a:prstGeom prst="rect">
            <a:avLst/>
          </a:prstGeom>
          <a:noFill/>
        </p:spPr>
        <p:txBody>
          <a:bodyPr wrap="square" lIns="0" rIns="0" tIns="0" bIns="0" anchor="t">
            <a:spAutoFit/>
          </a:bodyPr>
          <a:lstStyle/>
          <a:p>
            <a:pPr algn="l"/>
            <a:r>
              <a:rPr sz="1300" b="1" i="0" spc="200">
                <a:solidFill>
                  <a:srgbClr val="F5F5F7"/>
                </a:solidFill>
                <a:latin typeface="Barlow Condensed"/>
              </a:rPr>
              <a:t>GREEN FLAG</a:t>
            </a:r>
          </a:p>
        </p:txBody>
      </p:sp>
      <p:sp>
        <p:nvSpPr>
          <p:cNvPr id="11" name="Rectangle 10"/>
          <p:cNvSpPr/>
          <p:nvPr/>
        </p:nvSpPr>
        <p:spPr>
          <a:xfrm>
            <a:off x="2697480" y="1965960"/>
            <a:ext cx="4206240" cy="512064"/>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97480" y="1965960"/>
            <a:ext cx="4206240" cy="512064"/>
          </a:xfrm>
          <a:prstGeom prst="rect">
            <a:avLst/>
          </a:prstGeom>
          <a:solidFill>
            <a:srgbClr val="2BA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15000" y="1965960"/>
            <a:ext cx="1051560" cy="512064"/>
          </a:xfrm>
          <a:prstGeom prst="rect">
            <a:avLst/>
          </a:prstGeom>
          <a:noFill/>
        </p:spPr>
        <p:txBody>
          <a:bodyPr wrap="square" lIns="0" rIns="0" tIns="0" bIns="0" anchor="ctr">
            <a:spAutoFit/>
          </a:bodyPr>
          <a:lstStyle/>
          <a:p>
            <a:pPr algn="r"/>
            <a:r>
              <a:rPr sz="1500" b="1" i="0">
                <a:solidFill>
                  <a:srgbClr val="0B0B10"/>
                </a:solidFill>
                <a:latin typeface="JetBrains Mono"/>
              </a:rPr>
              <a:t>22.6 s</a:t>
            </a:r>
          </a:p>
        </p:txBody>
      </p:sp>
      <p:sp>
        <p:nvSpPr>
          <p:cNvPr id="14" name="TextBox 13"/>
          <p:cNvSpPr txBox="1"/>
          <p:nvPr/>
        </p:nvSpPr>
        <p:spPr>
          <a:xfrm>
            <a:off x="2697480" y="2514600"/>
            <a:ext cx="3657600" cy="274320"/>
          </a:xfrm>
          <a:prstGeom prst="rect">
            <a:avLst/>
          </a:prstGeom>
          <a:noFill/>
        </p:spPr>
        <p:txBody>
          <a:bodyPr wrap="square" lIns="0" rIns="0" tIns="0" bIns="0" anchor="t">
            <a:spAutoFit/>
          </a:bodyPr>
          <a:lstStyle/>
          <a:p>
            <a:pPr algn="l"/>
            <a:r>
              <a:rPr sz="1100" b="0" i="0">
                <a:solidFill>
                  <a:srgbClr val="6E6E7E"/>
                </a:solidFill>
                <a:latin typeface="Barlow"/>
              </a:rPr>
              <a:t>100% of a green stop</a:t>
            </a:r>
          </a:p>
        </p:txBody>
      </p:sp>
      <p:sp>
        <p:nvSpPr>
          <p:cNvPr id="15" name="TextBox 14"/>
          <p:cNvSpPr txBox="1"/>
          <p:nvPr/>
        </p:nvSpPr>
        <p:spPr>
          <a:xfrm>
            <a:off x="548640" y="3008376"/>
            <a:ext cx="2103120" cy="228600"/>
          </a:xfrm>
          <a:prstGeom prst="rect">
            <a:avLst/>
          </a:prstGeom>
          <a:noFill/>
        </p:spPr>
        <p:txBody>
          <a:bodyPr wrap="square" lIns="0" rIns="0" tIns="0" bIns="0" anchor="t">
            <a:spAutoFit/>
          </a:bodyPr>
          <a:lstStyle/>
          <a:p>
            <a:pPr algn="l"/>
            <a:r>
              <a:rPr sz="1300" b="1" i="0" spc="200">
                <a:solidFill>
                  <a:srgbClr val="F5F5F7"/>
                </a:solidFill>
                <a:latin typeface="Barlow Condensed"/>
              </a:rPr>
              <a:t>VIRTUAL SAFETY CAR</a:t>
            </a:r>
          </a:p>
        </p:txBody>
      </p:sp>
      <p:sp>
        <p:nvSpPr>
          <p:cNvPr id="16" name="Rectangle 15"/>
          <p:cNvSpPr/>
          <p:nvPr/>
        </p:nvSpPr>
        <p:spPr>
          <a:xfrm>
            <a:off x="2697480" y="2898648"/>
            <a:ext cx="4206240" cy="512064"/>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97480" y="2898648"/>
            <a:ext cx="2464856" cy="512064"/>
          </a:xfrm>
          <a:prstGeom prst="rect">
            <a:avLst/>
          </a:prstGeom>
          <a:solidFill>
            <a:srgbClr val="FFD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99496" y="2898648"/>
            <a:ext cx="1097280" cy="512064"/>
          </a:xfrm>
          <a:prstGeom prst="rect">
            <a:avLst/>
          </a:prstGeom>
          <a:noFill/>
        </p:spPr>
        <p:txBody>
          <a:bodyPr wrap="square" lIns="0" rIns="0" tIns="0" bIns="0" anchor="ctr">
            <a:spAutoFit/>
          </a:bodyPr>
          <a:lstStyle/>
          <a:p>
            <a:pPr algn="l"/>
            <a:r>
              <a:rPr sz="1500" b="1" i="0">
                <a:solidFill>
                  <a:srgbClr val="F5F5F7"/>
                </a:solidFill>
                <a:latin typeface="JetBrains Mono"/>
              </a:rPr>
              <a:t>13.3 s</a:t>
            </a:r>
          </a:p>
        </p:txBody>
      </p:sp>
      <p:sp>
        <p:nvSpPr>
          <p:cNvPr id="19" name="TextBox 18"/>
          <p:cNvSpPr txBox="1"/>
          <p:nvPr/>
        </p:nvSpPr>
        <p:spPr>
          <a:xfrm>
            <a:off x="2697480" y="3447288"/>
            <a:ext cx="3657600" cy="274320"/>
          </a:xfrm>
          <a:prstGeom prst="rect">
            <a:avLst/>
          </a:prstGeom>
          <a:noFill/>
        </p:spPr>
        <p:txBody>
          <a:bodyPr wrap="square" lIns="0" rIns="0" tIns="0" bIns="0" anchor="t">
            <a:spAutoFit/>
          </a:bodyPr>
          <a:lstStyle/>
          <a:p>
            <a:pPr algn="l"/>
            <a:r>
              <a:rPr sz="1100" b="0" i="0">
                <a:solidFill>
                  <a:srgbClr val="6E6E7E"/>
                </a:solidFill>
                <a:latin typeface="Barlow"/>
              </a:rPr>
              <a:t>59% of a green stop</a:t>
            </a:r>
          </a:p>
        </p:txBody>
      </p:sp>
      <p:sp>
        <p:nvSpPr>
          <p:cNvPr id="20" name="TextBox 19"/>
          <p:cNvSpPr txBox="1"/>
          <p:nvPr/>
        </p:nvSpPr>
        <p:spPr>
          <a:xfrm>
            <a:off x="548640" y="3941063"/>
            <a:ext cx="2103120" cy="228600"/>
          </a:xfrm>
          <a:prstGeom prst="rect">
            <a:avLst/>
          </a:prstGeom>
          <a:noFill/>
        </p:spPr>
        <p:txBody>
          <a:bodyPr wrap="square" lIns="0" rIns="0" tIns="0" bIns="0" anchor="t">
            <a:spAutoFit/>
          </a:bodyPr>
          <a:lstStyle/>
          <a:p>
            <a:pPr algn="l"/>
            <a:r>
              <a:rPr sz="1300" b="1" i="0" spc="200">
                <a:solidFill>
                  <a:srgbClr val="F5F5F7"/>
                </a:solidFill>
                <a:latin typeface="Barlow Condensed"/>
              </a:rPr>
              <a:t>SAFETY CAR</a:t>
            </a:r>
          </a:p>
        </p:txBody>
      </p:sp>
      <p:sp>
        <p:nvSpPr>
          <p:cNvPr id="21" name="Rectangle 20"/>
          <p:cNvSpPr/>
          <p:nvPr/>
        </p:nvSpPr>
        <p:spPr>
          <a:xfrm>
            <a:off x="2697480" y="3831335"/>
            <a:ext cx="4206240" cy="512064"/>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697480" y="3831335"/>
            <a:ext cx="361736" cy="512064"/>
          </a:xfrm>
          <a:prstGeom prst="rect">
            <a:avLst/>
          </a:prstGeom>
          <a:solidFill>
            <a:srgbClr val="FFD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96376" y="3831335"/>
            <a:ext cx="1097280" cy="512064"/>
          </a:xfrm>
          <a:prstGeom prst="rect">
            <a:avLst/>
          </a:prstGeom>
          <a:noFill/>
        </p:spPr>
        <p:txBody>
          <a:bodyPr wrap="square" lIns="0" rIns="0" tIns="0" bIns="0" anchor="ctr">
            <a:spAutoFit/>
          </a:bodyPr>
          <a:lstStyle/>
          <a:p>
            <a:pPr algn="l"/>
            <a:r>
              <a:rPr sz="1500" b="1" i="0">
                <a:solidFill>
                  <a:srgbClr val="F5F5F7"/>
                </a:solidFill>
                <a:latin typeface="JetBrains Mono"/>
              </a:rPr>
              <a:t>1.9 s</a:t>
            </a:r>
          </a:p>
        </p:txBody>
      </p:sp>
      <p:sp>
        <p:nvSpPr>
          <p:cNvPr id="24" name="TextBox 23"/>
          <p:cNvSpPr txBox="1"/>
          <p:nvPr/>
        </p:nvSpPr>
        <p:spPr>
          <a:xfrm>
            <a:off x="2697480" y="4379975"/>
            <a:ext cx="3657600" cy="274320"/>
          </a:xfrm>
          <a:prstGeom prst="rect">
            <a:avLst/>
          </a:prstGeom>
          <a:noFill/>
        </p:spPr>
        <p:txBody>
          <a:bodyPr wrap="square" lIns="0" rIns="0" tIns="0" bIns="0" anchor="t">
            <a:spAutoFit/>
          </a:bodyPr>
          <a:lstStyle/>
          <a:p>
            <a:pPr algn="l"/>
            <a:r>
              <a:rPr sz="1100" b="0" i="0">
                <a:solidFill>
                  <a:srgbClr val="6E6E7E"/>
                </a:solidFill>
                <a:latin typeface="Barlow"/>
              </a:rPr>
              <a:t>9% of a green stop</a:t>
            </a:r>
          </a:p>
        </p:txBody>
      </p:sp>
      <p:sp>
        <p:nvSpPr>
          <p:cNvPr id="25" name="Rectangle 24"/>
          <p:cNvSpPr/>
          <p:nvPr/>
        </p:nvSpPr>
        <p:spPr>
          <a:xfrm>
            <a:off x="2697480" y="3831335"/>
            <a:ext cx="2103120" cy="512064"/>
          </a:xfrm>
          <a:prstGeom prst="rect">
            <a:avLst/>
          </a:prstGeom>
          <a:noFill/>
          <a:ln w="15875">
            <a:solidFill>
              <a:srgbClr val="F5F5F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9160" y="4379975"/>
            <a:ext cx="2286000" cy="274320"/>
          </a:xfrm>
          <a:prstGeom prst="rect">
            <a:avLst/>
          </a:prstGeom>
          <a:noFill/>
        </p:spPr>
        <p:txBody>
          <a:bodyPr wrap="square" lIns="0" rIns="0" tIns="0" bIns="0" anchor="t">
            <a:spAutoFit/>
          </a:bodyPr>
          <a:lstStyle/>
          <a:p>
            <a:pPr algn="l"/>
            <a:r>
              <a:rPr sz="1100" b="0" i="0">
                <a:solidFill>
                  <a:srgbClr val="F5F5F7"/>
                </a:solidFill>
                <a:latin typeface="Barlow"/>
              </a:rPr>
              <a:t>↑ how teams treat it: about 50%</a:t>
            </a:r>
          </a:p>
        </p:txBody>
      </p:sp>
      <p:sp>
        <p:nvSpPr>
          <p:cNvPr id="27" name="Rectangle 26"/>
          <p:cNvSpPr/>
          <p:nvPr/>
        </p:nvSpPr>
        <p:spPr>
          <a:xfrm>
            <a:off x="548640" y="4983480"/>
            <a:ext cx="6355080" cy="10972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74920"/>
            <a:ext cx="5943600" cy="914400"/>
          </a:xfrm>
          <a:prstGeom prst="rect">
            <a:avLst/>
          </a:prstGeom>
          <a:noFill/>
        </p:spPr>
        <p:txBody>
          <a:bodyPr wrap="square" lIns="0" rIns="0" tIns="0" bIns="0" anchor="t">
            <a:spAutoFit/>
          </a:bodyPr>
          <a:lstStyle/>
          <a:p>
            <a:pPr algn="l">
              <a:lnSpc>
                <a:spcPct val="110000"/>
              </a:lnSpc>
              <a:spcAft>
                <a:spcPts val="400"/>
              </a:spcAft>
            </a:pPr>
            <a:r>
              <a:rPr sz="1250" b="1" i="0">
                <a:solidFill>
                  <a:srgbClr val="F5F5F7"/>
                </a:solidFill>
                <a:latin typeface="Barlow"/>
              </a:rPr>
              <a:t>Green: </a:t>
            </a:r>
            <a:r>
              <a:rPr sz="1250" b="0" i="0">
                <a:solidFill>
                  <a:srgbClr val="A9A9B8"/>
                </a:solidFill>
                <a:latin typeface="Barlow"/>
              </a:rPr>
              <a:t>in-lap + out-lap minus the two laps the model expected. 1.53 s error per stop vs 2.16 s for a fixed 22 s (465 stops).</a:t>
            </a:r>
          </a:p>
          <a:p>
            <a:pPr algn="l">
              <a:lnSpc>
                <a:spcPct val="110000"/>
              </a:lnSpc>
              <a:spcAft>
                <a:spcPts val="400"/>
              </a:spcAft>
            </a:pPr>
            <a:r>
              <a:rPr sz="1250" b="1" i="0">
                <a:solidFill>
                  <a:srgbClr val="F5F5F7"/>
                </a:solidFill>
                <a:latin typeface="Barlow"/>
              </a:rPr>
              <a:t>Safety Car: </a:t>
            </a:r>
            <a:r>
              <a:rPr sz="1250" b="0" i="0">
                <a:solidFill>
                  <a:srgbClr val="A9A9B8"/>
                </a:solidFill>
                <a:latin typeface="Barlow"/>
              </a:rPr>
              <a:t>gap to the leader three laps later, against cars that did not stop.</a:t>
            </a:r>
          </a:p>
        </p:txBody>
      </p:sp>
      <p:sp>
        <p:nvSpPr>
          <p:cNvPr id="29" name="Rectangle 28"/>
          <p:cNvSpPr/>
          <p:nvPr/>
        </p:nvSpPr>
        <p:spPr>
          <a:xfrm>
            <a:off x="7269480" y="1965960"/>
            <a:ext cx="4370832" cy="411480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43800" y="219456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SAFETY CAR RISK · PER-CIRCUIT MARKOV CHAIN</a:t>
            </a:r>
          </a:p>
        </p:txBody>
      </p:sp>
      <p:sp>
        <p:nvSpPr>
          <p:cNvPr id="31" name="Oval 30"/>
          <p:cNvSpPr/>
          <p:nvPr/>
        </p:nvSpPr>
        <p:spPr>
          <a:xfrm>
            <a:off x="8974836" y="2811779"/>
            <a:ext cx="960120" cy="960120"/>
          </a:xfrm>
          <a:prstGeom prst="ellipse">
            <a:avLst/>
          </a:prstGeom>
          <a:solidFill>
            <a:srgbClr val="1C1C27"/>
          </a:solidFill>
          <a:ln w="19050">
            <a:solidFill>
              <a:srgbClr val="2B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97696" y="3108959"/>
            <a:ext cx="914400" cy="365760"/>
          </a:xfrm>
          <a:prstGeom prst="rect">
            <a:avLst/>
          </a:prstGeom>
          <a:noFill/>
        </p:spPr>
        <p:txBody>
          <a:bodyPr wrap="square" lIns="0" rIns="0" tIns="0" bIns="0" anchor="ctr">
            <a:spAutoFit/>
          </a:bodyPr>
          <a:lstStyle/>
          <a:p>
            <a:pPr algn="ctr"/>
            <a:r>
              <a:rPr sz="1700" b="1" i="1">
                <a:solidFill>
                  <a:srgbClr val="F5F5F7"/>
                </a:solidFill>
                <a:latin typeface="Barlow Condensed"/>
              </a:rPr>
              <a:t>GREEN</a:t>
            </a:r>
          </a:p>
        </p:txBody>
      </p:sp>
      <p:sp>
        <p:nvSpPr>
          <p:cNvPr id="33" name="Oval 32"/>
          <p:cNvSpPr/>
          <p:nvPr/>
        </p:nvSpPr>
        <p:spPr>
          <a:xfrm>
            <a:off x="7795260" y="4549140"/>
            <a:ext cx="960120" cy="960120"/>
          </a:xfrm>
          <a:prstGeom prst="ellipse">
            <a:avLst/>
          </a:prstGeom>
          <a:solidFill>
            <a:srgbClr val="1C1C27"/>
          </a:solidFill>
          <a:ln w="19050">
            <a:solidFill>
              <a:srgbClr val="FFD1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18120" y="4846320"/>
            <a:ext cx="914400" cy="365760"/>
          </a:xfrm>
          <a:prstGeom prst="rect">
            <a:avLst/>
          </a:prstGeom>
          <a:noFill/>
        </p:spPr>
        <p:txBody>
          <a:bodyPr wrap="square" lIns="0" rIns="0" tIns="0" bIns="0" anchor="ctr">
            <a:spAutoFit/>
          </a:bodyPr>
          <a:lstStyle/>
          <a:p>
            <a:pPr algn="ctr"/>
            <a:r>
              <a:rPr sz="1700" b="1" i="1">
                <a:solidFill>
                  <a:srgbClr val="F5F5F7"/>
                </a:solidFill>
                <a:latin typeface="Barlow Condensed"/>
              </a:rPr>
              <a:t>SC</a:t>
            </a:r>
          </a:p>
        </p:txBody>
      </p:sp>
      <p:sp>
        <p:nvSpPr>
          <p:cNvPr id="35" name="Oval 34"/>
          <p:cNvSpPr/>
          <p:nvPr/>
        </p:nvSpPr>
        <p:spPr>
          <a:xfrm>
            <a:off x="10154412" y="4549140"/>
            <a:ext cx="960120" cy="960120"/>
          </a:xfrm>
          <a:prstGeom prst="ellipse">
            <a:avLst/>
          </a:prstGeom>
          <a:solidFill>
            <a:srgbClr val="1C1C27"/>
          </a:solidFill>
          <a:ln w="19050">
            <a:solidFill>
              <a:srgbClr val="FFD1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77272" y="4846320"/>
            <a:ext cx="914400" cy="365760"/>
          </a:xfrm>
          <a:prstGeom prst="rect">
            <a:avLst/>
          </a:prstGeom>
          <a:noFill/>
        </p:spPr>
        <p:txBody>
          <a:bodyPr wrap="square" lIns="0" rIns="0" tIns="0" bIns="0" anchor="ctr">
            <a:spAutoFit/>
          </a:bodyPr>
          <a:lstStyle/>
          <a:p>
            <a:pPr algn="ctr"/>
            <a:r>
              <a:rPr sz="1700" b="1" i="1">
                <a:solidFill>
                  <a:srgbClr val="F5F5F7"/>
                </a:solidFill>
                <a:latin typeface="Barlow Condensed"/>
              </a:rPr>
              <a:t>VSC</a:t>
            </a:r>
          </a:p>
        </p:txBody>
      </p:sp>
      <p:cxnSp>
        <p:nvCxnSpPr>
          <p:cNvPr id="37" name="Connector 36"/>
          <p:cNvCxnSpPr/>
          <p:nvPr/>
        </p:nvCxnSpPr>
        <p:spPr>
          <a:xfrm flipH="1">
            <a:off x="8549640" y="3703320"/>
            <a:ext cx="548640" cy="868680"/>
          </a:xfrm>
          <a:prstGeom prst="line">
            <a:avLst/>
          </a:prstGeom>
          <a:ln w="15875">
            <a:solidFill>
              <a:srgbClr val="A9A9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811512" y="3703320"/>
            <a:ext cx="548640" cy="868680"/>
          </a:xfrm>
          <a:prstGeom prst="line">
            <a:avLst/>
          </a:prstGeom>
          <a:ln w="15875">
            <a:solidFill>
              <a:srgbClr val="A9A9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406640" y="3657600"/>
            <a:ext cx="1234440" cy="548640"/>
          </a:xfrm>
          <a:prstGeom prst="rect">
            <a:avLst/>
          </a:prstGeom>
          <a:noFill/>
        </p:spPr>
        <p:txBody>
          <a:bodyPr wrap="square" lIns="0" rIns="0" tIns="0" bIns="0" anchor="t">
            <a:spAutoFit/>
          </a:bodyPr>
          <a:lstStyle/>
          <a:p>
            <a:pPr algn="r"/>
            <a:r>
              <a:rPr sz="1100" b="0" i="0">
                <a:solidFill>
                  <a:srgbClr val="A9A9B8"/>
                </a:solidFill>
                <a:latin typeface="JetBrains Mono"/>
              </a:rPr>
              <a:t>1.2% per lap</a:t>
            </a:r>
          </a:p>
          <a:p>
            <a:pPr algn="r"/>
            <a:r>
              <a:rPr sz="1100" b="0" i="0">
                <a:solidFill>
                  <a:srgbClr val="A9A9B8"/>
                </a:solidFill>
                <a:latin typeface="JetBrains Mono"/>
              </a:rPr>
              <a:t>mean 4.1 laps</a:t>
            </a:r>
          </a:p>
        </p:txBody>
      </p:sp>
      <p:sp>
        <p:nvSpPr>
          <p:cNvPr id="40" name="TextBox 39"/>
          <p:cNvSpPr txBox="1"/>
          <p:nvPr/>
        </p:nvSpPr>
        <p:spPr>
          <a:xfrm>
            <a:off x="10287000" y="3657600"/>
            <a:ext cx="1325880" cy="548640"/>
          </a:xfrm>
          <a:prstGeom prst="rect">
            <a:avLst/>
          </a:prstGeom>
          <a:noFill/>
        </p:spPr>
        <p:txBody>
          <a:bodyPr wrap="square" lIns="0" rIns="0" tIns="0" bIns="0" anchor="t">
            <a:spAutoFit/>
          </a:bodyPr>
          <a:lstStyle/>
          <a:p>
            <a:pPr algn="l"/>
            <a:r>
              <a:rPr sz="1100" b="0" i="0">
                <a:solidFill>
                  <a:srgbClr val="A9A9B8"/>
                </a:solidFill>
                <a:latin typeface="JetBrains Mono"/>
              </a:rPr>
              <a:t>0.95% per lap</a:t>
            </a:r>
          </a:p>
          <a:p>
            <a:pPr algn="l"/>
            <a:r>
              <a:rPr sz="1100" b="0" i="0">
                <a:solidFill>
                  <a:srgbClr val="A9A9B8"/>
                </a:solidFill>
                <a:latin typeface="JetBrains Mono"/>
              </a:rPr>
              <a:t>mean 2.1 laps</a:t>
            </a:r>
          </a:p>
        </p:txBody>
      </p:sp>
      <p:sp>
        <p:nvSpPr>
          <p:cNvPr id="41" name="TextBox 40"/>
          <p:cNvSpPr txBox="1"/>
          <p:nvPr/>
        </p:nvSpPr>
        <p:spPr>
          <a:xfrm>
            <a:off x="7543800" y="5669279"/>
            <a:ext cx="3840480" cy="320040"/>
          </a:xfrm>
          <a:prstGeom prst="rect">
            <a:avLst/>
          </a:prstGeom>
          <a:noFill/>
        </p:spPr>
        <p:txBody>
          <a:bodyPr wrap="square" lIns="0" rIns="0" tIns="0" bIns="0" anchor="t">
            <a:spAutoFit/>
          </a:bodyPr>
          <a:lstStyle/>
          <a:p>
            <a:pPr algn="l"/>
            <a:r>
              <a:rPr sz="1100" b="0" i="0">
                <a:solidFill>
                  <a:srgbClr val="6E6E7E"/>
                </a:solidFill>
                <a:latin typeface="Barlow"/>
              </a:rPr>
              <a:t>Shrunk toward the global rate with a 200-lap prior.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THE CALL</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09</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5486262"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THE CALL</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SOLVE THE REST OF THE RACE </a:t>
            </a:r>
            <a:r>
              <a:rPr sz="4600" b="1" i="1">
                <a:solidFill>
                  <a:srgbClr val="E10600"/>
                </a:solidFill>
                <a:latin typeface="Barlow Condensed"/>
              </a:rPr>
              <a:t>BACKWARDS.</a:t>
            </a:r>
          </a:p>
        </p:txBody>
      </p:sp>
      <p:sp>
        <p:nvSpPr>
          <p:cNvPr id="10" name="Rectangle 9"/>
          <p:cNvSpPr/>
          <p:nvPr/>
        </p:nvSpPr>
        <p:spPr>
          <a:xfrm>
            <a:off x="548640" y="1828800"/>
            <a:ext cx="5943600" cy="777240"/>
          </a:xfrm>
          <a:prstGeom prst="rect">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28800"/>
            <a:ext cx="5577840" cy="777240"/>
          </a:xfrm>
          <a:prstGeom prst="rect">
            <a:avLst/>
          </a:prstGeom>
          <a:noFill/>
        </p:spPr>
        <p:txBody>
          <a:bodyPr wrap="square" lIns="0" rIns="0" tIns="0" bIns="0" anchor="ctr">
            <a:spAutoFit/>
          </a:bodyPr>
          <a:lstStyle/>
          <a:p>
            <a:pPr algn="l"/>
            <a:r>
              <a:rPr sz="1500" b="1" i="0">
                <a:solidFill>
                  <a:srgbClr val="E10600"/>
                </a:solidFill>
                <a:latin typeface="Barlow Condensed"/>
              </a:rPr>
              <a:t>STATE  </a:t>
            </a:r>
            <a:r>
              <a:rPr sz="1350" b="0" i="0">
                <a:solidFill>
                  <a:srgbClr val="F5F5F7"/>
                </a:solidFill>
                <a:latin typeface="JetBrains Mono"/>
              </a:rPr>
              <a:t>lap 15 · soft · 14 laps old · green</a:t>
            </a:r>
          </a:p>
        </p:txBody>
      </p:sp>
      <p:sp>
        <p:nvSpPr>
          <p:cNvPr id="12" name="Rectangle 11"/>
          <p:cNvSpPr/>
          <p:nvPr/>
        </p:nvSpPr>
        <p:spPr>
          <a:xfrm>
            <a:off x="548640" y="2926080"/>
            <a:ext cx="2907792" cy="123444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17520"/>
            <a:ext cx="2560320" cy="411480"/>
          </a:xfrm>
          <a:prstGeom prst="rect">
            <a:avLst/>
          </a:prstGeom>
          <a:noFill/>
        </p:spPr>
        <p:txBody>
          <a:bodyPr wrap="square" lIns="0" rIns="0" tIns="0" bIns="0" anchor="t">
            <a:spAutoFit/>
          </a:bodyPr>
          <a:lstStyle/>
          <a:p>
            <a:pPr algn="l"/>
            <a:r>
              <a:rPr sz="2200" b="1" i="1">
                <a:solidFill>
                  <a:srgbClr val="F5F5F7"/>
                </a:solidFill>
                <a:latin typeface="Barlow Condensed"/>
              </a:rPr>
              <a:t>STAY OUT</a:t>
            </a:r>
          </a:p>
        </p:txBody>
      </p:sp>
      <p:sp>
        <p:nvSpPr>
          <p:cNvPr id="14" name="TextBox 13"/>
          <p:cNvSpPr txBox="1"/>
          <p:nvPr/>
        </p:nvSpPr>
        <p:spPr>
          <a:xfrm>
            <a:off x="777240" y="3456432"/>
            <a:ext cx="2560320" cy="640080"/>
          </a:xfrm>
          <a:prstGeom prst="rect">
            <a:avLst/>
          </a:prstGeom>
          <a:noFill/>
        </p:spPr>
        <p:txBody>
          <a:bodyPr wrap="square" lIns="0" rIns="0" tIns="0" bIns="0" anchor="t">
            <a:spAutoFit/>
          </a:bodyPr>
          <a:lstStyle/>
          <a:p>
            <a:pPr algn="l">
              <a:lnSpc>
                <a:spcPct val="110000"/>
              </a:lnSpc>
            </a:pPr>
            <a:r>
              <a:rPr sz="1200" b="0" i="0">
                <a:solidFill>
                  <a:srgbClr val="A9A9B8"/>
                </a:solidFill>
                <a:latin typeface="JetBrains Mono"/>
              </a:rPr>
              <a:t>lap on worn tyres</a:t>
            </a:r>
          </a:p>
          <a:p>
            <a:pPr algn="l">
              <a:lnSpc>
                <a:spcPct val="110000"/>
              </a:lnSpc>
            </a:pPr>
            <a:r>
              <a:rPr sz="1200" b="0" i="0">
                <a:solidFill>
                  <a:srgbClr val="A9A9B8"/>
                </a:solidFill>
                <a:latin typeface="JetBrains Mono"/>
              </a:rPr>
              <a:t>+ best future from age + 1</a:t>
            </a:r>
          </a:p>
        </p:txBody>
      </p:sp>
      <p:sp>
        <p:nvSpPr>
          <p:cNvPr id="15" name="Rectangle 14"/>
          <p:cNvSpPr/>
          <p:nvPr/>
        </p:nvSpPr>
        <p:spPr>
          <a:xfrm>
            <a:off x="3584448" y="2926080"/>
            <a:ext cx="2907792" cy="1234440"/>
          </a:xfrm>
          <a:prstGeom prst="rect">
            <a:avLst/>
          </a:prstGeom>
          <a:solidFill>
            <a:srgbClr val="15151E"/>
          </a:solidFill>
          <a:ln w="15875">
            <a:solidFill>
              <a:srgbClr val="E10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13048" y="3017520"/>
            <a:ext cx="2560320" cy="411480"/>
          </a:xfrm>
          <a:prstGeom prst="rect">
            <a:avLst/>
          </a:prstGeom>
          <a:noFill/>
        </p:spPr>
        <p:txBody>
          <a:bodyPr wrap="square" lIns="0" rIns="0" tIns="0" bIns="0" anchor="t">
            <a:spAutoFit/>
          </a:bodyPr>
          <a:lstStyle/>
          <a:p>
            <a:pPr algn="l"/>
            <a:r>
              <a:rPr sz="2200" b="1" i="1">
                <a:solidFill>
                  <a:srgbClr val="E10600"/>
                </a:solidFill>
                <a:latin typeface="Barlow Condensed"/>
              </a:rPr>
              <a:t>BOX</a:t>
            </a:r>
          </a:p>
        </p:txBody>
      </p:sp>
      <p:sp>
        <p:nvSpPr>
          <p:cNvPr id="17" name="TextBox 16"/>
          <p:cNvSpPr txBox="1"/>
          <p:nvPr/>
        </p:nvSpPr>
        <p:spPr>
          <a:xfrm>
            <a:off x="3813048" y="3456432"/>
            <a:ext cx="2560320" cy="640080"/>
          </a:xfrm>
          <a:prstGeom prst="rect">
            <a:avLst/>
          </a:prstGeom>
          <a:noFill/>
        </p:spPr>
        <p:txBody>
          <a:bodyPr wrap="square" lIns="0" rIns="0" tIns="0" bIns="0" anchor="t">
            <a:spAutoFit/>
          </a:bodyPr>
          <a:lstStyle/>
          <a:p>
            <a:pPr algn="l">
              <a:lnSpc>
                <a:spcPct val="110000"/>
              </a:lnSpc>
            </a:pPr>
            <a:r>
              <a:rPr sz="1200" b="0" i="0">
                <a:solidFill>
                  <a:srgbClr val="A9A9B8"/>
                </a:solidFill>
                <a:latin typeface="JetBrains Mono"/>
              </a:rPr>
              <a:t>lap + pit loss(status)</a:t>
            </a:r>
          </a:p>
          <a:p>
            <a:pPr algn="l">
              <a:lnSpc>
                <a:spcPct val="110000"/>
              </a:lnSpc>
            </a:pPr>
            <a:r>
              <a:rPr sz="1200" b="0" i="0">
                <a:solidFill>
                  <a:srgbClr val="A9A9B8"/>
                </a:solidFill>
                <a:latin typeface="JetBrains Mono"/>
              </a:rPr>
              <a:t>+ best future on a fresh set</a:t>
            </a:r>
          </a:p>
        </p:txBody>
      </p:sp>
      <p:cxnSp>
        <p:nvCxnSpPr>
          <p:cNvPr id="18" name="Connector 17"/>
          <p:cNvCxnSpPr/>
          <p:nvPr/>
        </p:nvCxnSpPr>
        <p:spPr>
          <a:xfrm>
            <a:off x="2011680" y="2606040"/>
            <a:ext cx="0" cy="320040"/>
          </a:xfrm>
          <a:prstGeom prst="line">
            <a:avLst/>
          </a:prstGeom>
          <a:ln w="15875">
            <a:solidFill>
              <a:srgbClr val="6E6E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029200" y="2606040"/>
            <a:ext cx="0" cy="320040"/>
          </a:xfrm>
          <a:prstGeom prst="line">
            <a:avLst/>
          </a:prstGeom>
          <a:ln w="15875">
            <a:solidFill>
              <a:srgbClr val="6E6E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11680" y="4160520"/>
            <a:ext cx="0" cy="320040"/>
          </a:xfrm>
          <a:prstGeom prst="line">
            <a:avLst/>
          </a:prstGeom>
          <a:ln w="15875">
            <a:solidFill>
              <a:srgbClr val="6E6E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29200" y="4160520"/>
            <a:ext cx="0" cy="320040"/>
          </a:xfrm>
          <a:prstGeom prst="line">
            <a:avLst/>
          </a:prstGeom>
          <a:ln w="15875">
            <a:solidFill>
              <a:srgbClr val="6E6E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48640" y="4480560"/>
            <a:ext cx="5943600" cy="640080"/>
          </a:xfrm>
          <a:prstGeom prst="rect">
            <a:avLst/>
          </a:prstGeom>
          <a:solidFill>
            <a:srgbClr val="1A0D0F"/>
          </a:solidFill>
          <a:ln w="9525">
            <a:solidFill>
              <a:srgbClr val="E10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480560"/>
            <a:ext cx="5577840" cy="640080"/>
          </a:xfrm>
          <a:prstGeom prst="rect">
            <a:avLst/>
          </a:prstGeom>
          <a:noFill/>
        </p:spPr>
        <p:txBody>
          <a:bodyPr wrap="square" lIns="0" rIns="0" tIns="0" bIns="0" anchor="ctr">
            <a:spAutoFit/>
          </a:bodyPr>
          <a:lstStyle/>
          <a:p>
            <a:pPr algn="l"/>
            <a:r>
              <a:rPr sz="1500" b="1" i="0">
                <a:solidFill>
                  <a:srgbClr val="E10600"/>
                </a:solidFill>
                <a:latin typeface="Barlow Condensed"/>
              </a:rPr>
              <a:t>CALL  </a:t>
            </a:r>
            <a:r>
              <a:rPr sz="1350" b="0" i="0">
                <a:solidFill>
                  <a:srgbClr val="F5F5F7"/>
                </a:solidFill>
                <a:latin typeface="JetBrains Mono"/>
              </a:rPr>
              <a:t>the cheaper branch · then 30 refits vote</a:t>
            </a:r>
          </a:p>
        </p:txBody>
      </p:sp>
      <p:sp>
        <p:nvSpPr>
          <p:cNvPr id="24" name="TextBox 23"/>
          <p:cNvSpPr txBox="1"/>
          <p:nvPr/>
        </p:nvSpPr>
        <p:spPr>
          <a:xfrm>
            <a:off x="548640" y="5303520"/>
            <a:ext cx="5943600" cy="822960"/>
          </a:xfrm>
          <a:prstGeom prst="rect">
            <a:avLst/>
          </a:prstGeom>
          <a:noFill/>
        </p:spPr>
        <p:txBody>
          <a:bodyPr wrap="square" lIns="0" rIns="0" tIns="0" bIns="0" anchor="t">
            <a:spAutoFit/>
          </a:bodyPr>
          <a:lstStyle/>
          <a:p>
            <a:pPr algn="l">
              <a:lnSpc>
                <a:spcPct val="110000"/>
              </a:lnSpc>
            </a:pPr>
            <a:r>
              <a:rPr sz="1200" b="0" i="0">
                <a:solidFill>
                  <a:srgbClr val="6E6E7E"/>
                </a:solidFill>
                <a:latin typeface="Barlow"/>
              </a:rPr>
              <a:t>Safety Car states follow the circuit's chain, so staying out for a cheap stop has value. No finish without two compounds. Past the 95th-percentile stint, a cliff penalty instead of extrapolation.</a:t>
            </a:r>
          </a:p>
        </p:txBody>
      </p:sp>
      <p:pic>
        <p:nvPicPr>
          <p:cNvPr id="25" name="Picture 24" descr="garage.jpg"/>
          <p:cNvPicPr>
            <a:picLocks noChangeAspect="1"/>
          </p:cNvPicPr>
          <p:nvPr/>
        </p:nvPicPr>
        <p:blipFill>
          <a:blip r:embed="rId4"/>
          <a:srcRect t="47" b="47"/>
          <a:stretch>
            <a:fillRect/>
          </a:stretch>
        </p:blipFill>
        <p:spPr>
          <a:xfrm>
            <a:off x="6812280" y="1828800"/>
            <a:ext cx="4828032" cy="1929384"/>
          </a:xfrm>
          <a:prstGeom prst="rect">
            <a:avLst/>
          </a:prstGeom>
          <a:ln w="9525">
            <a:solidFill>
              <a:srgbClr val="2A2A36"/>
            </a:solidFill>
          </a:ln>
        </p:spPr>
      </p:pic>
      <p:pic>
        <p:nvPicPr>
          <p:cNvPr id="26" name="Picture 25" descr="call.jpg"/>
          <p:cNvPicPr>
            <a:picLocks noChangeAspect="1"/>
          </p:cNvPicPr>
          <p:nvPr/>
        </p:nvPicPr>
        <p:blipFill>
          <a:blip r:embed="rId5"/>
          <a:srcRect l="49" r="49"/>
          <a:stretch>
            <a:fillRect/>
          </a:stretch>
        </p:blipFill>
        <p:spPr>
          <a:xfrm>
            <a:off x="6812280" y="3840480"/>
            <a:ext cx="4828032" cy="1124712"/>
          </a:xfrm>
          <a:prstGeom prst="rect">
            <a:avLst/>
          </a:prstGeom>
          <a:ln w="9525">
            <a:solidFill>
              <a:srgbClr val="2A2A36"/>
            </a:solidFill>
          </a:ln>
        </p:spPr>
      </p:pic>
      <p:sp>
        <p:nvSpPr>
          <p:cNvPr id="27" name="TextBox 26"/>
          <p:cNvSpPr txBox="1"/>
          <p:nvPr/>
        </p:nvSpPr>
        <p:spPr>
          <a:xfrm>
            <a:off x="6812280" y="5120640"/>
            <a:ext cx="4828032" cy="914400"/>
          </a:xfrm>
          <a:prstGeom prst="rect">
            <a:avLst/>
          </a:prstGeom>
          <a:noFill/>
        </p:spPr>
        <p:txBody>
          <a:bodyPr wrap="square" lIns="0" rIns="0" tIns="0" bIns="0" anchor="t">
            <a:spAutoFit/>
          </a:bodyPr>
          <a:lstStyle/>
          <a:p>
            <a:pPr algn="l">
              <a:lnSpc>
                <a:spcPct val="110000"/>
              </a:lnSpc>
            </a:pPr>
            <a:r>
              <a:rPr sz="1200" b="0" i="0">
                <a:solidFill>
                  <a:srgbClr val="6E6E7E"/>
                </a:solidFill>
                <a:latin typeface="Barlow"/>
              </a:rPr>
              <a:t>The Pit Wall view: the call as team radio, 30-model agreement, the time it is worth. The browser runs a line-for-line port of the optimiser, tested against Python.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RESULTS</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10</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6095847"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RESULTS  ·  2025, NEVER SEEN IN FITTING</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45% LESS ERROR </a:t>
            </a:r>
            <a:r>
              <a:rPr sz="4600" b="1" i="1">
                <a:solidFill>
                  <a:srgbClr val="E10600"/>
                </a:solidFill>
                <a:latin typeface="Barlow Condensed"/>
              </a:rPr>
              <a:t>THAN THE OBVIOUS GUESS.</a:t>
            </a:r>
          </a:p>
        </p:txBody>
      </p:sp>
      <p:sp>
        <p:nvSpPr>
          <p:cNvPr id="10" name="Rectangle 9"/>
          <p:cNvSpPr/>
          <p:nvPr/>
        </p:nvSpPr>
        <p:spPr>
          <a:xfrm>
            <a:off x="548640" y="1783080"/>
            <a:ext cx="6400800" cy="42976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65960"/>
            <a:ext cx="5943600" cy="228600"/>
          </a:xfrm>
          <a:prstGeom prst="rect">
            <a:avLst/>
          </a:prstGeom>
          <a:noFill/>
        </p:spPr>
        <p:txBody>
          <a:bodyPr wrap="square" lIns="0" rIns="0" tIns="0" bIns="0" anchor="t">
            <a:spAutoFit/>
          </a:bodyPr>
          <a:lstStyle/>
          <a:p>
            <a:pPr algn="l"/>
            <a:r>
              <a:rPr sz="1050" b="1" i="0" spc="200">
                <a:solidFill>
                  <a:srgbClr val="A9A9B8"/>
                </a:solidFill>
                <a:latin typeface="Barlow Condensed"/>
              </a:rPr>
              <a:t>LAP-TIME ERROR DURING A RACE · SECONDS (MAE)</a:t>
            </a:r>
          </a:p>
        </p:txBody>
      </p:sp>
      <p:graphicFrame>
        <p:nvGraphicFramePr>
          <p:cNvPr id="12" name="Chart 11"/>
          <p:cNvGraphicFramePr>
            <a:graphicFrameLocks noGrp="1"/>
          </p:cNvGraphicFramePr>
          <p:nvPr/>
        </p:nvGraphicFramePr>
        <p:xfrm>
          <a:off x="685800" y="2240280"/>
          <a:ext cx="6126480" cy="3429000"/>
        </p:xfrm>
        <a:graphic>
          <a:graphicData uri="http://schemas.openxmlformats.org/drawingml/2006/chart">
            <c:chart xmlns:c="http://schemas.openxmlformats.org/drawingml/2006/chart" r:id="rId4"/>
          </a:graphicData>
        </a:graphic>
      </p:graphicFrame>
      <p:sp>
        <p:nvSpPr>
          <p:cNvPr id="13" name="TextBox 12"/>
          <p:cNvSpPr txBox="1"/>
          <p:nvPr/>
        </p:nvSpPr>
        <p:spPr>
          <a:xfrm>
            <a:off x="822960" y="5715000"/>
            <a:ext cx="6035040" cy="274320"/>
          </a:xfrm>
          <a:prstGeom prst="rect">
            <a:avLst/>
          </a:prstGeom>
          <a:noFill/>
        </p:spPr>
        <p:txBody>
          <a:bodyPr wrap="square" lIns="0" rIns="0" tIns="0" bIns="0" anchor="t">
            <a:spAutoFit/>
          </a:bodyPr>
          <a:lstStyle/>
          <a:p>
            <a:pPr algn="l"/>
            <a:r>
              <a:rPr sz="1100" b="0" i="0">
                <a:solidFill>
                  <a:srgbClr val="6E6E7E"/>
                </a:solidFill>
                <a:latin typeface="Barlow"/>
              </a:rPr>
              <a:t>109,883 predictions across the 2025 season</a:t>
            </a:r>
          </a:p>
        </p:txBody>
      </p:sp>
      <p:sp>
        <p:nvSpPr>
          <p:cNvPr id="14" name="Rectangle 13"/>
          <p:cNvSpPr/>
          <p:nvPr/>
        </p:nvSpPr>
        <p:spPr>
          <a:xfrm>
            <a:off x="7178040" y="1783080"/>
            <a:ext cx="2176272" cy="210312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79208" y="2011680"/>
            <a:ext cx="1920240" cy="731520"/>
          </a:xfrm>
          <a:prstGeom prst="rect">
            <a:avLst/>
          </a:prstGeom>
          <a:noFill/>
        </p:spPr>
        <p:txBody>
          <a:bodyPr wrap="square" lIns="0" rIns="0" tIns="0" bIns="0" anchor="t">
            <a:spAutoFit/>
          </a:bodyPr>
          <a:lstStyle/>
          <a:p>
            <a:pPr algn="l"/>
            <a:r>
              <a:rPr sz="3800" b="1" i="1">
                <a:solidFill>
                  <a:srgbClr val="A855F7"/>
                </a:solidFill>
                <a:latin typeface="Barlow Condensed"/>
              </a:rPr>
              <a:t>0.446 s</a:t>
            </a:r>
          </a:p>
        </p:txBody>
      </p:sp>
      <p:sp>
        <p:nvSpPr>
          <p:cNvPr id="16" name="TextBox 15"/>
          <p:cNvSpPr txBox="1"/>
          <p:nvPr/>
        </p:nvSpPr>
        <p:spPr>
          <a:xfrm>
            <a:off x="7397496" y="2834639"/>
            <a:ext cx="1828800" cy="228600"/>
          </a:xfrm>
          <a:prstGeom prst="rect">
            <a:avLst/>
          </a:prstGeom>
          <a:noFill/>
        </p:spPr>
        <p:txBody>
          <a:bodyPr wrap="square" lIns="0" rIns="0" tIns="0" bIns="0" anchor="t">
            <a:spAutoFit/>
          </a:bodyPr>
          <a:lstStyle/>
          <a:p>
            <a:pPr algn="l"/>
            <a:r>
              <a:rPr sz="1200" b="1" i="0" spc="200">
                <a:solidFill>
                  <a:srgbClr val="F5F5F7"/>
                </a:solidFill>
                <a:latin typeface="Barlow Condensed"/>
              </a:rPr>
              <a:t>1-5 LAPS AHEAD</a:t>
            </a:r>
          </a:p>
        </p:txBody>
      </p:sp>
      <p:sp>
        <p:nvSpPr>
          <p:cNvPr id="17" name="TextBox 16"/>
          <p:cNvSpPr txBox="1"/>
          <p:nvPr/>
        </p:nvSpPr>
        <p:spPr>
          <a:xfrm>
            <a:off x="7397496" y="3136391"/>
            <a:ext cx="1783080" cy="640080"/>
          </a:xfrm>
          <a:prstGeom prst="rect">
            <a:avLst/>
          </a:prstGeom>
          <a:noFill/>
        </p:spPr>
        <p:txBody>
          <a:bodyPr wrap="square" lIns="0" rIns="0" tIns="0" bIns="0" anchor="t">
            <a:spAutoFit/>
          </a:bodyPr>
          <a:lstStyle/>
          <a:p>
            <a:pPr algn="l">
              <a:lnSpc>
                <a:spcPct val="105000"/>
              </a:lnSpc>
            </a:pPr>
            <a:r>
              <a:rPr sz="1150" b="0" i="0">
                <a:solidFill>
                  <a:srgbClr val="6E6E7E"/>
                </a:solidFill>
                <a:latin typeface="Barlow"/>
              </a:rPr>
              <a:t>error forecasting the next few laps</a:t>
            </a:r>
          </a:p>
        </p:txBody>
      </p:sp>
      <p:sp>
        <p:nvSpPr>
          <p:cNvPr id="18" name="Rectangle 17"/>
          <p:cNvSpPr/>
          <p:nvPr/>
        </p:nvSpPr>
        <p:spPr>
          <a:xfrm>
            <a:off x="9436608" y="1783080"/>
            <a:ext cx="2176272" cy="210312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37776" y="2011680"/>
            <a:ext cx="1920240" cy="731520"/>
          </a:xfrm>
          <a:prstGeom prst="rect">
            <a:avLst/>
          </a:prstGeom>
          <a:noFill/>
        </p:spPr>
        <p:txBody>
          <a:bodyPr wrap="square" lIns="0" rIns="0" tIns="0" bIns="0" anchor="t">
            <a:spAutoFit/>
          </a:bodyPr>
          <a:lstStyle/>
          <a:p>
            <a:pPr algn="l"/>
            <a:r>
              <a:rPr sz="3800" b="1" i="1">
                <a:solidFill>
                  <a:srgbClr val="F5F5F7"/>
                </a:solidFill>
                <a:latin typeface="Barlow Condensed"/>
              </a:rPr>
              <a:t>1.556 s</a:t>
            </a:r>
          </a:p>
        </p:txBody>
      </p:sp>
      <p:sp>
        <p:nvSpPr>
          <p:cNvPr id="20" name="TextBox 19"/>
          <p:cNvSpPr txBox="1"/>
          <p:nvPr/>
        </p:nvSpPr>
        <p:spPr>
          <a:xfrm>
            <a:off x="9656064" y="2834639"/>
            <a:ext cx="1828800" cy="228600"/>
          </a:xfrm>
          <a:prstGeom prst="rect">
            <a:avLst/>
          </a:prstGeom>
          <a:noFill/>
        </p:spPr>
        <p:txBody>
          <a:bodyPr wrap="square" lIns="0" rIns="0" tIns="0" bIns="0" anchor="t">
            <a:spAutoFit/>
          </a:bodyPr>
          <a:lstStyle/>
          <a:p>
            <a:pPr algn="l"/>
            <a:r>
              <a:rPr sz="1200" b="1" i="0" spc="200">
                <a:solidFill>
                  <a:srgbClr val="F5F5F7"/>
                </a:solidFill>
                <a:latin typeface="Barlow Condensed"/>
              </a:rPr>
              <a:t>BEFORE THE RACE</a:t>
            </a:r>
          </a:p>
        </p:txBody>
      </p:sp>
      <p:sp>
        <p:nvSpPr>
          <p:cNvPr id="21" name="TextBox 20"/>
          <p:cNvSpPr txBox="1"/>
          <p:nvPr/>
        </p:nvSpPr>
        <p:spPr>
          <a:xfrm>
            <a:off x="9656064" y="3136391"/>
            <a:ext cx="1783080" cy="640080"/>
          </a:xfrm>
          <a:prstGeom prst="rect">
            <a:avLst/>
          </a:prstGeom>
          <a:noFill/>
        </p:spPr>
        <p:txBody>
          <a:bodyPr wrap="square" lIns="0" rIns="0" tIns="0" bIns="0" anchor="t">
            <a:spAutoFit/>
          </a:bodyPr>
          <a:lstStyle/>
          <a:p>
            <a:pPr algn="l">
              <a:lnSpc>
                <a:spcPct val="105000"/>
              </a:lnSpc>
            </a:pPr>
            <a:r>
              <a:rPr sz="1150" b="0" i="0">
                <a:solidFill>
                  <a:srgbClr val="6E6E7E"/>
                </a:solidFill>
                <a:latin typeface="Barlow"/>
              </a:rPr>
              <a:t>v1 Ridge: 1.708 s · R² 0.955</a:t>
            </a:r>
          </a:p>
        </p:txBody>
      </p:sp>
      <p:sp>
        <p:nvSpPr>
          <p:cNvPr id="22" name="Rectangle 21"/>
          <p:cNvSpPr/>
          <p:nvPr/>
        </p:nvSpPr>
        <p:spPr>
          <a:xfrm>
            <a:off x="7178040" y="3977639"/>
            <a:ext cx="2176272" cy="210312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79208" y="4206240"/>
            <a:ext cx="1920240" cy="731520"/>
          </a:xfrm>
          <a:prstGeom prst="rect">
            <a:avLst/>
          </a:prstGeom>
          <a:noFill/>
        </p:spPr>
        <p:txBody>
          <a:bodyPr wrap="square" lIns="0" rIns="0" tIns="0" bIns="0" anchor="t">
            <a:spAutoFit/>
          </a:bodyPr>
          <a:lstStyle/>
          <a:p>
            <a:pPr algn="l"/>
            <a:r>
              <a:rPr sz="3800" b="1" i="1">
                <a:solidFill>
                  <a:srgbClr val="F5F5F7"/>
                </a:solidFill>
                <a:latin typeface="Barlow Condensed"/>
              </a:rPr>
              <a:t>1.53 s</a:t>
            </a:r>
          </a:p>
        </p:txBody>
      </p:sp>
      <p:sp>
        <p:nvSpPr>
          <p:cNvPr id="24" name="TextBox 23"/>
          <p:cNvSpPr txBox="1"/>
          <p:nvPr/>
        </p:nvSpPr>
        <p:spPr>
          <a:xfrm>
            <a:off x="7397496" y="5029200"/>
            <a:ext cx="1828800" cy="228600"/>
          </a:xfrm>
          <a:prstGeom prst="rect">
            <a:avLst/>
          </a:prstGeom>
          <a:noFill/>
        </p:spPr>
        <p:txBody>
          <a:bodyPr wrap="square" lIns="0" rIns="0" tIns="0" bIns="0" anchor="t">
            <a:spAutoFit/>
          </a:bodyPr>
          <a:lstStyle/>
          <a:p>
            <a:pPr algn="l"/>
            <a:r>
              <a:rPr sz="1200" b="1" i="0" spc="200">
                <a:solidFill>
                  <a:srgbClr val="F5F5F7"/>
                </a:solidFill>
                <a:latin typeface="Barlow Condensed"/>
              </a:rPr>
              <a:t>PIT LOSS PER STOP</a:t>
            </a:r>
          </a:p>
        </p:txBody>
      </p:sp>
      <p:sp>
        <p:nvSpPr>
          <p:cNvPr id="25" name="TextBox 24"/>
          <p:cNvSpPr txBox="1"/>
          <p:nvPr/>
        </p:nvSpPr>
        <p:spPr>
          <a:xfrm>
            <a:off x="7397496" y="5330952"/>
            <a:ext cx="1783080" cy="640080"/>
          </a:xfrm>
          <a:prstGeom prst="rect">
            <a:avLst/>
          </a:prstGeom>
          <a:noFill/>
        </p:spPr>
        <p:txBody>
          <a:bodyPr wrap="square" lIns="0" rIns="0" tIns="0" bIns="0" anchor="t">
            <a:spAutoFit/>
          </a:bodyPr>
          <a:lstStyle/>
          <a:p>
            <a:pPr algn="l">
              <a:lnSpc>
                <a:spcPct val="105000"/>
              </a:lnSpc>
            </a:pPr>
            <a:r>
              <a:rPr sz="1150" b="0" i="0">
                <a:solidFill>
                  <a:srgbClr val="6E6E7E"/>
                </a:solidFill>
                <a:latin typeface="Barlow"/>
              </a:rPr>
              <a:t>fixed 22 s: 2.16 s · 465 stops</a:t>
            </a:r>
          </a:p>
        </p:txBody>
      </p:sp>
      <p:sp>
        <p:nvSpPr>
          <p:cNvPr id="26" name="Rectangle 25"/>
          <p:cNvSpPr/>
          <p:nvPr/>
        </p:nvSpPr>
        <p:spPr>
          <a:xfrm>
            <a:off x="9436608" y="3977639"/>
            <a:ext cx="2176272" cy="210312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37776" y="4206240"/>
            <a:ext cx="1920240" cy="731520"/>
          </a:xfrm>
          <a:prstGeom prst="rect">
            <a:avLst/>
          </a:prstGeom>
          <a:noFill/>
        </p:spPr>
        <p:txBody>
          <a:bodyPr wrap="square" lIns="0" rIns="0" tIns="0" bIns="0" anchor="t">
            <a:spAutoFit/>
          </a:bodyPr>
          <a:lstStyle/>
          <a:p>
            <a:pPr algn="l"/>
            <a:r>
              <a:rPr sz="3800" b="1" i="1">
                <a:solidFill>
                  <a:srgbClr val="F5F5F7"/>
                </a:solidFill>
                <a:latin typeface="Barlow Condensed"/>
              </a:rPr>
              <a:t>0.49%</a:t>
            </a:r>
          </a:p>
        </p:txBody>
      </p:sp>
      <p:sp>
        <p:nvSpPr>
          <p:cNvPr id="28" name="TextBox 27"/>
          <p:cNvSpPr txBox="1"/>
          <p:nvPr/>
        </p:nvSpPr>
        <p:spPr>
          <a:xfrm>
            <a:off x="9656064" y="5029200"/>
            <a:ext cx="1828800" cy="228600"/>
          </a:xfrm>
          <a:prstGeom prst="rect">
            <a:avLst/>
          </a:prstGeom>
          <a:noFill/>
        </p:spPr>
        <p:txBody>
          <a:bodyPr wrap="square" lIns="0" rIns="0" tIns="0" bIns="0" anchor="t">
            <a:spAutoFit/>
          </a:bodyPr>
          <a:lstStyle/>
          <a:p>
            <a:pPr algn="l"/>
            <a:r>
              <a:rPr sz="1200" b="1" i="0" spc="200">
                <a:solidFill>
                  <a:srgbClr val="F5F5F7"/>
                </a:solidFill>
                <a:latin typeface="Barlow Condensed"/>
              </a:rPr>
              <a:t>REST-OF-RACE TIME</a:t>
            </a:r>
          </a:p>
        </p:txBody>
      </p:sp>
      <p:sp>
        <p:nvSpPr>
          <p:cNvPr id="29" name="TextBox 28"/>
          <p:cNvSpPr txBox="1"/>
          <p:nvPr/>
        </p:nvSpPr>
        <p:spPr>
          <a:xfrm>
            <a:off x="9656064" y="5330952"/>
            <a:ext cx="1783080" cy="640080"/>
          </a:xfrm>
          <a:prstGeom prst="rect">
            <a:avLst/>
          </a:prstGeom>
          <a:noFill/>
        </p:spPr>
        <p:txBody>
          <a:bodyPr wrap="square" lIns="0" rIns="0" tIns="0" bIns="0" anchor="t">
            <a:spAutoFit/>
          </a:bodyPr>
          <a:lstStyle/>
          <a:p>
            <a:pPr algn="l">
              <a:lnSpc>
                <a:spcPct val="105000"/>
              </a:lnSpc>
            </a:pPr>
            <a:r>
              <a:rPr sz="1150" b="0" i="0">
                <a:solidFill>
                  <a:srgbClr val="6E6E7E"/>
                </a:solidFill>
                <a:latin typeface="Barlow"/>
              </a:rPr>
              <a:t>from lap 10 · naive: 1.32%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THE 0.81 TRAP</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11</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6705432"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THE 0.81 TRAP</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THE BEST-LOOKING SCORE </a:t>
            </a:r>
            <a:r>
              <a:rPr sz="4600" b="1" i="1">
                <a:solidFill>
                  <a:srgbClr val="E10600"/>
                </a:solidFill>
                <a:latin typeface="Barlow Condensed"/>
              </a:rPr>
              <a:t>WAS A LEAK.</a:t>
            </a:r>
          </a:p>
        </p:txBody>
      </p:sp>
      <p:sp>
        <p:nvSpPr>
          <p:cNvPr id="10" name="Rectangle 9"/>
          <p:cNvSpPr/>
          <p:nvPr/>
        </p:nvSpPr>
        <p:spPr>
          <a:xfrm>
            <a:off x="548640" y="1783080"/>
            <a:ext cx="6400800" cy="429768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65960"/>
            <a:ext cx="5943600" cy="228600"/>
          </a:xfrm>
          <a:prstGeom prst="rect">
            <a:avLst/>
          </a:prstGeom>
          <a:noFill/>
        </p:spPr>
        <p:txBody>
          <a:bodyPr wrap="square" lIns="0" rIns="0" tIns="0" bIns="0" anchor="t">
            <a:spAutoFit/>
          </a:bodyPr>
          <a:lstStyle/>
          <a:p>
            <a:pPr algn="l"/>
            <a:r>
              <a:rPr sz="1050" b="1" i="0" spc="200">
                <a:solidFill>
                  <a:srgbClr val="A9A9B8"/>
                </a:solidFill>
                <a:latin typeface="Barlow Condensed"/>
              </a:rPr>
              <a:t>PREDICTING REAL PIT STOPS, PER LAP · F1 SCORE</a:t>
            </a:r>
          </a:p>
        </p:txBody>
      </p:sp>
      <p:graphicFrame>
        <p:nvGraphicFramePr>
          <p:cNvPr id="12" name="Chart 11"/>
          <p:cNvGraphicFramePr>
            <a:graphicFrameLocks noGrp="1"/>
          </p:cNvGraphicFramePr>
          <p:nvPr/>
        </p:nvGraphicFramePr>
        <p:xfrm>
          <a:off x="685800" y="2240280"/>
          <a:ext cx="6126480" cy="3429000"/>
        </p:xfrm>
        <a:graphic>
          <a:graphicData uri="http://schemas.openxmlformats.org/drawingml/2006/chart">
            <c:chart xmlns:c="http://schemas.openxmlformats.org/drawingml/2006/chart" r:id="rId4"/>
          </a:graphicData>
        </a:graphic>
      </p:graphicFrame>
      <p:sp>
        <p:nvSpPr>
          <p:cNvPr id="13" name="TextBox 12"/>
          <p:cNvSpPr txBox="1"/>
          <p:nvPr/>
        </p:nvSpPr>
        <p:spPr>
          <a:xfrm>
            <a:off x="822960" y="5715000"/>
            <a:ext cx="6035040" cy="274320"/>
          </a:xfrm>
          <a:prstGeom prst="rect">
            <a:avLst/>
          </a:prstGeom>
          <a:noFill/>
        </p:spPr>
        <p:txBody>
          <a:bodyPr wrap="square" lIns="0" rIns="0" tIns="0" bIns="0" anchor="t">
            <a:spAutoFit/>
          </a:bodyPr>
          <a:lstStyle/>
          <a:p>
            <a:pPr algn="l"/>
            <a:r>
              <a:rPr sz="1100" b="0" i="0">
                <a:solidFill>
                  <a:srgbClr val="6E6E7E"/>
                </a:solidFill>
                <a:latin typeface="Barlow"/>
              </a:rPr>
              <a:t>2025 season · 22,331 lap states · 625 real stops</a:t>
            </a:r>
          </a:p>
        </p:txBody>
      </p:sp>
      <p:sp>
        <p:nvSpPr>
          <p:cNvPr id="14" name="TextBox 13"/>
          <p:cNvSpPr txBox="1"/>
          <p:nvPr/>
        </p:nvSpPr>
        <p:spPr>
          <a:xfrm>
            <a:off x="7269480" y="1828800"/>
            <a:ext cx="4370832" cy="2194560"/>
          </a:xfrm>
          <a:prstGeom prst="rect">
            <a:avLst/>
          </a:prstGeom>
          <a:noFill/>
        </p:spPr>
        <p:txBody>
          <a:bodyPr wrap="square" lIns="0" rIns="0" tIns="0" bIns="0" anchor="t">
            <a:spAutoFit/>
          </a:bodyPr>
          <a:lstStyle/>
          <a:p>
            <a:pPr algn="l">
              <a:lnSpc>
                <a:spcPct val="105000"/>
              </a:lnSpc>
              <a:spcAft>
                <a:spcPts val="1000"/>
              </a:spcAft>
            </a:pPr>
            <a:r>
              <a:rPr sz="2400" b="1" i="0">
                <a:solidFill>
                  <a:srgbClr val="F5F5F7"/>
                </a:solidFill>
                <a:latin typeface="Barlow Condensed"/>
              </a:rPr>
              <a:t>A lap that ends in the pit lane is slow </a:t>
            </a:r>
            <a:r>
              <a:rPr sz="2400" b="1" i="1">
                <a:solidFill>
                  <a:srgbClr val="F5F5F7"/>
                </a:solidFill>
                <a:latin typeface="Barlow Condensed"/>
              </a:rPr>
              <a:t>because</a:t>
            </a:r>
            <a:r>
              <a:rPr sz="2400" b="1" i="0">
                <a:solidFill>
                  <a:srgbClr val="F5F5F7"/>
                </a:solidFill>
                <a:latin typeface="Barlow Condensed"/>
              </a:rPr>
              <a:t> of the stop.</a:t>
            </a:r>
          </a:p>
          <a:p>
            <a:pPr algn="l">
              <a:lnSpc>
                <a:spcPct val="105000"/>
              </a:lnSpc>
              <a:spcAft>
                <a:spcPts val="1000"/>
              </a:spcAft>
            </a:pPr>
            <a:r>
              <a:rPr sz="1600" b="1" i="0">
                <a:solidFill>
                  <a:srgbClr val="A9A9B8"/>
                </a:solidFill>
                <a:latin typeface="Barlow Condensed"/>
              </a:rPr>
              <a:t>Give a model that lap's time and it reads the answer off the lap.</a:t>
            </a:r>
          </a:p>
        </p:txBody>
      </p:sp>
      <p:sp>
        <p:nvSpPr>
          <p:cNvPr id="15" name="Parallelogram 14"/>
          <p:cNvSpPr/>
          <p:nvPr/>
        </p:nvSpPr>
        <p:spPr>
          <a:xfrm>
            <a:off x="7269480" y="4069080"/>
            <a:ext cx="1051560" cy="384048"/>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i="1" spc="100">
                <a:solidFill>
                  <a:srgbClr val="F5F5F7"/>
                </a:solidFill>
                <a:latin typeface="Barlow Condensed"/>
              </a:rPr>
              <a:t>LEAKY</a:t>
            </a:r>
          </a:p>
        </p:txBody>
      </p:sp>
      <p:sp>
        <p:nvSpPr>
          <p:cNvPr id="16" name="TextBox 15"/>
          <p:cNvSpPr txBox="1"/>
          <p:nvPr/>
        </p:nvSpPr>
        <p:spPr>
          <a:xfrm>
            <a:off x="8503920" y="4069080"/>
            <a:ext cx="3108960" cy="384048"/>
          </a:xfrm>
          <a:prstGeom prst="rect">
            <a:avLst/>
          </a:prstGeom>
          <a:noFill/>
        </p:spPr>
        <p:txBody>
          <a:bodyPr wrap="square" lIns="0" rIns="0" tIns="0" bIns="0" anchor="ctr">
            <a:spAutoFit/>
          </a:bodyPr>
          <a:lstStyle/>
          <a:p>
            <a:pPr algn="l"/>
            <a:r>
              <a:rPr sz="1350" b="0" i="0">
                <a:solidFill>
                  <a:srgbClr val="F5F5F7"/>
                </a:solidFill>
                <a:latin typeface="JetBrains Mono"/>
              </a:rPr>
              <a:t>F1 0.84 · ROC-AUC 0.994</a:t>
            </a:r>
          </a:p>
        </p:txBody>
      </p:sp>
      <p:sp>
        <p:nvSpPr>
          <p:cNvPr id="17" name="Parallelogram 16"/>
          <p:cNvSpPr/>
          <p:nvPr/>
        </p:nvSpPr>
        <p:spPr>
          <a:xfrm>
            <a:off x="7269480" y="4636008"/>
            <a:ext cx="1051560" cy="384048"/>
          </a:xfrm>
          <a:prstGeom prst="parallelogram">
            <a:avLst>
              <a:gd name="adj" fmla="val 25000"/>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i="1" spc="100">
                <a:solidFill>
                  <a:srgbClr val="F5F5F7"/>
                </a:solidFill>
                <a:latin typeface="Barlow Condensed"/>
              </a:rPr>
              <a:t>HONEST</a:t>
            </a:r>
          </a:p>
        </p:txBody>
      </p:sp>
      <p:sp>
        <p:nvSpPr>
          <p:cNvPr id="18" name="TextBox 17"/>
          <p:cNvSpPr txBox="1"/>
          <p:nvPr/>
        </p:nvSpPr>
        <p:spPr>
          <a:xfrm>
            <a:off x="8503920" y="4636008"/>
            <a:ext cx="3108960" cy="384048"/>
          </a:xfrm>
          <a:prstGeom prst="rect">
            <a:avLst/>
          </a:prstGeom>
          <a:noFill/>
        </p:spPr>
        <p:txBody>
          <a:bodyPr wrap="square" lIns="0" rIns="0" tIns="0" bIns="0" anchor="ctr">
            <a:spAutoFit/>
          </a:bodyPr>
          <a:lstStyle/>
          <a:p>
            <a:pPr algn="l"/>
            <a:r>
              <a:rPr sz="1350" b="0" i="0">
                <a:solidFill>
                  <a:srgbClr val="F5F5F7"/>
                </a:solidFill>
                <a:latin typeface="JetBrains Mono"/>
              </a:rPr>
              <a:t>F1 0.27 · ROC-AUC 0.876</a:t>
            </a:r>
          </a:p>
        </p:txBody>
      </p:sp>
      <p:sp>
        <p:nvSpPr>
          <p:cNvPr id="19" name="TextBox 18"/>
          <p:cNvSpPr txBox="1"/>
          <p:nvPr/>
        </p:nvSpPr>
        <p:spPr>
          <a:xfrm>
            <a:off x="7269480" y="5257800"/>
            <a:ext cx="4370832" cy="822960"/>
          </a:xfrm>
          <a:prstGeom prst="rect">
            <a:avLst/>
          </a:prstGeom>
          <a:noFill/>
        </p:spPr>
        <p:txBody>
          <a:bodyPr wrap="square" lIns="0" rIns="0" tIns="0" bIns="0" anchor="t">
            <a:spAutoFit/>
          </a:bodyPr>
          <a:lstStyle/>
          <a:p>
            <a:pPr algn="l">
              <a:lnSpc>
                <a:spcPct val="110000"/>
              </a:lnSpc>
            </a:pPr>
            <a:r>
              <a:rPr sz="1250" b="0" i="0">
                <a:solidFill>
                  <a:srgbClr val="6E6E7E"/>
                </a:solidFill>
                <a:latin typeface="Barlow"/>
              </a:rPr>
              <a:t>Our own leak: end-of-lap gap features lifted F1 from 0.27 to 0.32 until they were moved to lap n−1.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WHAT BROKE  ·  THE MODEL</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12</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7315017"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WHAT BROKE  ·  THE MODEL</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DID NOT </a:t>
            </a:r>
            <a:r>
              <a:rPr sz="4600" b="1" i="1">
                <a:solidFill>
                  <a:srgbClr val="E10600"/>
                </a:solidFill>
                <a:latin typeface="Barlow Condensed"/>
              </a:rPr>
              <a:t>FINISH.</a:t>
            </a:r>
          </a:p>
        </p:txBody>
      </p:sp>
      <p:sp>
        <p:nvSpPr>
          <p:cNvPr id="10" name="TextBox 9"/>
          <p:cNvSpPr txBox="1"/>
          <p:nvPr/>
        </p:nvSpPr>
        <p:spPr>
          <a:xfrm>
            <a:off x="594360" y="169164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a:t>
            </a:r>
          </a:p>
        </p:txBody>
      </p:sp>
      <p:sp>
        <p:nvSpPr>
          <p:cNvPr id="11" name="TextBox 10"/>
          <p:cNvSpPr txBox="1"/>
          <p:nvPr/>
        </p:nvSpPr>
        <p:spPr>
          <a:xfrm>
            <a:off x="1261872" y="169164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SYMPTOM</a:t>
            </a:r>
          </a:p>
        </p:txBody>
      </p:sp>
      <p:sp>
        <p:nvSpPr>
          <p:cNvPr id="12" name="TextBox 11"/>
          <p:cNvSpPr txBox="1"/>
          <p:nvPr/>
        </p:nvSpPr>
        <p:spPr>
          <a:xfrm>
            <a:off x="4617720" y="169164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CAUSE</a:t>
            </a:r>
          </a:p>
        </p:txBody>
      </p:sp>
      <p:sp>
        <p:nvSpPr>
          <p:cNvPr id="13" name="TextBox 12"/>
          <p:cNvSpPr txBox="1"/>
          <p:nvPr/>
        </p:nvSpPr>
        <p:spPr>
          <a:xfrm>
            <a:off x="8001000" y="169164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FIX</a:t>
            </a:r>
          </a:p>
        </p:txBody>
      </p:sp>
      <p:sp>
        <p:nvSpPr>
          <p:cNvPr id="14" name="Rectangle 13"/>
          <p:cNvSpPr/>
          <p:nvPr/>
        </p:nvSpPr>
        <p:spPr>
          <a:xfrm>
            <a:off x="548640" y="1938528"/>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rallelogram 14"/>
          <p:cNvSpPr/>
          <p:nvPr/>
        </p:nvSpPr>
        <p:spPr>
          <a:xfrm>
            <a:off x="621792" y="2048256"/>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1</a:t>
            </a:r>
          </a:p>
        </p:txBody>
      </p:sp>
      <p:sp>
        <p:nvSpPr>
          <p:cNvPr id="16" name="TextBox 15"/>
          <p:cNvSpPr txBox="1"/>
          <p:nvPr/>
        </p:nvSpPr>
        <p:spPr>
          <a:xfrm>
            <a:off x="1261872" y="1938528"/>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R² 0.948 THAT WOULD NOT REPRODUCE</a:t>
            </a:r>
          </a:p>
        </p:txBody>
      </p:sp>
      <p:sp>
        <p:nvSpPr>
          <p:cNvPr id="17" name="TextBox 16"/>
          <p:cNvSpPr txBox="1"/>
          <p:nvPr/>
        </p:nvSpPr>
        <p:spPr>
          <a:xfrm>
            <a:off x="4617720" y="1938528"/>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popular races counted several times in the data</a:t>
            </a:r>
          </a:p>
        </p:txBody>
      </p:sp>
      <p:sp>
        <p:nvSpPr>
          <p:cNvPr id="18" name="TextBox 17"/>
          <p:cNvSpPr txBox="1"/>
          <p:nvPr/>
        </p:nvSpPr>
        <p:spPr>
          <a:xfrm>
            <a:off x="8001000" y="1938528"/>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deduplicated; honest baseline R² 0.91</a:t>
            </a:r>
          </a:p>
        </p:txBody>
      </p:sp>
      <p:sp>
        <p:nvSpPr>
          <p:cNvPr id="19" name="Parallelogram 18"/>
          <p:cNvSpPr/>
          <p:nvPr/>
        </p:nvSpPr>
        <p:spPr>
          <a:xfrm>
            <a:off x="10808208" y="2057400"/>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20" name="Rectangle 19"/>
          <p:cNvSpPr/>
          <p:nvPr/>
        </p:nvSpPr>
        <p:spPr>
          <a:xfrm>
            <a:off x="548640" y="2514600"/>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arallelogram 20"/>
          <p:cNvSpPr/>
          <p:nvPr/>
        </p:nvSpPr>
        <p:spPr>
          <a:xfrm>
            <a:off x="621792" y="2624328"/>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2</a:t>
            </a:r>
          </a:p>
        </p:txBody>
      </p:sp>
      <p:sp>
        <p:nvSpPr>
          <p:cNvPr id="22" name="TextBox 21"/>
          <p:cNvSpPr txBox="1"/>
          <p:nvPr/>
        </p:nvSpPr>
        <p:spPr>
          <a:xfrm>
            <a:off x="1261872" y="2514600"/>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RACES MIXED TOGETHER</a:t>
            </a:r>
          </a:p>
        </p:txBody>
      </p:sp>
      <p:sp>
        <p:nvSpPr>
          <p:cNvPr id="23" name="TextBox 22"/>
          <p:cNvSpPr txBox="1"/>
          <p:nvPr/>
        </p:nvSpPr>
        <p:spPr>
          <a:xfrm>
            <a:off x="4617720" y="2514600"/>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round_number corrupted in 82% of training rows</a:t>
            </a:r>
          </a:p>
        </p:txBody>
      </p:sp>
      <p:sp>
        <p:nvSpPr>
          <p:cNvPr id="24" name="TextBox 23"/>
          <p:cNvSpPr txBox="1"/>
          <p:nvPr/>
        </p:nvSpPr>
        <p:spPr>
          <a:xfrm>
            <a:off x="8001000" y="2514600"/>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race IDs rebuilt from file names</a:t>
            </a:r>
          </a:p>
        </p:txBody>
      </p:sp>
      <p:sp>
        <p:nvSpPr>
          <p:cNvPr id="25" name="Parallelogram 24"/>
          <p:cNvSpPr/>
          <p:nvPr/>
        </p:nvSpPr>
        <p:spPr>
          <a:xfrm>
            <a:off x="10808208" y="2633472"/>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26" name="Rectangle 25"/>
          <p:cNvSpPr/>
          <p:nvPr/>
        </p:nvSpPr>
        <p:spPr>
          <a:xfrm>
            <a:off x="548640" y="3090672"/>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arallelogram 26"/>
          <p:cNvSpPr/>
          <p:nvPr/>
        </p:nvSpPr>
        <p:spPr>
          <a:xfrm>
            <a:off x="621792" y="3200400"/>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3</a:t>
            </a:r>
          </a:p>
        </p:txBody>
      </p:sp>
      <p:sp>
        <p:nvSpPr>
          <p:cNvPr id="28" name="TextBox 27"/>
          <p:cNvSpPr txBox="1"/>
          <p:nvPr/>
        </p:nvSpPr>
        <p:spPr>
          <a:xfrm>
            <a:off x="1261872" y="3090672"/>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NO PIT LAPS TO LEARN FROM</a:t>
            </a:r>
          </a:p>
        </p:txBody>
      </p:sp>
      <p:sp>
        <p:nvSpPr>
          <p:cNvPr id="29" name="TextBox 28"/>
          <p:cNvSpPr txBox="1"/>
          <p:nvPr/>
        </p:nvSpPr>
        <p:spPr>
          <a:xfrm>
            <a:off x="4617720" y="3090672"/>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FastF1 IsAccurate drops in-laps, out-laps and SC laps</a:t>
            </a:r>
          </a:p>
        </p:txBody>
      </p:sp>
      <p:sp>
        <p:nvSpPr>
          <p:cNvPr id="30" name="TextBox 29"/>
          <p:cNvSpPr txBox="1"/>
          <p:nvPr/>
        </p:nvSpPr>
        <p:spPr>
          <a:xfrm>
            <a:off x="8001000" y="3090672"/>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keep every lap; flag representative ones</a:t>
            </a:r>
          </a:p>
        </p:txBody>
      </p:sp>
      <p:sp>
        <p:nvSpPr>
          <p:cNvPr id="31" name="Parallelogram 30"/>
          <p:cNvSpPr/>
          <p:nvPr/>
        </p:nvSpPr>
        <p:spPr>
          <a:xfrm>
            <a:off x="10808208" y="3209544"/>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32" name="Rectangle 31"/>
          <p:cNvSpPr/>
          <p:nvPr/>
        </p:nvSpPr>
        <p:spPr>
          <a:xfrm>
            <a:off x="548640" y="3666744"/>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arallelogram 32"/>
          <p:cNvSpPr/>
          <p:nvPr/>
        </p:nvSpPr>
        <p:spPr>
          <a:xfrm>
            <a:off x="621792" y="3776472"/>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4</a:t>
            </a:r>
          </a:p>
        </p:txBody>
      </p:sp>
      <p:sp>
        <p:nvSpPr>
          <p:cNvPr id="34" name="TextBox 33"/>
          <p:cNvSpPr txBox="1"/>
          <p:nvPr/>
        </p:nvSpPr>
        <p:spPr>
          <a:xfrm>
            <a:off x="1261872" y="3666744"/>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SILENT GARBAGE IN THE FIT</a:t>
            </a:r>
          </a:p>
        </p:txBody>
      </p:sp>
      <p:sp>
        <p:nvSpPr>
          <p:cNvPr id="35" name="TextBox 34"/>
          <p:cNvSpPr txBox="1"/>
          <p:nvPr/>
        </p:nvSpPr>
        <p:spPr>
          <a:xfrm>
            <a:off x="4617720" y="3666744"/>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groupby returned index labels, not positions</a:t>
            </a:r>
          </a:p>
        </p:txBody>
      </p:sp>
      <p:sp>
        <p:nvSpPr>
          <p:cNvPr id="36" name="TextBox 35"/>
          <p:cNvSpPr txBox="1"/>
          <p:nvPr/>
        </p:nvSpPr>
        <p:spPr>
          <a:xfrm>
            <a:off x="8001000" y="3666744"/>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factorise + argsort split</a:t>
            </a:r>
          </a:p>
        </p:txBody>
      </p:sp>
      <p:sp>
        <p:nvSpPr>
          <p:cNvPr id="37" name="Parallelogram 36"/>
          <p:cNvSpPr/>
          <p:nvPr/>
        </p:nvSpPr>
        <p:spPr>
          <a:xfrm>
            <a:off x="10808208" y="3785615"/>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38" name="Rectangle 37"/>
          <p:cNvSpPr/>
          <p:nvPr/>
        </p:nvSpPr>
        <p:spPr>
          <a:xfrm>
            <a:off x="548640" y="4242816"/>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arallelogram 38"/>
          <p:cNvSpPr/>
          <p:nvPr/>
        </p:nvSpPr>
        <p:spPr>
          <a:xfrm>
            <a:off x="621792" y="4352544"/>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5</a:t>
            </a:r>
          </a:p>
        </p:txBody>
      </p:sp>
      <p:sp>
        <p:nvSpPr>
          <p:cNvPr id="40" name="TextBox 39"/>
          <p:cNvSpPr txBox="1"/>
          <p:nvPr/>
        </p:nvSpPr>
        <p:spPr>
          <a:xfrm>
            <a:off x="1261872" y="4242816"/>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SOLVER CRASHED MID-FIT</a:t>
            </a:r>
          </a:p>
        </p:txBody>
      </p:sp>
      <p:sp>
        <p:nvSpPr>
          <p:cNvPr id="41" name="TextBox 40"/>
          <p:cNvSpPr txBox="1"/>
          <p:nvPr/>
        </p:nvSpPr>
        <p:spPr>
          <a:xfrm>
            <a:off x="4617720" y="4242816"/>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SciPy positive-definite solve segfaulted</a:t>
            </a:r>
          </a:p>
        </p:txBody>
      </p:sp>
      <p:sp>
        <p:nvSpPr>
          <p:cNvPr id="42" name="TextBox 41"/>
          <p:cNvSpPr txBox="1"/>
          <p:nvPr/>
        </p:nvSpPr>
        <p:spPr>
          <a:xfrm>
            <a:off x="8001000" y="4242816"/>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numpy.linalg.solve</a:t>
            </a:r>
          </a:p>
        </p:txBody>
      </p:sp>
      <p:sp>
        <p:nvSpPr>
          <p:cNvPr id="43" name="Parallelogram 42"/>
          <p:cNvSpPr/>
          <p:nvPr/>
        </p:nvSpPr>
        <p:spPr>
          <a:xfrm>
            <a:off x="10808208" y="4361688"/>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44" name="Rectangle 43"/>
          <p:cNvSpPr/>
          <p:nvPr/>
        </p:nvSpPr>
        <p:spPr>
          <a:xfrm>
            <a:off x="548640" y="4818888"/>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arallelogram 44"/>
          <p:cNvSpPr/>
          <p:nvPr/>
        </p:nvSpPr>
        <p:spPr>
          <a:xfrm>
            <a:off x="621792" y="4928616"/>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6</a:t>
            </a:r>
          </a:p>
        </p:txBody>
      </p:sp>
      <p:sp>
        <p:nvSpPr>
          <p:cNvPr id="46" name="TextBox 45"/>
          <p:cNvSpPr txBox="1"/>
          <p:nvPr/>
        </p:nvSpPr>
        <p:spPr>
          <a:xfrm>
            <a:off x="1261872" y="4818888"/>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PIT LOSS NONSENSE UNDER SC</a:t>
            </a:r>
          </a:p>
        </p:txBody>
      </p:sp>
      <p:sp>
        <p:nvSpPr>
          <p:cNvPr id="47" name="TextBox 46"/>
          <p:cNvSpPr txBox="1"/>
          <p:nvPr/>
        </p:nvSpPr>
        <p:spPr>
          <a:xfrm>
            <a:off x="4617720" y="4818888"/>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the Safety Car queue gives the time back</a:t>
            </a:r>
          </a:p>
        </p:txBody>
      </p:sp>
      <p:sp>
        <p:nvSpPr>
          <p:cNvPr id="48" name="TextBox 47"/>
          <p:cNvSpPr txBox="1"/>
          <p:nvPr/>
        </p:nvSpPr>
        <p:spPr>
          <a:xfrm>
            <a:off x="8001000" y="4818888"/>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gap to leader vs matched non-stoppers</a:t>
            </a:r>
          </a:p>
        </p:txBody>
      </p:sp>
      <p:sp>
        <p:nvSpPr>
          <p:cNvPr id="49" name="Parallelogram 48"/>
          <p:cNvSpPr/>
          <p:nvPr/>
        </p:nvSpPr>
        <p:spPr>
          <a:xfrm>
            <a:off x="10808208" y="4937759"/>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50" name="Rectangle 49"/>
          <p:cNvSpPr/>
          <p:nvPr/>
        </p:nvSpPr>
        <p:spPr>
          <a:xfrm>
            <a:off x="548640" y="5394960"/>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arallelogram 50"/>
          <p:cNvSpPr/>
          <p:nvPr/>
        </p:nvSpPr>
        <p:spPr>
          <a:xfrm>
            <a:off x="621792" y="5504688"/>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7</a:t>
            </a:r>
          </a:p>
        </p:txBody>
      </p:sp>
      <p:sp>
        <p:nvSpPr>
          <p:cNvPr id="52" name="TextBox 51"/>
          <p:cNvSpPr txBox="1"/>
          <p:nvPr/>
        </p:nvSpPr>
        <p:spPr>
          <a:xfrm>
            <a:off x="1261872" y="5394960"/>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F1 0.32, TOO GOOD</a:t>
            </a:r>
          </a:p>
        </p:txBody>
      </p:sp>
      <p:sp>
        <p:nvSpPr>
          <p:cNvPr id="53" name="TextBox 52"/>
          <p:cNvSpPr txBox="1"/>
          <p:nvPr/>
        </p:nvSpPr>
        <p:spPr>
          <a:xfrm>
            <a:off x="4617720" y="5394960"/>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end-of-lap gap leaked the in-lap</a:t>
            </a:r>
          </a:p>
        </p:txBody>
      </p:sp>
      <p:sp>
        <p:nvSpPr>
          <p:cNvPr id="54" name="TextBox 53"/>
          <p:cNvSpPr txBox="1"/>
          <p:nvPr/>
        </p:nvSpPr>
        <p:spPr>
          <a:xfrm>
            <a:off x="8001000" y="5394960"/>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features from lap n−1: honest 0.27</a:t>
            </a:r>
          </a:p>
        </p:txBody>
      </p:sp>
      <p:sp>
        <p:nvSpPr>
          <p:cNvPr id="55" name="Parallelogram 54"/>
          <p:cNvSpPr/>
          <p:nvPr/>
        </p:nvSpPr>
        <p:spPr>
          <a:xfrm>
            <a:off x="10808208" y="5513832"/>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WHAT BROKE  ·  THE APP</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13</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7924601"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WHAT BROKE  ·  THE APP</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AND ON </a:t>
            </a:r>
            <a:r>
              <a:rPr sz="4600" b="1" i="1">
                <a:solidFill>
                  <a:srgbClr val="E10600"/>
                </a:solidFill>
                <a:latin typeface="Barlow Condensed"/>
              </a:rPr>
              <a:t>THE TRACK.</a:t>
            </a:r>
          </a:p>
        </p:txBody>
      </p:sp>
      <p:sp>
        <p:nvSpPr>
          <p:cNvPr id="10" name="TextBox 9"/>
          <p:cNvSpPr txBox="1"/>
          <p:nvPr/>
        </p:nvSpPr>
        <p:spPr>
          <a:xfrm>
            <a:off x="594360" y="169164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a:t>
            </a:r>
          </a:p>
        </p:txBody>
      </p:sp>
      <p:sp>
        <p:nvSpPr>
          <p:cNvPr id="11" name="TextBox 10"/>
          <p:cNvSpPr txBox="1"/>
          <p:nvPr/>
        </p:nvSpPr>
        <p:spPr>
          <a:xfrm>
            <a:off x="1261872" y="169164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SYMPTOM</a:t>
            </a:r>
          </a:p>
        </p:txBody>
      </p:sp>
      <p:sp>
        <p:nvSpPr>
          <p:cNvPr id="12" name="TextBox 11"/>
          <p:cNvSpPr txBox="1"/>
          <p:nvPr/>
        </p:nvSpPr>
        <p:spPr>
          <a:xfrm>
            <a:off x="4617720" y="169164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CAUSE</a:t>
            </a:r>
          </a:p>
        </p:txBody>
      </p:sp>
      <p:sp>
        <p:nvSpPr>
          <p:cNvPr id="13" name="TextBox 12"/>
          <p:cNvSpPr txBox="1"/>
          <p:nvPr/>
        </p:nvSpPr>
        <p:spPr>
          <a:xfrm>
            <a:off x="8001000" y="169164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FIX</a:t>
            </a:r>
          </a:p>
        </p:txBody>
      </p:sp>
      <p:sp>
        <p:nvSpPr>
          <p:cNvPr id="14" name="Rectangle 13"/>
          <p:cNvSpPr/>
          <p:nvPr/>
        </p:nvSpPr>
        <p:spPr>
          <a:xfrm>
            <a:off x="548640" y="1938528"/>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rallelogram 14"/>
          <p:cNvSpPr/>
          <p:nvPr/>
        </p:nvSpPr>
        <p:spPr>
          <a:xfrm>
            <a:off x="621792" y="2048256"/>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1</a:t>
            </a:r>
          </a:p>
        </p:txBody>
      </p:sp>
      <p:sp>
        <p:nvSpPr>
          <p:cNvPr id="16" name="TextBox 15"/>
          <p:cNvSpPr txBox="1"/>
          <p:nvPr/>
        </p:nvSpPr>
        <p:spPr>
          <a:xfrm>
            <a:off x="1261872" y="1938528"/>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3D VIEW CRASHED WITH NAN</a:t>
            </a:r>
          </a:p>
        </p:txBody>
      </p:sp>
      <p:sp>
        <p:nvSpPr>
          <p:cNvPr id="17" name="TextBox 16"/>
          <p:cNvSpPr txBox="1"/>
          <p:nvPr/>
        </p:nvSpPr>
        <p:spPr>
          <a:xfrm>
            <a:off x="4617720" y="1938528"/>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service worker served a stale tracks.json</a:t>
            </a:r>
          </a:p>
        </p:txBody>
      </p:sp>
      <p:sp>
        <p:nvSpPr>
          <p:cNvPr id="18" name="TextBox 17"/>
          <p:cNvSpPr txBox="1"/>
          <p:nvPr/>
        </p:nvSpPr>
        <p:spPr>
          <a:xfrm>
            <a:off x="8001000" y="1938528"/>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network-first for data; cache-first only for hashed files</a:t>
            </a:r>
          </a:p>
        </p:txBody>
      </p:sp>
      <p:sp>
        <p:nvSpPr>
          <p:cNvPr id="19" name="Parallelogram 18"/>
          <p:cNvSpPr/>
          <p:nvPr/>
        </p:nvSpPr>
        <p:spPr>
          <a:xfrm>
            <a:off x="10808208" y="2057400"/>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20" name="Rectangle 19"/>
          <p:cNvSpPr/>
          <p:nvPr/>
        </p:nvSpPr>
        <p:spPr>
          <a:xfrm>
            <a:off x="548640" y="2514600"/>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arallelogram 20"/>
          <p:cNvSpPr/>
          <p:nvPr/>
        </p:nvSpPr>
        <p:spPr>
          <a:xfrm>
            <a:off x="621792" y="2624328"/>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2</a:t>
            </a:r>
          </a:p>
        </p:txBody>
      </p:sp>
      <p:sp>
        <p:nvSpPr>
          <p:cNvPr id="22" name="TextBox 21"/>
          <p:cNvSpPr txBox="1"/>
          <p:nvPr/>
        </p:nvSpPr>
        <p:spPr>
          <a:xfrm>
            <a:off x="1261872" y="2514600"/>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RACE REPLAY FROZE FOR GOOD</a:t>
            </a:r>
          </a:p>
        </p:txBody>
      </p:sp>
      <p:sp>
        <p:nvSpPr>
          <p:cNvPr id="23" name="TextBox 22"/>
          <p:cNvSpPr txBox="1"/>
          <p:nvPr/>
        </p:nvSpPr>
        <p:spPr>
          <a:xfrm>
            <a:off x="4617720" y="2514600"/>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one exception inside requestAnimationFrame</a:t>
            </a:r>
          </a:p>
        </p:txBody>
      </p:sp>
      <p:sp>
        <p:nvSpPr>
          <p:cNvPr id="24" name="TextBox 23"/>
          <p:cNvSpPr txBox="1"/>
          <p:nvPr/>
        </p:nvSpPr>
        <p:spPr>
          <a:xfrm>
            <a:off x="8001000" y="2514600"/>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schedule the next frame first</a:t>
            </a:r>
          </a:p>
        </p:txBody>
      </p:sp>
      <p:sp>
        <p:nvSpPr>
          <p:cNvPr id="25" name="Parallelogram 24"/>
          <p:cNvSpPr/>
          <p:nvPr/>
        </p:nvSpPr>
        <p:spPr>
          <a:xfrm>
            <a:off x="10808208" y="2633472"/>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26" name="Rectangle 25"/>
          <p:cNvSpPr/>
          <p:nvPr/>
        </p:nvSpPr>
        <p:spPr>
          <a:xfrm>
            <a:off x="548640" y="3090672"/>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arallelogram 26"/>
          <p:cNvSpPr/>
          <p:nvPr/>
        </p:nvSpPr>
        <p:spPr>
          <a:xfrm>
            <a:off x="621792" y="3200400"/>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3</a:t>
            </a:r>
          </a:p>
        </p:txBody>
      </p:sp>
      <p:sp>
        <p:nvSpPr>
          <p:cNvPr id="28" name="TextBox 27"/>
          <p:cNvSpPr txBox="1"/>
          <p:nvPr/>
        </p:nvSpPr>
        <p:spPr>
          <a:xfrm>
            <a:off x="1261872" y="3090672"/>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CHASE CAM 100S OF METRES BEHIND</a:t>
            </a:r>
          </a:p>
        </p:txBody>
      </p:sp>
      <p:sp>
        <p:nvSpPr>
          <p:cNvPr id="29" name="TextBox 28"/>
          <p:cNvSpPr txBox="1"/>
          <p:nvPr/>
        </p:nvSpPr>
        <p:spPr>
          <a:xfrm>
            <a:off x="4617720" y="3090672"/>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position lerp at 64× playback</a:t>
            </a:r>
          </a:p>
        </p:txBody>
      </p:sp>
      <p:sp>
        <p:nvSpPr>
          <p:cNvPr id="30" name="TextBox 29"/>
          <p:cNvSpPr txBox="1"/>
          <p:nvPr/>
        </p:nvSpPr>
        <p:spPr>
          <a:xfrm>
            <a:off x="8001000" y="3090672"/>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rig derived from the car's own pose</a:t>
            </a:r>
          </a:p>
        </p:txBody>
      </p:sp>
      <p:sp>
        <p:nvSpPr>
          <p:cNvPr id="31" name="Parallelogram 30"/>
          <p:cNvSpPr/>
          <p:nvPr/>
        </p:nvSpPr>
        <p:spPr>
          <a:xfrm>
            <a:off x="10808208" y="3209544"/>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32" name="Rectangle 31"/>
          <p:cNvSpPr/>
          <p:nvPr/>
        </p:nvSpPr>
        <p:spPr>
          <a:xfrm>
            <a:off x="548640" y="3666744"/>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arallelogram 32"/>
          <p:cNvSpPr/>
          <p:nvPr/>
        </p:nvSpPr>
        <p:spPr>
          <a:xfrm>
            <a:off x="621792" y="3776472"/>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4</a:t>
            </a:r>
          </a:p>
        </p:txBody>
      </p:sp>
      <p:sp>
        <p:nvSpPr>
          <p:cNvPr id="34" name="TextBox 33"/>
          <p:cNvSpPr txBox="1"/>
          <p:nvPr/>
        </p:nvSpPr>
        <p:spPr>
          <a:xfrm>
            <a:off x="1261872" y="3666744"/>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CAR FLIPPED IN CORNERS</a:t>
            </a:r>
          </a:p>
        </p:txBody>
      </p:sp>
      <p:sp>
        <p:nvSpPr>
          <p:cNvPr id="35" name="TextBox 34"/>
          <p:cNvSpPr txBox="1"/>
          <p:nvPr/>
        </p:nvSpPr>
        <p:spPr>
          <a:xfrm>
            <a:off x="4617720" y="3666744"/>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rotation degenerate near a 180° heading</a:t>
            </a:r>
          </a:p>
        </p:txBody>
      </p:sp>
      <p:sp>
        <p:nvSpPr>
          <p:cNvPr id="36" name="TextBox 35"/>
          <p:cNvSpPr txBox="1"/>
          <p:nvPr/>
        </p:nvSpPr>
        <p:spPr>
          <a:xfrm>
            <a:off x="8001000" y="3666744"/>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roll-free yaw + pitch poses</a:t>
            </a:r>
          </a:p>
        </p:txBody>
      </p:sp>
      <p:sp>
        <p:nvSpPr>
          <p:cNvPr id="37" name="Parallelogram 36"/>
          <p:cNvSpPr/>
          <p:nvPr/>
        </p:nvSpPr>
        <p:spPr>
          <a:xfrm>
            <a:off x="10808208" y="3785615"/>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38" name="Rectangle 37"/>
          <p:cNvSpPr/>
          <p:nvPr/>
        </p:nvSpPr>
        <p:spPr>
          <a:xfrm>
            <a:off x="548640" y="4242816"/>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arallelogram 38"/>
          <p:cNvSpPr/>
          <p:nvPr/>
        </p:nvSpPr>
        <p:spPr>
          <a:xfrm>
            <a:off x="621792" y="4352544"/>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5</a:t>
            </a:r>
          </a:p>
        </p:txBody>
      </p:sp>
      <p:sp>
        <p:nvSpPr>
          <p:cNvPr id="40" name="TextBox 39"/>
          <p:cNvSpPr txBox="1"/>
          <p:nvPr/>
        </p:nvSpPr>
        <p:spPr>
          <a:xfrm>
            <a:off x="1261872" y="4242816"/>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CAMERA WOBBLE AT 1×</a:t>
            </a:r>
          </a:p>
        </p:txBody>
      </p:sp>
      <p:sp>
        <p:nvSpPr>
          <p:cNvPr id="41" name="TextBox 40"/>
          <p:cNvSpPr txBox="1"/>
          <p:nvPr/>
        </p:nvSpPr>
        <p:spPr>
          <a:xfrm>
            <a:off x="4617720" y="4242816"/>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telemetry jitter, arc-length error</a:t>
            </a:r>
          </a:p>
        </p:txBody>
      </p:sp>
      <p:sp>
        <p:nvSpPr>
          <p:cNvPr id="42" name="TextBox 41"/>
          <p:cNvSpPr txBox="1"/>
          <p:nvPr/>
        </p:nvSpPr>
        <p:spPr>
          <a:xfrm>
            <a:off x="8001000" y="4242816"/>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smoothed centreline, damped shared heading</a:t>
            </a:r>
          </a:p>
        </p:txBody>
      </p:sp>
      <p:sp>
        <p:nvSpPr>
          <p:cNvPr id="43" name="Parallelogram 42"/>
          <p:cNvSpPr/>
          <p:nvPr/>
        </p:nvSpPr>
        <p:spPr>
          <a:xfrm>
            <a:off x="10808208" y="4361688"/>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44" name="Rectangle 43"/>
          <p:cNvSpPr/>
          <p:nvPr/>
        </p:nvSpPr>
        <p:spPr>
          <a:xfrm>
            <a:off x="548640" y="4818888"/>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arallelogram 44"/>
          <p:cNvSpPr/>
          <p:nvPr/>
        </p:nvSpPr>
        <p:spPr>
          <a:xfrm>
            <a:off x="621792" y="4928616"/>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6</a:t>
            </a:r>
          </a:p>
        </p:txBody>
      </p:sp>
      <p:sp>
        <p:nvSpPr>
          <p:cNvPr id="46" name="TextBox 45"/>
          <p:cNvSpPr txBox="1"/>
          <p:nvPr/>
        </p:nvSpPr>
        <p:spPr>
          <a:xfrm>
            <a:off x="1261872" y="4818888"/>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FRONT-WING LABEL NEVER DREW</a:t>
            </a:r>
          </a:p>
        </p:txBody>
      </p:sp>
      <p:sp>
        <p:nvSpPr>
          <p:cNvPr id="47" name="TextBox 46"/>
          <p:cNvSpPr txBox="1"/>
          <p:nvPr/>
        </p:nvSpPr>
        <p:spPr>
          <a:xfrm>
            <a:off x="4617720" y="4818888"/>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one of seven Html roots failed to mount</a:t>
            </a:r>
          </a:p>
        </p:txBody>
      </p:sp>
      <p:sp>
        <p:nvSpPr>
          <p:cNvPr id="48" name="TextBox 47"/>
          <p:cNvSpPr txBox="1"/>
          <p:nvPr/>
        </p:nvSpPr>
        <p:spPr>
          <a:xfrm>
            <a:off x="8001000" y="4818888"/>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one projected DOM overlay</a:t>
            </a:r>
          </a:p>
        </p:txBody>
      </p:sp>
      <p:sp>
        <p:nvSpPr>
          <p:cNvPr id="49" name="Parallelogram 48"/>
          <p:cNvSpPr/>
          <p:nvPr/>
        </p:nvSpPr>
        <p:spPr>
          <a:xfrm>
            <a:off x="10808208" y="4937759"/>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
        <p:nvSpPr>
          <p:cNvPr id="50" name="Rectangle 49"/>
          <p:cNvSpPr/>
          <p:nvPr/>
        </p:nvSpPr>
        <p:spPr>
          <a:xfrm>
            <a:off x="548640" y="5394960"/>
            <a:ext cx="11091672" cy="521207"/>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arallelogram 50"/>
          <p:cNvSpPr/>
          <p:nvPr/>
        </p:nvSpPr>
        <p:spPr>
          <a:xfrm>
            <a:off x="621792" y="5504688"/>
            <a:ext cx="502920" cy="301752"/>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7</a:t>
            </a:r>
          </a:p>
        </p:txBody>
      </p:sp>
      <p:sp>
        <p:nvSpPr>
          <p:cNvPr id="52" name="TextBox 51"/>
          <p:cNvSpPr txBox="1"/>
          <p:nvPr/>
        </p:nvSpPr>
        <p:spPr>
          <a:xfrm>
            <a:off x="1261872" y="5394960"/>
            <a:ext cx="3246120" cy="521207"/>
          </a:xfrm>
          <a:prstGeom prst="rect">
            <a:avLst/>
          </a:prstGeom>
          <a:noFill/>
        </p:spPr>
        <p:txBody>
          <a:bodyPr wrap="square" lIns="0" rIns="0" tIns="0" bIns="0" anchor="ctr">
            <a:spAutoFit/>
          </a:bodyPr>
          <a:lstStyle/>
          <a:p>
            <a:pPr algn="l">
              <a:lnSpc>
                <a:spcPct val="95000"/>
              </a:lnSpc>
            </a:pPr>
            <a:r>
              <a:rPr sz="1450" b="1" i="1">
                <a:solidFill>
                  <a:srgbClr val="F5F5F7"/>
                </a:solidFill>
                <a:latin typeface="Barlow Condensed"/>
              </a:rPr>
              <a:t>CHICANES MISSING</a:t>
            </a:r>
          </a:p>
        </p:txBody>
      </p:sp>
      <p:sp>
        <p:nvSpPr>
          <p:cNvPr id="53" name="TextBox 52"/>
          <p:cNvSpPr txBox="1"/>
          <p:nvPr/>
        </p:nvSpPr>
        <p:spPr>
          <a:xfrm>
            <a:off x="4617720" y="5394960"/>
            <a:ext cx="3246120" cy="521207"/>
          </a:xfrm>
          <a:prstGeom prst="rect">
            <a:avLst/>
          </a:prstGeom>
          <a:noFill/>
        </p:spPr>
        <p:txBody>
          <a:bodyPr wrap="square" lIns="0" rIns="0" tIns="0" bIns="0" anchor="ctr">
            <a:spAutoFit/>
          </a:bodyPr>
          <a:lstStyle/>
          <a:p>
            <a:pPr algn="l">
              <a:lnSpc>
                <a:spcPct val="100000"/>
              </a:lnSpc>
            </a:pPr>
            <a:r>
              <a:rPr sz="1150" b="0" i="0">
                <a:solidFill>
                  <a:srgbClr val="A9A9B8"/>
                </a:solidFill>
                <a:latin typeface="Barlow"/>
              </a:rPr>
              <a:t>smoothing flattened the geometry</a:t>
            </a:r>
          </a:p>
        </p:txBody>
      </p:sp>
      <p:sp>
        <p:nvSpPr>
          <p:cNvPr id="54" name="TextBox 53"/>
          <p:cNvSpPr txBox="1"/>
          <p:nvPr/>
        </p:nvSpPr>
        <p:spPr>
          <a:xfrm>
            <a:off x="8001000" y="5394960"/>
            <a:ext cx="2697480" cy="521207"/>
          </a:xfrm>
          <a:prstGeom prst="rect">
            <a:avLst/>
          </a:prstGeom>
          <a:noFill/>
        </p:spPr>
        <p:txBody>
          <a:bodyPr wrap="square" lIns="0" rIns="0" tIns="0" bIns="0" anchor="ctr">
            <a:spAutoFit/>
          </a:bodyPr>
          <a:lstStyle/>
          <a:p>
            <a:pPr algn="l">
              <a:lnSpc>
                <a:spcPct val="100000"/>
              </a:lnSpc>
            </a:pPr>
            <a:r>
              <a:rPr sz="1150" b="0" i="0">
                <a:solidFill>
                  <a:srgbClr val="F5F5F7"/>
                </a:solidFill>
                <a:latin typeface="Barlow"/>
              </a:rPr>
              <a:t>corners from braking zones in the speed trace</a:t>
            </a:r>
          </a:p>
        </p:txBody>
      </p:sp>
      <p:sp>
        <p:nvSpPr>
          <p:cNvPr id="55" name="Parallelogram 54"/>
          <p:cNvSpPr/>
          <p:nvPr/>
        </p:nvSpPr>
        <p:spPr>
          <a:xfrm>
            <a:off x="10808208" y="5513832"/>
            <a:ext cx="749808" cy="283464"/>
          </a:xfrm>
          <a:prstGeom prst="parallelogram">
            <a:avLst>
              <a:gd name="adj" fmla="val 25000"/>
            </a:avLst>
          </a:prstGeom>
          <a:solidFill>
            <a:srgbClr val="123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i="1" spc="100">
                <a:solidFill>
                  <a:srgbClr val="7BE39A"/>
                </a:solidFill>
                <a:latin typeface="Barlow Condensed"/>
              </a:rPr>
              <a:t>FIXED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HOW IT EVOLVED</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14</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853418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HOW IT EVOLVED</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FROM NOTEBOOK </a:t>
            </a:r>
            <a:r>
              <a:rPr sz="4600" b="1" i="1">
                <a:solidFill>
                  <a:srgbClr val="E10600"/>
                </a:solidFill>
                <a:latin typeface="Barlow Condensed"/>
              </a:rPr>
              <a:t>TO PIT WALL.</a:t>
            </a:r>
          </a:p>
        </p:txBody>
      </p:sp>
      <p:cxnSp>
        <p:nvCxnSpPr>
          <p:cNvPr id="10" name="Connector 9"/>
          <p:cNvCxnSpPr/>
          <p:nvPr/>
        </p:nvCxnSpPr>
        <p:spPr>
          <a:xfrm>
            <a:off x="685800" y="3310128"/>
            <a:ext cx="10835640" cy="0"/>
          </a:xfrm>
          <a:prstGeom prst="line">
            <a:avLst/>
          </a:prstGeom>
          <a:ln w="25400">
            <a:solidFill>
              <a:srgbClr val="2A2A3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416552" y="3310128"/>
            <a:ext cx="7104888" cy="0"/>
          </a:xfrm>
          <a:prstGeom prst="line">
            <a:avLst/>
          </a:prstGeom>
          <a:ln w="38100">
            <a:solidFill>
              <a:srgbClr val="E106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1901952"/>
            <a:ext cx="1783080" cy="274320"/>
          </a:xfrm>
          <a:prstGeom prst="rect">
            <a:avLst/>
          </a:prstGeom>
          <a:noFill/>
        </p:spPr>
        <p:txBody>
          <a:bodyPr wrap="square" lIns="0" rIns="0" tIns="0" bIns="0" anchor="t">
            <a:spAutoFit/>
          </a:bodyPr>
          <a:lstStyle/>
          <a:p>
            <a:pPr algn="l"/>
            <a:r>
              <a:rPr sz="1100" b="0" i="0">
                <a:solidFill>
                  <a:srgbClr val="6E6E7E"/>
                </a:solidFill>
                <a:latin typeface="JetBrains Mono"/>
              </a:rPr>
              <a:t>2026-07-10</a:t>
            </a:r>
          </a:p>
        </p:txBody>
      </p:sp>
      <p:sp>
        <p:nvSpPr>
          <p:cNvPr id="13" name="TextBox 12"/>
          <p:cNvSpPr txBox="1"/>
          <p:nvPr/>
        </p:nvSpPr>
        <p:spPr>
          <a:xfrm>
            <a:off x="548640" y="2176272"/>
            <a:ext cx="1783080" cy="822960"/>
          </a:xfrm>
          <a:prstGeom prst="rect">
            <a:avLst/>
          </a:prstGeom>
          <a:noFill/>
        </p:spPr>
        <p:txBody>
          <a:bodyPr wrap="square" lIns="0" rIns="0" tIns="0" bIns="0" anchor="t">
            <a:spAutoFit/>
          </a:bodyPr>
          <a:lstStyle/>
          <a:p>
            <a:pPr algn="l"/>
            <a:r>
              <a:rPr sz="4400" b="1" i="1">
                <a:solidFill>
                  <a:srgbClr val="A9A9B8"/>
                </a:solidFill>
                <a:latin typeface="Barlow Condensed"/>
              </a:rPr>
              <a:t>V1</a:t>
            </a:r>
          </a:p>
        </p:txBody>
      </p:sp>
      <p:sp>
        <p:nvSpPr>
          <p:cNvPr id="14" name="Oval 13"/>
          <p:cNvSpPr/>
          <p:nvPr/>
        </p:nvSpPr>
        <p:spPr>
          <a:xfrm>
            <a:off x="566928" y="3172968"/>
            <a:ext cx="274320" cy="274320"/>
          </a:xfrm>
          <a:prstGeom prst="ellipse">
            <a:avLst/>
          </a:prstGeom>
          <a:solidFill>
            <a:srgbClr val="1C1C27"/>
          </a:solidFill>
          <a:ln w="19050">
            <a:solidFill>
              <a:srgbClr val="6E6E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657600"/>
            <a:ext cx="1719072" cy="1463040"/>
          </a:xfrm>
          <a:prstGeom prst="rect">
            <a:avLst/>
          </a:prstGeom>
          <a:noFill/>
        </p:spPr>
        <p:txBody>
          <a:bodyPr wrap="square" lIns="0" rIns="0" tIns="0" bIns="0" anchor="t">
            <a:spAutoFit/>
          </a:bodyPr>
          <a:lstStyle/>
          <a:p>
            <a:pPr algn="l">
              <a:lnSpc>
                <a:spcPct val="112000"/>
              </a:lnSpc>
            </a:pPr>
            <a:r>
              <a:rPr sz="1250" b="0" i="0">
                <a:solidFill>
                  <a:srgbClr val="6E6E7E"/>
                </a:solidFill>
                <a:latin typeface="Barlow"/>
              </a:rPr>
              <a:t>FastF1 pull, dedup and splits; Ridge baseline on lap time</a:t>
            </a:r>
          </a:p>
        </p:txBody>
      </p:sp>
      <p:sp>
        <p:nvSpPr>
          <p:cNvPr id="16" name="TextBox 15"/>
          <p:cNvSpPr txBox="1"/>
          <p:nvPr/>
        </p:nvSpPr>
        <p:spPr>
          <a:xfrm>
            <a:off x="2414016" y="1901952"/>
            <a:ext cx="1783080" cy="274320"/>
          </a:xfrm>
          <a:prstGeom prst="rect">
            <a:avLst/>
          </a:prstGeom>
          <a:noFill/>
        </p:spPr>
        <p:txBody>
          <a:bodyPr wrap="square" lIns="0" rIns="0" tIns="0" bIns="0" anchor="t">
            <a:spAutoFit/>
          </a:bodyPr>
          <a:lstStyle/>
          <a:p>
            <a:pPr algn="l"/>
            <a:r>
              <a:rPr sz="1100" b="0" i="0">
                <a:solidFill>
                  <a:srgbClr val="6E6E7E"/>
                </a:solidFill>
                <a:latin typeface="JetBrains Mono"/>
              </a:rPr>
              <a:t>2026-09-03</a:t>
            </a:r>
          </a:p>
        </p:txBody>
      </p:sp>
      <p:sp>
        <p:nvSpPr>
          <p:cNvPr id="17" name="TextBox 16"/>
          <p:cNvSpPr txBox="1"/>
          <p:nvPr/>
        </p:nvSpPr>
        <p:spPr>
          <a:xfrm>
            <a:off x="2414016" y="2176272"/>
            <a:ext cx="1783080" cy="822960"/>
          </a:xfrm>
          <a:prstGeom prst="rect">
            <a:avLst/>
          </a:prstGeom>
          <a:noFill/>
        </p:spPr>
        <p:txBody>
          <a:bodyPr wrap="square" lIns="0" rIns="0" tIns="0" bIns="0" anchor="t">
            <a:spAutoFit/>
          </a:bodyPr>
          <a:lstStyle/>
          <a:p>
            <a:pPr algn="l"/>
            <a:r>
              <a:rPr sz="4400" b="1" i="1">
                <a:solidFill>
                  <a:srgbClr val="A9A9B8"/>
                </a:solidFill>
                <a:latin typeface="Barlow Condensed"/>
              </a:rPr>
              <a:t>V1.X</a:t>
            </a:r>
          </a:p>
        </p:txBody>
      </p:sp>
      <p:sp>
        <p:nvSpPr>
          <p:cNvPr id="18" name="Oval 17"/>
          <p:cNvSpPr/>
          <p:nvPr/>
        </p:nvSpPr>
        <p:spPr>
          <a:xfrm>
            <a:off x="2432304" y="3172968"/>
            <a:ext cx="274320" cy="274320"/>
          </a:xfrm>
          <a:prstGeom prst="ellipse">
            <a:avLst/>
          </a:prstGeom>
          <a:solidFill>
            <a:srgbClr val="1C1C27"/>
          </a:solidFill>
          <a:ln w="19050">
            <a:solidFill>
              <a:srgbClr val="6E6E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14016" y="3657600"/>
            <a:ext cx="1719072" cy="1463040"/>
          </a:xfrm>
          <a:prstGeom prst="rect">
            <a:avLst/>
          </a:prstGeom>
          <a:noFill/>
        </p:spPr>
        <p:txBody>
          <a:bodyPr wrap="square" lIns="0" rIns="0" tIns="0" bIns="0" anchor="t">
            <a:spAutoFit/>
          </a:bodyPr>
          <a:lstStyle/>
          <a:p>
            <a:pPr algn="l">
              <a:lnSpc>
                <a:spcPct val="112000"/>
              </a:lnSpc>
            </a:pPr>
            <a:r>
              <a:rPr sz="1250" b="0" i="0">
                <a:solidFill>
                  <a:srgbClr val="6E6E7E"/>
                </a:solidFill>
                <a:latin typeface="Barlow"/>
              </a:rPr>
              <a:t>per-compound models; tyre effect barely visible; round_number fix</a:t>
            </a:r>
          </a:p>
        </p:txBody>
      </p:sp>
      <p:sp>
        <p:nvSpPr>
          <p:cNvPr id="20" name="TextBox 19"/>
          <p:cNvSpPr txBox="1"/>
          <p:nvPr/>
        </p:nvSpPr>
        <p:spPr>
          <a:xfrm>
            <a:off x="4279392" y="1901952"/>
            <a:ext cx="1783080" cy="274320"/>
          </a:xfrm>
          <a:prstGeom prst="rect">
            <a:avLst/>
          </a:prstGeom>
          <a:noFill/>
        </p:spPr>
        <p:txBody>
          <a:bodyPr wrap="square" lIns="0" rIns="0" tIns="0" bIns="0" anchor="t">
            <a:spAutoFit/>
          </a:bodyPr>
          <a:lstStyle/>
          <a:p>
            <a:pPr algn="l"/>
            <a:r>
              <a:rPr sz="1100" b="0" i="0">
                <a:solidFill>
                  <a:srgbClr val="6E6E7E"/>
                </a:solidFill>
                <a:latin typeface="JetBrains Mono"/>
              </a:rPr>
              <a:t>2026-10-06</a:t>
            </a:r>
          </a:p>
        </p:txBody>
      </p:sp>
      <p:sp>
        <p:nvSpPr>
          <p:cNvPr id="21" name="TextBox 20"/>
          <p:cNvSpPr txBox="1"/>
          <p:nvPr/>
        </p:nvSpPr>
        <p:spPr>
          <a:xfrm>
            <a:off x="4279392" y="2176272"/>
            <a:ext cx="1783080" cy="822960"/>
          </a:xfrm>
          <a:prstGeom prst="rect">
            <a:avLst/>
          </a:prstGeom>
          <a:noFill/>
        </p:spPr>
        <p:txBody>
          <a:bodyPr wrap="square" lIns="0" rIns="0" tIns="0" bIns="0" anchor="t">
            <a:spAutoFit/>
          </a:bodyPr>
          <a:lstStyle/>
          <a:p>
            <a:pPr algn="l"/>
            <a:r>
              <a:rPr sz="4400" b="1" i="1">
                <a:solidFill>
                  <a:srgbClr val="F5F5F7"/>
                </a:solidFill>
                <a:latin typeface="Barlow Condensed"/>
              </a:rPr>
              <a:t>V2</a:t>
            </a:r>
          </a:p>
        </p:txBody>
      </p:sp>
      <p:sp>
        <p:nvSpPr>
          <p:cNvPr id="22" name="Oval 21"/>
          <p:cNvSpPr/>
          <p:nvPr/>
        </p:nvSpPr>
        <p:spPr>
          <a:xfrm>
            <a:off x="4297679" y="3172968"/>
            <a:ext cx="274320" cy="274320"/>
          </a:xfrm>
          <a:prstGeom prst="ellipse">
            <a:avLst/>
          </a:prstGeom>
          <a:solidFill>
            <a:srgbClr val="E10600"/>
          </a:solidFill>
          <a:ln w="19050">
            <a:solidFill>
              <a:srgbClr val="F5F5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79392" y="3657600"/>
            <a:ext cx="1719072" cy="1463040"/>
          </a:xfrm>
          <a:prstGeom prst="rect">
            <a:avLst/>
          </a:prstGeom>
          <a:noFill/>
        </p:spPr>
        <p:txBody>
          <a:bodyPr wrap="square" lIns="0" rIns="0" tIns="0" bIns="0" anchor="t">
            <a:spAutoFit/>
          </a:bodyPr>
          <a:lstStyle/>
          <a:p>
            <a:pPr algn="l">
              <a:lnSpc>
                <a:spcPct val="112000"/>
              </a:lnSpc>
            </a:pPr>
            <a:r>
              <a:rPr sz="1250" b="0" i="0">
                <a:solidFill>
                  <a:srgbClr val="A9A9B8"/>
                </a:solidFill>
                <a:latin typeface="Barlow"/>
              </a:rPr>
              <a:t>structural model, measured pit loss, SC chain, DP optimiser</a:t>
            </a:r>
          </a:p>
        </p:txBody>
      </p:sp>
      <p:sp>
        <p:nvSpPr>
          <p:cNvPr id="24" name="TextBox 23"/>
          <p:cNvSpPr txBox="1"/>
          <p:nvPr/>
        </p:nvSpPr>
        <p:spPr>
          <a:xfrm>
            <a:off x="6144768" y="1901952"/>
            <a:ext cx="1783080" cy="274320"/>
          </a:xfrm>
          <a:prstGeom prst="rect">
            <a:avLst/>
          </a:prstGeom>
          <a:noFill/>
        </p:spPr>
        <p:txBody>
          <a:bodyPr wrap="square" lIns="0" rIns="0" tIns="0" bIns="0" anchor="t">
            <a:spAutoFit/>
          </a:bodyPr>
          <a:lstStyle/>
          <a:p>
            <a:pPr algn="l"/>
            <a:r>
              <a:rPr sz="1100" b="0" i="0">
                <a:solidFill>
                  <a:srgbClr val="6E6E7E"/>
                </a:solidFill>
                <a:latin typeface="JetBrains Mono"/>
              </a:rPr>
              <a:t>2026-10-06</a:t>
            </a:r>
          </a:p>
        </p:txBody>
      </p:sp>
      <p:sp>
        <p:nvSpPr>
          <p:cNvPr id="25" name="TextBox 24"/>
          <p:cNvSpPr txBox="1"/>
          <p:nvPr/>
        </p:nvSpPr>
        <p:spPr>
          <a:xfrm>
            <a:off x="6144768" y="2176272"/>
            <a:ext cx="1783080" cy="822960"/>
          </a:xfrm>
          <a:prstGeom prst="rect">
            <a:avLst/>
          </a:prstGeom>
          <a:noFill/>
        </p:spPr>
        <p:txBody>
          <a:bodyPr wrap="square" lIns="0" rIns="0" tIns="0" bIns="0" anchor="t">
            <a:spAutoFit/>
          </a:bodyPr>
          <a:lstStyle/>
          <a:p>
            <a:pPr algn="l"/>
            <a:r>
              <a:rPr sz="4400" b="1" i="1">
                <a:solidFill>
                  <a:srgbClr val="F5F5F7"/>
                </a:solidFill>
                <a:latin typeface="Barlow Condensed"/>
              </a:rPr>
              <a:t>V2.1</a:t>
            </a:r>
          </a:p>
        </p:txBody>
      </p:sp>
      <p:sp>
        <p:nvSpPr>
          <p:cNvPr id="26" name="Oval 25"/>
          <p:cNvSpPr/>
          <p:nvPr/>
        </p:nvSpPr>
        <p:spPr>
          <a:xfrm>
            <a:off x="6163055" y="3172968"/>
            <a:ext cx="274320" cy="274320"/>
          </a:xfrm>
          <a:prstGeom prst="ellipse">
            <a:avLst/>
          </a:prstGeom>
          <a:solidFill>
            <a:srgbClr val="E10600"/>
          </a:solidFill>
          <a:ln w="19050">
            <a:solidFill>
              <a:srgbClr val="F5F5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44768" y="3657600"/>
            <a:ext cx="1719072" cy="1463040"/>
          </a:xfrm>
          <a:prstGeom prst="rect">
            <a:avLst/>
          </a:prstGeom>
          <a:noFill/>
        </p:spPr>
        <p:txBody>
          <a:bodyPr wrap="square" lIns="0" rIns="0" tIns="0" bIns="0" anchor="t">
            <a:spAutoFit/>
          </a:bodyPr>
          <a:lstStyle/>
          <a:p>
            <a:pPr algn="l">
              <a:lnSpc>
                <a:spcPct val="112000"/>
              </a:lnSpc>
            </a:pPr>
            <a:r>
              <a:rPr sz="1250" b="0" i="0">
                <a:solidFill>
                  <a:srgbClr val="A9A9B8"/>
                </a:solidFill>
                <a:latin typeface="Barlow"/>
              </a:rPr>
              <a:t>recency-weighted in-race fit (−18% error); leak-free pit-call model</a:t>
            </a:r>
          </a:p>
        </p:txBody>
      </p:sp>
      <p:sp>
        <p:nvSpPr>
          <p:cNvPr id="28" name="TextBox 27"/>
          <p:cNvSpPr txBox="1"/>
          <p:nvPr/>
        </p:nvSpPr>
        <p:spPr>
          <a:xfrm>
            <a:off x="8010144" y="1901952"/>
            <a:ext cx="1783080" cy="274320"/>
          </a:xfrm>
          <a:prstGeom prst="rect">
            <a:avLst/>
          </a:prstGeom>
          <a:noFill/>
        </p:spPr>
        <p:txBody>
          <a:bodyPr wrap="square" lIns="0" rIns="0" tIns="0" bIns="0" anchor="t">
            <a:spAutoFit/>
          </a:bodyPr>
          <a:lstStyle/>
          <a:p>
            <a:pPr algn="l"/>
            <a:r>
              <a:rPr sz="1100" b="0" i="0">
                <a:solidFill>
                  <a:srgbClr val="6E6E7E"/>
                </a:solidFill>
                <a:latin typeface="JetBrains Mono"/>
              </a:rPr>
              <a:t>2026-10-06</a:t>
            </a:r>
          </a:p>
        </p:txBody>
      </p:sp>
      <p:sp>
        <p:nvSpPr>
          <p:cNvPr id="29" name="TextBox 28"/>
          <p:cNvSpPr txBox="1"/>
          <p:nvPr/>
        </p:nvSpPr>
        <p:spPr>
          <a:xfrm>
            <a:off x="8010144" y="2176272"/>
            <a:ext cx="1783080" cy="822960"/>
          </a:xfrm>
          <a:prstGeom prst="rect">
            <a:avLst/>
          </a:prstGeom>
          <a:noFill/>
        </p:spPr>
        <p:txBody>
          <a:bodyPr wrap="square" lIns="0" rIns="0" tIns="0" bIns="0" anchor="t">
            <a:spAutoFit/>
          </a:bodyPr>
          <a:lstStyle/>
          <a:p>
            <a:pPr algn="l"/>
            <a:r>
              <a:rPr sz="4400" b="1" i="1">
                <a:solidFill>
                  <a:srgbClr val="F5F5F7"/>
                </a:solidFill>
                <a:latin typeface="Barlow Condensed"/>
              </a:rPr>
              <a:t>V2.2</a:t>
            </a:r>
          </a:p>
        </p:txBody>
      </p:sp>
      <p:sp>
        <p:nvSpPr>
          <p:cNvPr id="30" name="Oval 29"/>
          <p:cNvSpPr/>
          <p:nvPr/>
        </p:nvSpPr>
        <p:spPr>
          <a:xfrm>
            <a:off x="8028431" y="3172968"/>
            <a:ext cx="274320" cy="274320"/>
          </a:xfrm>
          <a:prstGeom prst="ellipse">
            <a:avLst/>
          </a:prstGeom>
          <a:solidFill>
            <a:srgbClr val="E10600"/>
          </a:solidFill>
          <a:ln w="19050">
            <a:solidFill>
              <a:srgbClr val="F5F5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0144" y="3657600"/>
            <a:ext cx="1719072" cy="1463040"/>
          </a:xfrm>
          <a:prstGeom prst="rect">
            <a:avLst/>
          </a:prstGeom>
          <a:noFill/>
        </p:spPr>
        <p:txBody>
          <a:bodyPr wrap="square" lIns="0" rIns="0" tIns="0" bIns="0" anchor="t">
            <a:spAutoFit/>
          </a:bodyPr>
          <a:lstStyle/>
          <a:p>
            <a:pPr algn="l">
              <a:lnSpc>
                <a:spcPct val="112000"/>
              </a:lnSpc>
            </a:pPr>
            <a:r>
              <a:rPr sz="1250" b="0" i="0">
                <a:solidFill>
                  <a:srgbClr val="A9A9B8"/>
                </a:solidFill>
                <a:latin typeface="Barlow"/>
              </a:rPr>
              <a:t>cinematic 3D app: real car model, race theatre</a:t>
            </a:r>
          </a:p>
        </p:txBody>
      </p:sp>
      <p:sp>
        <p:nvSpPr>
          <p:cNvPr id="32" name="TextBox 31"/>
          <p:cNvSpPr txBox="1"/>
          <p:nvPr/>
        </p:nvSpPr>
        <p:spPr>
          <a:xfrm>
            <a:off x="9875519" y="1901952"/>
            <a:ext cx="1783080" cy="274320"/>
          </a:xfrm>
          <a:prstGeom prst="rect">
            <a:avLst/>
          </a:prstGeom>
          <a:noFill/>
        </p:spPr>
        <p:txBody>
          <a:bodyPr wrap="square" lIns="0" rIns="0" tIns="0" bIns="0" anchor="t">
            <a:spAutoFit/>
          </a:bodyPr>
          <a:lstStyle/>
          <a:p>
            <a:pPr algn="l"/>
            <a:r>
              <a:rPr sz="1100" b="0" i="0">
                <a:solidFill>
                  <a:srgbClr val="6E6E7E"/>
                </a:solidFill>
                <a:latin typeface="JetBrains Mono"/>
              </a:rPr>
              <a:t>2026-10-06</a:t>
            </a:r>
          </a:p>
        </p:txBody>
      </p:sp>
      <p:sp>
        <p:nvSpPr>
          <p:cNvPr id="33" name="TextBox 32"/>
          <p:cNvSpPr txBox="1"/>
          <p:nvPr/>
        </p:nvSpPr>
        <p:spPr>
          <a:xfrm>
            <a:off x="9875519" y="2176272"/>
            <a:ext cx="1783080" cy="822960"/>
          </a:xfrm>
          <a:prstGeom prst="rect">
            <a:avLst/>
          </a:prstGeom>
          <a:noFill/>
        </p:spPr>
        <p:txBody>
          <a:bodyPr wrap="square" lIns="0" rIns="0" tIns="0" bIns="0" anchor="t">
            <a:spAutoFit/>
          </a:bodyPr>
          <a:lstStyle/>
          <a:p>
            <a:pPr algn="l"/>
            <a:r>
              <a:rPr sz="4400" b="1" i="1">
                <a:solidFill>
                  <a:srgbClr val="F5F5F7"/>
                </a:solidFill>
                <a:latin typeface="Barlow Condensed"/>
              </a:rPr>
              <a:t>V2.3</a:t>
            </a:r>
          </a:p>
        </p:txBody>
      </p:sp>
      <p:sp>
        <p:nvSpPr>
          <p:cNvPr id="34" name="Oval 33"/>
          <p:cNvSpPr/>
          <p:nvPr/>
        </p:nvSpPr>
        <p:spPr>
          <a:xfrm>
            <a:off x="9893807" y="3172968"/>
            <a:ext cx="274320" cy="274320"/>
          </a:xfrm>
          <a:prstGeom prst="ellipse">
            <a:avLst/>
          </a:prstGeom>
          <a:solidFill>
            <a:srgbClr val="E10600"/>
          </a:solidFill>
          <a:ln w="19050">
            <a:solidFill>
              <a:srgbClr val="F5F5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19" y="3657600"/>
            <a:ext cx="1719072" cy="1463040"/>
          </a:xfrm>
          <a:prstGeom prst="rect">
            <a:avLst/>
          </a:prstGeom>
          <a:noFill/>
        </p:spPr>
        <p:txBody>
          <a:bodyPr wrap="square" lIns="0" rIns="0" tIns="0" bIns="0" anchor="t">
            <a:spAutoFit/>
          </a:bodyPr>
          <a:lstStyle/>
          <a:p>
            <a:pPr algn="l">
              <a:lnSpc>
                <a:spcPct val="112000"/>
              </a:lnSpc>
            </a:pPr>
            <a:r>
              <a:rPr sz="1250" b="0" i="0">
                <a:solidFill>
                  <a:srgbClr val="A9A9B8"/>
                </a:solidFill>
                <a:latin typeface="Barlow"/>
              </a:rPr>
              <a:t>F1 broadcast redesign, What If, onboard, guide, corner cinematics</a:t>
            </a:r>
          </a:p>
        </p:txBody>
      </p:sp>
      <p:sp>
        <p:nvSpPr>
          <p:cNvPr id="36" name="Parallelogram 35"/>
          <p:cNvSpPr/>
          <p:nvPr/>
        </p:nvSpPr>
        <p:spPr>
          <a:xfrm>
            <a:off x="548640" y="4754880"/>
            <a:ext cx="1719072" cy="347472"/>
          </a:xfrm>
          <a:prstGeom prst="parallelogram">
            <a:avLst>
              <a:gd name="adj" fmla="val 25000"/>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i="1" spc="100">
                <a:solidFill>
                  <a:srgbClr val="A9A9B8"/>
                </a:solidFill>
                <a:latin typeface="Barlow Condensed"/>
              </a:rPr>
              <a:t>ABLATE FIRST</a:t>
            </a:r>
          </a:p>
        </p:txBody>
      </p:sp>
      <p:sp>
        <p:nvSpPr>
          <p:cNvPr id="37" name="Parallelogram 36"/>
          <p:cNvSpPr/>
          <p:nvPr/>
        </p:nvSpPr>
        <p:spPr>
          <a:xfrm>
            <a:off x="2414016" y="4754880"/>
            <a:ext cx="1719072" cy="347472"/>
          </a:xfrm>
          <a:prstGeom prst="parallelogram">
            <a:avLst>
              <a:gd name="adj" fmla="val 25000"/>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i="1" spc="100">
                <a:solidFill>
                  <a:srgbClr val="A9A9B8"/>
                </a:solidFill>
                <a:latin typeface="Barlow Condensed"/>
              </a:rPr>
              <a:t>NEGATIVES COUNT</a:t>
            </a:r>
          </a:p>
        </p:txBody>
      </p:sp>
      <p:sp>
        <p:nvSpPr>
          <p:cNvPr id="38" name="Parallelogram 37"/>
          <p:cNvSpPr/>
          <p:nvPr/>
        </p:nvSpPr>
        <p:spPr>
          <a:xfrm>
            <a:off x="4279392" y="4754880"/>
            <a:ext cx="1719072" cy="347472"/>
          </a:xfrm>
          <a:prstGeom prst="parallelogram">
            <a:avLst>
              <a:gd name="adj" fmla="val 25000"/>
            </a:avLst>
          </a:prstGeom>
          <a:solidFill>
            <a:srgbClr val="2A0B0A"/>
          </a:solidFill>
          <a:ln w="9525">
            <a:solidFill>
              <a:srgbClr val="E106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i="1" spc="100">
                <a:solidFill>
                  <a:srgbClr val="F5F5F7"/>
                </a:solidFill>
                <a:latin typeface="Barlow Condensed"/>
              </a:rPr>
              <a:t>MODEL THE BASE</a:t>
            </a:r>
          </a:p>
        </p:txBody>
      </p:sp>
      <p:sp>
        <p:nvSpPr>
          <p:cNvPr id="39" name="Parallelogram 38"/>
          <p:cNvSpPr/>
          <p:nvPr/>
        </p:nvSpPr>
        <p:spPr>
          <a:xfrm>
            <a:off x="6144768" y="4754880"/>
            <a:ext cx="1719072" cy="347472"/>
          </a:xfrm>
          <a:prstGeom prst="parallelogram">
            <a:avLst>
              <a:gd name="adj" fmla="val 25000"/>
            </a:avLst>
          </a:prstGeom>
          <a:solidFill>
            <a:srgbClr val="2A0B0A"/>
          </a:solidFill>
          <a:ln w="9525">
            <a:solidFill>
              <a:srgbClr val="E106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i="1" spc="100">
                <a:solidFill>
                  <a:srgbClr val="F5F5F7"/>
                </a:solidFill>
                <a:latin typeface="Barlow Condensed"/>
              </a:rPr>
              <a:t>LEAKS HIDE IN TIME</a:t>
            </a:r>
          </a:p>
        </p:txBody>
      </p:sp>
      <p:sp>
        <p:nvSpPr>
          <p:cNvPr id="40" name="Parallelogram 39"/>
          <p:cNvSpPr/>
          <p:nvPr/>
        </p:nvSpPr>
        <p:spPr>
          <a:xfrm>
            <a:off x="8010144" y="4754880"/>
            <a:ext cx="1719072" cy="347472"/>
          </a:xfrm>
          <a:prstGeom prst="parallelogram">
            <a:avLst>
              <a:gd name="adj" fmla="val 25000"/>
            </a:avLst>
          </a:prstGeom>
          <a:solidFill>
            <a:srgbClr val="2A0B0A"/>
          </a:solidFill>
          <a:ln w="9525">
            <a:solidFill>
              <a:srgbClr val="E106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i="1" spc="100">
                <a:solidFill>
                  <a:srgbClr val="F5F5F7"/>
                </a:solidFill>
                <a:latin typeface="Barlow Condensed"/>
              </a:rPr>
              <a:t>MAKE IT WATCHABLE</a:t>
            </a:r>
          </a:p>
        </p:txBody>
      </p:sp>
      <p:sp>
        <p:nvSpPr>
          <p:cNvPr id="41" name="Parallelogram 40"/>
          <p:cNvSpPr/>
          <p:nvPr/>
        </p:nvSpPr>
        <p:spPr>
          <a:xfrm>
            <a:off x="9875519" y="4754880"/>
            <a:ext cx="1719072" cy="347472"/>
          </a:xfrm>
          <a:prstGeom prst="parallelogram">
            <a:avLst>
              <a:gd name="adj" fmla="val 25000"/>
            </a:avLst>
          </a:prstGeom>
          <a:solidFill>
            <a:srgbClr val="2A0B0A"/>
          </a:solidFill>
          <a:ln w="9525">
            <a:solidFill>
              <a:srgbClr val="E106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i="1" spc="100">
                <a:solidFill>
                  <a:srgbClr val="F5F5F7"/>
                </a:solidFill>
                <a:latin typeface="Barlow Condensed"/>
              </a:rPr>
              <a:t>MAKE IT STABLE</a:t>
            </a:r>
          </a:p>
        </p:txBody>
      </p:sp>
      <p:sp>
        <p:nvSpPr>
          <p:cNvPr id="42" name="TextBox 41"/>
          <p:cNvSpPr txBox="1"/>
          <p:nvPr/>
        </p:nvSpPr>
        <p:spPr>
          <a:xfrm>
            <a:off x="548640" y="4462272"/>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WHAT EACH STEP TAUGHT</a:t>
            </a:r>
          </a:p>
        </p:txBody>
      </p:sp>
      <p:sp>
        <p:nvSpPr>
          <p:cNvPr id="43" name="Rectangle 42"/>
          <p:cNvSpPr/>
          <p:nvPr/>
        </p:nvSpPr>
        <p:spPr>
          <a:xfrm>
            <a:off x="548640" y="5349240"/>
            <a:ext cx="11091672" cy="658368"/>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5349240"/>
            <a:ext cx="54864" cy="658368"/>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5349240"/>
            <a:ext cx="10698480" cy="658368"/>
          </a:xfrm>
          <a:prstGeom prst="rect">
            <a:avLst/>
          </a:prstGeom>
          <a:noFill/>
        </p:spPr>
        <p:txBody>
          <a:bodyPr wrap="square" lIns="0" rIns="0" tIns="0" bIns="0" anchor="ctr">
            <a:spAutoFit/>
          </a:bodyPr>
          <a:lstStyle/>
          <a:p>
            <a:pPr algn="l"/>
            <a:r>
              <a:rPr sz="1400" b="0" i="0">
                <a:solidFill>
                  <a:srgbClr val="F5F5F7"/>
                </a:solidFill>
                <a:latin typeface="Barlow"/>
              </a:rPr>
              <a:t>Same data from July to October. What changed was the question asked of it: not “how fast is this lap?” but “how much slower than this driver's own pace today, and why?”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THE PRODUCT</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15</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9143771"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THE PRODUCT</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SIX VIEWS. </a:t>
            </a:r>
            <a:r>
              <a:rPr sz="4600" b="1" i="1">
                <a:solidFill>
                  <a:srgbClr val="E10600"/>
                </a:solidFill>
                <a:latin typeface="Barlow Condensed"/>
              </a:rPr>
              <a:t>ONE RACE ENGINEER.</a:t>
            </a:r>
          </a:p>
        </p:txBody>
      </p:sp>
      <p:pic>
        <p:nvPicPr>
          <p:cNvPr id="10" name="Picture 9" descr="theatre_shot.jpg"/>
          <p:cNvPicPr>
            <a:picLocks noChangeAspect="1"/>
          </p:cNvPicPr>
          <p:nvPr/>
        </p:nvPicPr>
        <p:blipFill>
          <a:blip r:embed="rId4"/>
          <a:srcRect t="10" b="10"/>
          <a:stretch>
            <a:fillRect/>
          </a:stretch>
        </p:blipFill>
        <p:spPr>
          <a:xfrm>
            <a:off x="548640" y="1783080"/>
            <a:ext cx="5852160" cy="4206240"/>
          </a:xfrm>
          <a:prstGeom prst="rect">
            <a:avLst/>
          </a:prstGeom>
          <a:ln w="9525">
            <a:solidFill>
              <a:srgbClr val="2A2A36"/>
            </a:solidFill>
          </a:ln>
        </p:spPr>
      </p:pic>
      <p:pic>
        <p:nvPicPr>
          <p:cNvPr id="11" name="Picture 10" descr="garage.jpg"/>
          <p:cNvPicPr>
            <a:picLocks noChangeAspect="1"/>
          </p:cNvPicPr>
          <p:nvPr/>
        </p:nvPicPr>
        <p:blipFill>
          <a:blip r:embed="rId5"/>
          <a:srcRect t="45" b="45"/>
          <a:stretch>
            <a:fillRect/>
          </a:stretch>
        </p:blipFill>
        <p:spPr>
          <a:xfrm>
            <a:off x="6583680" y="1783080"/>
            <a:ext cx="5056632" cy="2020824"/>
          </a:xfrm>
          <a:prstGeom prst="rect">
            <a:avLst/>
          </a:prstGeom>
          <a:ln w="9525">
            <a:solidFill>
              <a:srgbClr val="2A2A36"/>
            </a:solidFill>
          </a:ln>
        </p:spPr>
      </p:pic>
      <p:pic>
        <p:nvPicPr>
          <p:cNvPr id="12" name="Picture 11" descr="degradation_app.jpg"/>
          <p:cNvPicPr>
            <a:picLocks noChangeAspect="1"/>
          </p:cNvPicPr>
          <p:nvPr/>
        </p:nvPicPr>
        <p:blipFill>
          <a:blip r:embed="rId6"/>
          <a:srcRect t="17771" b="17771"/>
          <a:stretch>
            <a:fillRect/>
          </a:stretch>
        </p:blipFill>
        <p:spPr>
          <a:xfrm>
            <a:off x="6583680" y="3968496"/>
            <a:ext cx="5056632" cy="2020824"/>
          </a:xfrm>
          <a:prstGeom prst="rect">
            <a:avLst/>
          </a:prstGeom>
          <a:ln w="9525">
            <a:solidFill>
              <a:srgbClr val="2A2A36"/>
            </a:solidFill>
          </a:ln>
        </p:spPr>
      </p:pic>
      <p:sp>
        <p:nvSpPr>
          <p:cNvPr id="13" name="Parallelogram 12"/>
          <p:cNvSpPr/>
          <p:nvPr/>
        </p:nvSpPr>
        <p:spPr>
          <a:xfrm>
            <a:off x="713232" y="5550408"/>
            <a:ext cx="2697480" cy="310896"/>
          </a:xfrm>
          <a:prstGeom prst="parallelogram">
            <a:avLst>
              <a:gd name="adj" fmla="val 25000"/>
            </a:avLst>
          </a:prstGeom>
          <a:solidFill>
            <a:srgbClr val="0B0B10"/>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i="1" spc="100">
                <a:solidFill>
                  <a:srgbClr val="F5F5F7"/>
                </a:solidFill>
                <a:latin typeface="Barlow Condensed"/>
              </a:rPr>
              <a:t>RACE THEATRE · DIRECTOR CAMERA</a:t>
            </a:r>
          </a:p>
        </p:txBody>
      </p:sp>
      <p:sp>
        <p:nvSpPr>
          <p:cNvPr id="14" name="Parallelogram 13"/>
          <p:cNvSpPr/>
          <p:nvPr/>
        </p:nvSpPr>
        <p:spPr>
          <a:xfrm>
            <a:off x="6748272" y="3364992"/>
            <a:ext cx="2103120" cy="310896"/>
          </a:xfrm>
          <a:prstGeom prst="parallelogram">
            <a:avLst>
              <a:gd name="adj" fmla="val 25000"/>
            </a:avLst>
          </a:prstGeom>
          <a:solidFill>
            <a:srgbClr val="0B0B10"/>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i="1" spc="100">
                <a:solidFill>
                  <a:srgbClr val="F5F5F7"/>
                </a:solidFill>
                <a:latin typeface="Barlow Condensed"/>
              </a:rPr>
              <a:t>PIT WALL · SPEC HOTSPOTS</a:t>
            </a:r>
          </a:p>
        </p:txBody>
      </p:sp>
      <p:sp>
        <p:nvSpPr>
          <p:cNvPr id="15" name="Parallelogram 14"/>
          <p:cNvSpPr/>
          <p:nvPr/>
        </p:nvSpPr>
        <p:spPr>
          <a:xfrm>
            <a:off x="6748272" y="5550408"/>
            <a:ext cx="2103120" cy="310896"/>
          </a:xfrm>
          <a:prstGeom prst="parallelogram">
            <a:avLst>
              <a:gd name="adj" fmla="val 25000"/>
            </a:avLst>
          </a:prstGeom>
          <a:solidFill>
            <a:srgbClr val="0B0B10"/>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i="1" spc="100">
                <a:solidFill>
                  <a:srgbClr val="F5F5F7"/>
                </a:solidFill>
                <a:latin typeface="Barlow Condensed"/>
              </a:rPr>
              <a:t>TYRE LAB · LIVE CURVES</a:t>
            </a:r>
          </a:p>
        </p:txBody>
      </p:sp>
      <p:sp>
        <p:nvSpPr>
          <p:cNvPr id="16" name="TextBox 15"/>
          <p:cNvSpPr txBox="1"/>
          <p:nvPr/>
        </p:nvSpPr>
        <p:spPr>
          <a:xfrm>
            <a:off x="548640" y="6053328"/>
            <a:ext cx="11064240" cy="274320"/>
          </a:xfrm>
          <a:prstGeom prst="rect">
            <a:avLst/>
          </a:prstGeom>
          <a:noFill/>
        </p:spPr>
        <p:txBody>
          <a:bodyPr wrap="square" lIns="0" rIns="0" tIns="0" bIns="0" anchor="t">
            <a:spAutoFit/>
          </a:bodyPr>
          <a:lstStyle/>
          <a:p>
            <a:pPr algn="l"/>
            <a:r>
              <a:rPr sz="1200" b="1" i="0">
                <a:solidFill>
                  <a:srgbClr val="A9A9B8"/>
                </a:solidFill>
                <a:latin typeface="Barlow Condensed"/>
              </a:rPr>
              <a:t>Pit Wall · Race Theatre · Onboard · What If · Tyre Lab · Proof</a:t>
            </a:r>
            <a:r>
              <a:rPr sz="1100" b="1" i="0">
                <a:solidFill>
                  <a:srgbClr val="E10600"/>
                </a:solidFill>
                <a:latin typeface="JetBrains Mono"/>
              </a:rPr>
              <a:t>     live: b25bb1004-wq.github.io/F1-Pitstop_Strategy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WHAT IF</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16</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975335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WHAT IF</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CHANGE ONE THING. </a:t>
            </a:r>
            <a:r>
              <a:rPr sz="4600" b="1" i="1">
                <a:solidFill>
                  <a:srgbClr val="E10600"/>
                </a:solidFill>
                <a:latin typeface="Barlow Condensed"/>
              </a:rPr>
              <a:t>RERUN THE RACE.</a:t>
            </a:r>
          </a:p>
        </p:txBody>
      </p:sp>
      <p:sp>
        <p:nvSpPr>
          <p:cNvPr id="10" name="Rectangle 9"/>
          <p:cNvSpPr/>
          <p:nvPr/>
        </p:nvSpPr>
        <p:spPr>
          <a:xfrm>
            <a:off x="548640" y="1783080"/>
            <a:ext cx="7223760" cy="530352"/>
          </a:xfrm>
          <a:prstGeom prst="rect">
            <a:avLst/>
          </a:prstGeom>
          <a:solidFill>
            <a:srgbClr val="1C1C27"/>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83080"/>
            <a:ext cx="54864" cy="530352"/>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1783080"/>
            <a:ext cx="5486400" cy="530352"/>
          </a:xfrm>
          <a:prstGeom prst="rect">
            <a:avLst/>
          </a:prstGeom>
          <a:noFill/>
        </p:spPr>
        <p:txBody>
          <a:bodyPr wrap="square" lIns="0" rIns="0" tIns="0" bIns="0" anchor="ctr">
            <a:spAutoFit/>
          </a:bodyPr>
          <a:lstStyle/>
          <a:p>
            <a:pPr algn="l"/>
            <a:r>
              <a:rPr sz="1400" b="0" i="0">
                <a:solidFill>
                  <a:srgbClr val="F5F5F7"/>
                </a:solidFill>
                <a:latin typeface="Barlow"/>
              </a:rPr>
              <a:t>What if Leclerc had followed Pitwall's strategy at Monza?</a:t>
            </a:r>
          </a:p>
        </p:txBody>
      </p:sp>
      <p:sp>
        <p:nvSpPr>
          <p:cNvPr id="13" name="Parallelogram 12"/>
          <p:cNvSpPr/>
          <p:nvPr/>
        </p:nvSpPr>
        <p:spPr>
          <a:xfrm>
            <a:off x="6537960" y="1865376"/>
            <a:ext cx="1115568" cy="365760"/>
          </a:xfrm>
          <a:prstGeom prst="parallelogram">
            <a:avLst>
              <a:gd name="adj" fmla="val 25000"/>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i="1" spc="100">
                <a:solidFill>
                  <a:srgbClr val="F5F5F7"/>
                </a:solidFill>
                <a:latin typeface="Barlow Condensed"/>
              </a:rPr>
              <a:t>RUN IT</a:t>
            </a:r>
          </a:p>
        </p:txBody>
      </p:sp>
      <p:pic>
        <p:nvPicPr>
          <p:cNvPr id="14" name="Picture 13" descr="whatif.jpg"/>
          <p:cNvPicPr>
            <a:picLocks noChangeAspect="1"/>
          </p:cNvPicPr>
          <p:nvPr/>
        </p:nvPicPr>
        <p:blipFill>
          <a:blip r:embed="rId4"/>
          <a:srcRect t="17" b="17"/>
          <a:stretch>
            <a:fillRect/>
          </a:stretch>
        </p:blipFill>
        <p:spPr>
          <a:xfrm>
            <a:off x="548640" y="2468880"/>
            <a:ext cx="7223760" cy="2578608"/>
          </a:xfrm>
          <a:prstGeom prst="rect">
            <a:avLst/>
          </a:prstGeom>
          <a:ln w="9525">
            <a:solidFill>
              <a:srgbClr val="2A2A36"/>
            </a:solidFill>
          </a:ln>
        </p:spPr>
      </p:pic>
      <p:sp>
        <p:nvSpPr>
          <p:cNvPr id="15" name="Rectangle 14"/>
          <p:cNvSpPr/>
          <p:nvPr/>
        </p:nvSpPr>
        <p:spPr>
          <a:xfrm>
            <a:off x="548640" y="5212080"/>
            <a:ext cx="2359152" cy="841248"/>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30352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RESULT</a:t>
            </a:r>
          </a:p>
        </p:txBody>
      </p:sp>
      <p:sp>
        <p:nvSpPr>
          <p:cNvPr id="17" name="TextBox 16"/>
          <p:cNvSpPr txBox="1"/>
          <p:nvPr/>
        </p:nvSpPr>
        <p:spPr>
          <a:xfrm>
            <a:off x="731520" y="5532120"/>
            <a:ext cx="2103120" cy="457200"/>
          </a:xfrm>
          <a:prstGeom prst="rect">
            <a:avLst/>
          </a:prstGeom>
          <a:noFill/>
        </p:spPr>
        <p:txBody>
          <a:bodyPr wrap="square" lIns="0" rIns="0" tIns="0" bIns="0" anchor="t">
            <a:spAutoFit/>
          </a:bodyPr>
          <a:lstStyle/>
          <a:p>
            <a:pPr algn="l"/>
            <a:r>
              <a:rPr sz="2400" b="1" i="1">
                <a:solidFill>
                  <a:srgbClr val="E10600"/>
                </a:solidFill>
                <a:latin typeface="Barlow Condensed"/>
              </a:rPr>
              <a:t>P4 → P2</a:t>
            </a:r>
          </a:p>
        </p:txBody>
      </p:sp>
      <p:sp>
        <p:nvSpPr>
          <p:cNvPr id="18" name="Rectangle 17"/>
          <p:cNvSpPr/>
          <p:nvPr/>
        </p:nvSpPr>
        <p:spPr>
          <a:xfrm>
            <a:off x="2980944" y="5212080"/>
            <a:ext cx="2359152" cy="841248"/>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63824" y="530352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RACE TIME</a:t>
            </a:r>
          </a:p>
        </p:txBody>
      </p:sp>
      <p:sp>
        <p:nvSpPr>
          <p:cNvPr id="20" name="TextBox 19"/>
          <p:cNvSpPr txBox="1"/>
          <p:nvPr/>
        </p:nvSpPr>
        <p:spPr>
          <a:xfrm>
            <a:off x="3163824" y="5532120"/>
            <a:ext cx="2103120" cy="457200"/>
          </a:xfrm>
          <a:prstGeom prst="rect">
            <a:avLst/>
          </a:prstGeom>
          <a:noFill/>
        </p:spPr>
        <p:txBody>
          <a:bodyPr wrap="square" lIns="0" rIns="0" tIns="0" bIns="0" anchor="t">
            <a:spAutoFit/>
          </a:bodyPr>
          <a:lstStyle/>
          <a:p>
            <a:pPr algn="l"/>
            <a:r>
              <a:rPr sz="2400" b="1" i="1">
                <a:solidFill>
                  <a:srgbClr val="2A8BDB"/>
                </a:solidFill>
                <a:latin typeface="Barlow Condensed"/>
              </a:rPr>
              <a:t>−13.0 s</a:t>
            </a:r>
          </a:p>
        </p:txBody>
      </p:sp>
      <p:sp>
        <p:nvSpPr>
          <p:cNvPr id="21" name="Rectangle 20"/>
          <p:cNvSpPr/>
          <p:nvPr/>
        </p:nvSpPr>
        <p:spPr>
          <a:xfrm>
            <a:off x="5413248" y="5212080"/>
            <a:ext cx="2359152" cy="841248"/>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96128" y="5303520"/>
            <a:ext cx="3657600" cy="228600"/>
          </a:xfrm>
          <a:prstGeom prst="rect">
            <a:avLst/>
          </a:prstGeom>
          <a:noFill/>
        </p:spPr>
        <p:txBody>
          <a:bodyPr wrap="square" lIns="0" rIns="0" tIns="0" bIns="0" anchor="t">
            <a:spAutoFit/>
          </a:bodyPr>
          <a:lstStyle/>
          <a:p>
            <a:pPr algn="l"/>
            <a:r>
              <a:rPr sz="1050" b="1" i="0" spc="200">
                <a:solidFill>
                  <a:srgbClr val="6E6E7E"/>
                </a:solidFill>
                <a:latin typeface="Barlow Condensed"/>
              </a:rPr>
              <a:t>STRATEGY</a:t>
            </a:r>
          </a:p>
        </p:txBody>
      </p:sp>
      <p:sp>
        <p:nvSpPr>
          <p:cNvPr id="23" name="TextBox 22"/>
          <p:cNvSpPr txBox="1"/>
          <p:nvPr/>
        </p:nvSpPr>
        <p:spPr>
          <a:xfrm>
            <a:off x="5596128" y="5532120"/>
            <a:ext cx="2103120" cy="457200"/>
          </a:xfrm>
          <a:prstGeom prst="rect">
            <a:avLst/>
          </a:prstGeom>
          <a:noFill/>
        </p:spPr>
        <p:txBody>
          <a:bodyPr wrap="square" lIns="0" rIns="0" tIns="0" bIns="0" anchor="t">
            <a:spAutoFit/>
          </a:bodyPr>
          <a:lstStyle/>
          <a:p>
            <a:pPr algn="l"/>
            <a:r>
              <a:rPr sz="2400" b="1" i="1">
                <a:solidFill>
                  <a:srgbClr val="F5F5F7"/>
                </a:solidFill>
                <a:latin typeface="Barlow Condensed"/>
              </a:rPr>
              <a:t>lap 28 for softs</a:t>
            </a:r>
          </a:p>
        </p:txBody>
      </p:sp>
      <p:sp>
        <p:nvSpPr>
          <p:cNvPr id="24" name="TextBox 23"/>
          <p:cNvSpPr txBox="1"/>
          <p:nvPr/>
        </p:nvSpPr>
        <p:spPr>
          <a:xfrm>
            <a:off x="8092440" y="1783080"/>
            <a:ext cx="548640" cy="457200"/>
          </a:xfrm>
          <a:prstGeom prst="rect">
            <a:avLst/>
          </a:prstGeom>
          <a:noFill/>
        </p:spPr>
        <p:txBody>
          <a:bodyPr wrap="square" lIns="0" rIns="0" tIns="0" bIns="0" anchor="t">
            <a:spAutoFit/>
          </a:bodyPr>
          <a:lstStyle/>
          <a:p>
            <a:pPr algn="l"/>
            <a:r>
              <a:rPr sz="2600" b="1" i="1">
                <a:solidFill>
                  <a:srgbClr val="E10600"/>
                </a:solidFill>
                <a:latin typeface="Barlow Condensed"/>
              </a:rPr>
              <a:t>01</a:t>
            </a:r>
          </a:p>
        </p:txBody>
      </p:sp>
      <p:sp>
        <p:nvSpPr>
          <p:cNvPr id="25" name="TextBox 24"/>
          <p:cNvSpPr txBox="1"/>
          <p:nvPr/>
        </p:nvSpPr>
        <p:spPr>
          <a:xfrm>
            <a:off x="8686800" y="1801368"/>
            <a:ext cx="2926080" cy="292608"/>
          </a:xfrm>
          <a:prstGeom prst="rect">
            <a:avLst/>
          </a:prstGeom>
          <a:noFill/>
        </p:spPr>
        <p:txBody>
          <a:bodyPr wrap="square" lIns="0" rIns="0" tIns="0" bIns="0" anchor="t">
            <a:spAutoFit/>
          </a:bodyPr>
          <a:lstStyle/>
          <a:p>
            <a:pPr algn="l"/>
            <a:r>
              <a:rPr sz="1500" b="1" i="1">
                <a:solidFill>
                  <a:srgbClr val="F5F5F7"/>
                </a:solidFill>
                <a:latin typeface="Barlow Condensed"/>
              </a:rPr>
              <a:t>PARSE</a:t>
            </a:r>
          </a:p>
        </p:txBody>
      </p:sp>
      <p:sp>
        <p:nvSpPr>
          <p:cNvPr id="26" name="TextBox 25"/>
          <p:cNvSpPr txBox="1"/>
          <p:nvPr/>
        </p:nvSpPr>
        <p:spPr>
          <a:xfrm>
            <a:off x="8686800" y="2084831"/>
            <a:ext cx="2953512" cy="530352"/>
          </a:xfrm>
          <a:prstGeom prst="rect">
            <a:avLst/>
          </a:prstGeom>
          <a:noFill/>
        </p:spPr>
        <p:txBody>
          <a:bodyPr wrap="square" lIns="0" rIns="0" tIns="0" bIns="0" anchor="t">
            <a:spAutoFit/>
          </a:bodyPr>
          <a:lstStyle/>
          <a:p>
            <a:pPr algn="l">
              <a:lnSpc>
                <a:spcPct val="105000"/>
              </a:lnSpc>
            </a:pPr>
            <a:r>
              <a:rPr sz="1150" b="0" i="0">
                <a:solidFill>
                  <a:srgbClr val="A9A9B8"/>
                </a:solidFill>
                <a:latin typeface="Barlow"/>
              </a:rPr>
              <a:t>Deterministic. Anything it cannot place is reported, never guessed.</a:t>
            </a:r>
          </a:p>
        </p:txBody>
      </p:sp>
      <p:sp>
        <p:nvSpPr>
          <p:cNvPr id="27" name="TextBox 26"/>
          <p:cNvSpPr txBox="1"/>
          <p:nvPr/>
        </p:nvSpPr>
        <p:spPr>
          <a:xfrm>
            <a:off x="8092440" y="2642615"/>
            <a:ext cx="548640" cy="457200"/>
          </a:xfrm>
          <a:prstGeom prst="rect">
            <a:avLst/>
          </a:prstGeom>
          <a:noFill/>
        </p:spPr>
        <p:txBody>
          <a:bodyPr wrap="square" lIns="0" rIns="0" tIns="0" bIns="0" anchor="t">
            <a:spAutoFit/>
          </a:bodyPr>
          <a:lstStyle/>
          <a:p>
            <a:pPr algn="l"/>
            <a:r>
              <a:rPr sz="2600" b="1" i="1">
                <a:solidFill>
                  <a:srgbClr val="E10600"/>
                </a:solidFill>
                <a:latin typeface="Barlow Condensed"/>
              </a:rPr>
              <a:t>02</a:t>
            </a:r>
          </a:p>
        </p:txBody>
      </p:sp>
      <p:sp>
        <p:nvSpPr>
          <p:cNvPr id="28" name="TextBox 27"/>
          <p:cNvSpPr txBox="1"/>
          <p:nvPr/>
        </p:nvSpPr>
        <p:spPr>
          <a:xfrm>
            <a:off x="8686800" y="2660903"/>
            <a:ext cx="2926080" cy="292608"/>
          </a:xfrm>
          <a:prstGeom prst="rect">
            <a:avLst/>
          </a:prstGeom>
          <a:noFill/>
        </p:spPr>
        <p:txBody>
          <a:bodyPr wrap="square" lIns="0" rIns="0" tIns="0" bIns="0" anchor="t">
            <a:spAutoFit/>
          </a:bodyPr>
          <a:lstStyle/>
          <a:p>
            <a:pPr algn="l"/>
            <a:r>
              <a:rPr sz="1500" b="1" i="1">
                <a:solidFill>
                  <a:srgbClr val="F5F5F7"/>
                </a:solidFill>
                <a:latin typeface="Barlow Condensed"/>
              </a:rPr>
              <a:t>REAL PACE</a:t>
            </a:r>
          </a:p>
        </p:txBody>
      </p:sp>
      <p:sp>
        <p:nvSpPr>
          <p:cNvPr id="29" name="TextBox 28"/>
          <p:cNvSpPr txBox="1"/>
          <p:nvPr/>
        </p:nvSpPr>
        <p:spPr>
          <a:xfrm>
            <a:off x="8686800" y="2944368"/>
            <a:ext cx="2953512" cy="530352"/>
          </a:xfrm>
          <a:prstGeom prst="rect">
            <a:avLst/>
          </a:prstGeom>
          <a:noFill/>
        </p:spPr>
        <p:txBody>
          <a:bodyPr wrap="square" lIns="0" rIns="0" tIns="0" bIns="0" anchor="t">
            <a:spAutoFit/>
          </a:bodyPr>
          <a:lstStyle/>
          <a:p>
            <a:pPr algn="l">
              <a:lnSpc>
                <a:spcPct val="105000"/>
              </a:lnSpc>
            </a:pPr>
            <a:r>
              <a:rPr sz="1150" b="0" i="0">
                <a:solidFill>
                  <a:srgbClr val="A9A9B8"/>
                </a:solidFill>
                <a:latin typeface="Barlow"/>
              </a:rPr>
              <a:t>Each driver's clean pace, lap by lap, pit-lane time removed.</a:t>
            </a:r>
          </a:p>
        </p:txBody>
      </p:sp>
      <p:sp>
        <p:nvSpPr>
          <p:cNvPr id="30" name="TextBox 29"/>
          <p:cNvSpPr txBox="1"/>
          <p:nvPr/>
        </p:nvSpPr>
        <p:spPr>
          <a:xfrm>
            <a:off x="8092440" y="3502152"/>
            <a:ext cx="548640" cy="457200"/>
          </a:xfrm>
          <a:prstGeom prst="rect">
            <a:avLst/>
          </a:prstGeom>
          <a:noFill/>
        </p:spPr>
        <p:txBody>
          <a:bodyPr wrap="square" lIns="0" rIns="0" tIns="0" bIns="0" anchor="t">
            <a:spAutoFit/>
          </a:bodyPr>
          <a:lstStyle/>
          <a:p>
            <a:pPr algn="l"/>
            <a:r>
              <a:rPr sz="2600" b="1" i="1">
                <a:solidFill>
                  <a:srgbClr val="E10600"/>
                </a:solidFill>
                <a:latin typeface="Barlow Condensed"/>
              </a:rPr>
              <a:t>03</a:t>
            </a:r>
          </a:p>
        </p:txBody>
      </p:sp>
      <p:sp>
        <p:nvSpPr>
          <p:cNvPr id="31" name="TextBox 30"/>
          <p:cNvSpPr txBox="1"/>
          <p:nvPr/>
        </p:nvSpPr>
        <p:spPr>
          <a:xfrm>
            <a:off x="8686800" y="3520440"/>
            <a:ext cx="2926080" cy="292608"/>
          </a:xfrm>
          <a:prstGeom prst="rect">
            <a:avLst/>
          </a:prstGeom>
          <a:noFill/>
        </p:spPr>
        <p:txBody>
          <a:bodyPr wrap="square" lIns="0" rIns="0" tIns="0" bIns="0" anchor="t">
            <a:spAutoFit/>
          </a:bodyPr>
          <a:lstStyle/>
          <a:p>
            <a:pPr algn="l"/>
            <a:r>
              <a:rPr sz="1500" b="1" i="1">
                <a:solidFill>
                  <a:srgbClr val="F5F5F7"/>
                </a:solidFill>
                <a:latin typeface="Barlow Condensed"/>
              </a:rPr>
              <a:t>APPLY</a:t>
            </a:r>
          </a:p>
        </p:txBody>
      </p:sp>
      <p:sp>
        <p:nvSpPr>
          <p:cNvPr id="32" name="TextBox 31"/>
          <p:cNvSpPr txBox="1"/>
          <p:nvPr/>
        </p:nvSpPr>
        <p:spPr>
          <a:xfrm>
            <a:off x="8686800" y="3803904"/>
            <a:ext cx="2953512" cy="530352"/>
          </a:xfrm>
          <a:prstGeom prst="rect">
            <a:avLst/>
          </a:prstGeom>
          <a:noFill/>
        </p:spPr>
        <p:txBody>
          <a:bodyPr wrap="square" lIns="0" rIns="0" tIns="0" bIns="0" anchor="t">
            <a:spAutoFit/>
          </a:bodyPr>
          <a:lstStyle/>
          <a:p>
            <a:pPr algn="l">
              <a:lnSpc>
                <a:spcPct val="105000"/>
              </a:lnSpc>
            </a:pPr>
            <a:r>
              <a:rPr sz="1150" b="0" i="0">
                <a:solidFill>
                  <a:srgbClr val="A9A9B8"/>
                </a:solidFill>
                <a:latin typeface="Barlow"/>
              </a:rPr>
              <a:t>Tyre curves, pit loss and the optimiser change the laps that differ.</a:t>
            </a:r>
          </a:p>
        </p:txBody>
      </p:sp>
      <p:sp>
        <p:nvSpPr>
          <p:cNvPr id="33" name="TextBox 32"/>
          <p:cNvSpPr txBox="1"/>
          <p:nvPr/>
        </p:nvSpPr>
        <p:spPr>
          <a:xfrm>
            <a:off x="8092440" y="4361688"/>
            <a:ext cx="548640" cy="457200"/>
          </a:xfrm>
          <a:prstGeom prst="rect">
            <a:avLst/>
          </a:prstGeom>
          <a:noFill/>
        </p:spPr>
        <p:txBody>
          <a:bodyPr wrap="square" lIns="0" rIns="0" tIns="0" bIns="0" anchor="t">
            <a:spAutoFit/>
          </a:bodyPr>
          <a:lstStyle/>
          <a:p>
            <a:pPr algn="l"/>
            <a:r>
              <a:rPr sz="2600" b="1" i="1">
                <a:solidFill>
                  <a:srgbClr val="E10600"/>
                </a:solidFill>
                <a:latin typeface="Barlow Condensed"/>
              </a:rPr>
              <a:t>04</a:t>
            </a:r>
          </a:p>
        </p:txBody>
      </p:sp>
      <p:sp>
        <p:nvSpPr>
          <p:cNvPr id="34" name="TextBox 33"/>
          <p:cNvSpPr txBox="1"/>
          <p:nvPr/>
        </p:nvSpPr>
        <p:spPr>
          <a:xfrm>
            <a:off x="8686800" y="4379975"/>
            <a:ext cx="2926080" cy="292608"/>
          </a:xfrm>
          <a:prstGeom prst="rect">
            <a:avLst/>
          </a:prstGeom>
          <a:noFill/>
        </p:spPr>
        <p:txBody>
          <a:bodyPr wrap="square" lIns="0" rIns="0" tIns="0" bIns="0" anchor="t">
            <a:spAutoFit/>
          </a:bodyPr>
          <a:lstStyle/>
          <a:p>
            <a:pPr algn="l"/>
            <a:r>
              <a:rPr sz="1500" b="1" i="1">
                <a:solidFill>
                  <a:srgbClr val="F5F5F7"/>
                </a:solidFill>
                <a:latin typeface="Barlow Condensed"/>
              </a:rPr>
              <a:t>SAFETY CARS</a:t>
            </a:r>
          </a:p>
        </p:txBody>
      </p:sp>
      <p:sp>
        <p:nvSpPr>
          <p:cNvPr id="35" name="TextBox 34"/>
          <p:cNvSpPr txBox="1"/>
          <p:nvPr/>
        </p:nvSpPr>
        <p:spPr>
          <a:xfrm>
            <a:off x="8686800" y="4663440"/>
            <a:ext cx="2953512" cy="530352"/>
          </a:xfrm>
          <a:prstGeom prst="rect">
            <a:avLst/>
          </a:prstGeom>
          <a:noFill/>
        </p:spPr>
        <p:txBody>
          <a:bodyPr wrap="square" lIns="0" rIns="0" tIns="0" bIns="0" anchor="t">
            <a:spAutoFit/>
          </a:bodyPr>
          <a:lstStyle/>
          <a:p>
            <a:pPr algn="l">
              <a:lnSpc>
                <a:spcPct val="105000"/>
              </a:lnSpc>
            </a:pPr>
            <a:r>
              <a:rPr sz="1150" b="0" i="0">
                <a:solidFill>
                  <a:srgbClr val="A9A9B8"/>
                </a:solidFill>
                <a:latin typeface="Barlow"/>
              </a:rPr>
              <a:t>Queue events; lapped cars keep their deficit.</a:t>
            </a:r>
          </a:p>
        </p:txBody>
      </p:sp>
      <p:sp>
        <p:nvSpPr>
          <p:cNvPr id="36" name="TextBox 35"/>
          <p:cNvSpPr txBox="1"/>
          <p:nvPr/>
        </p:nvSpPr>
        <p:spPr>
          <a:xfrm>
            <a:off x="8092440" y="5221224"/>
            <a:ext cx="548640" cy="457200"/>
          </a:xfrm>
          <a:prstGeom prst="rect">
            <a:avLst/>
          </a:prstGeom>
          <a:noFill/>
        </p:spPr>
        <p:txBody>
          <a:bodyPr wrap="square" lIns="0" rIns="0" tIns="0" bIns="0" anchor="t">
            <a:spAutoFit/>
          </a:bodyPr>
          <a:lstStyle/>
          <a:p>
            <a:pPr algn="l"/>
            <a:r>
              <a:rPr sz="2600" b="1" i="1">
                <a:solidFill>
                  <a:srgbClr val="E10600"/>
                </a:solidFill>
                <a:latin typeface="Barlow Condensed"/>
              </a:rPr>
              <a:t>05</a:t>
            </a:r>
          </a:p>
        </p:txBody>
      </p:sp>
      <p:sp>
        <p:nvSpPr>
          <p:cNvPr id="37" name="TextBox 36"/>
          <p:cNvSpPr txBox="1"/>
          <p:nvPr/>
        </p:nvSpPr>
        <p:spPr>
          <a:xfrm>
            <a:off x="8686800" y="5239512"/>
            <a:ext cx="2926080" cy="292608"/>
          </a:xfrm>
          <a:prstGeom prst="rect">
            <a:avLst/>
          </a:prstGeom>
          <a:noFill/>
        </p:spPr>
        <p:txBody>
          <a:bodyPr wrap="square" lIns="0" rIns="0" tIns="0" bIns="0" anchor="t">
            <a:spAutoFit/>
          </a:bodyPr>
          <a:lstStyle/>
          <a:p>
            <a:pPr algn="l"/>
            <a:r>
              <a:rPr sz="1500" b="1" i="1">
                <a:solidFill>
                  <a:srgbClr val="F5F5F7"/>
                </a:solidFill>
                <a:latin typeface="Barlow Condensed"/>
              </a:rPr>
              <a:t>ANCHOR</a:t>
            </a:r>
          </a:p>
        </p:txBody>
      </p:sp>
      <p:sp>
        <p:nvSpPr>
          <p:cNvPr id="38" name="TextBox 37"/>
          <p:cNvSpPr txBox="1"/>
          <p:nvPr/>
        </p:nvSpPr>
        <p:spPr>
          <a:xfrm>
            <a:off x="8686800" y="5522976"/>
            <a:ext cx="2953512" cy="530352"/>
          </a:xfrm>
          <a:prstGeom prst="rect">
            <a:avLst/>
          </a:prstGeom>
          <a:noFill/>
        </p:spPr>
        <p:txBody>
          <a:bodyPr wrap="square" lIns="0" rIns="0" tIns="0" bIns="0" anchor="t">
            <a:spAutoFit/>
          </a:bodyPr>
          <a:lstStyle/>
          <a:p>
            <a:pPr algn="l">
              <a:lnSpc>
                <a:spcPct val="105000"/>
              </a:lnSpc>
            </a:pPr>
            <a:r>
              <a:rPr sz="1150" b="0" i="0">
                <a:solidFill>
                  <a:srgbClr val="A9A9B8"/>
                </a:solidFill>
                <a:latin typeface="Barlow"/>
              </a:rPr>
              <a:t>what-if clock = real clock + (what-if − baseline). No change = reality.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MAKING IT FEEL REAL</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17</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10362940"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MAKING IT FEEL REAL</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DIRECTED LIKE </a:t>
            </a:r>
            <a:r>
              <a:rPr sz="4600" b="1" i="1">
                <a:solidFill>
                  <a:srgbClr val="E10600"/>
                </a:solidFill>
                <a:latin typeface="Barlow Condensed"/>
              </a:rPr>
              <a:t>A BROADCAST.</a:t>
            </a:r>
          </a:p>
        </p:txBody>
      </p:sp>
      <p:pic>
        <p:nvPicPr>
          <p:cNvPr id="10" name="Picture 9" descr="onboard.jpg"/>
          <p:cNvPicPr>
            <a:picLocks noChangeAspect="1"/>
          </p:cNvPicPr>
          <p:nvPr/>
        </p:nvPicPr>
        <p:blipFill>
          <a:blip r:embed="rId4"/>
          <a:srcRect l="7" r="7"/>
          <a:stretch>
            <a:fillRect/>
          </a:stretch>
        </p:blipFill>
        <p:spPr>
          <a:xfrm>
            <a:off x="548640" y="1783080"/>
            <a:ext cx="6720840" cy="3694176"/>
          </a:xfrm>
          <a:prstGeom prst="rect">
            <a:avLst/>
          </a:prstGeom>
          <a:ln w="9525">
            <a:solidFill>
              <a:srgbClr val="2A2A36"/>
            </a:solidFill>
          </a:ln>
        </p:spPr>
      </p:pic>
      <p:sp>
        <p:nvSpPr>
          <p:cNvPr id="11" name="Parallelogram 10"/>
          <p:cNvSpPr/>
          <p:nvPr/>
        </p:nvSpPr>
        <p:spPr>
          <a:xfrm>
            <a:off x="713232" y="5029200"/>
            <a:ext cx="3017520" cy="310896"/>
          </a:xfrm>
          <a:prstGeom prst="parallelogram">
            <a:avLst>
              <a:gd name="adj" fmla="val 25000"/>
            </a:avLst>
          </a:prstGeom>
          <a:solidFill>
            <a:srgbClr val="0B0B10"/>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i="1" spc="100">
                <a:solidFill>
                  <a:srgbClr val="F5F5F7"/>
                </a:solidFill>
                <a:latin typeface="Barlow Condensed"/>
              </a:rPr>
              <a:t>ONBOARD · LONG LENS THROUGH MONZA'S ROGGIA</a:t>
            </a:r>
          </a:p>
        </p:txBody>
      </p:sp>
      <p:sp>
        <p:nvSpPr>
          <p:cNvPr id="12" name="TextBox 11"/>
          <p:cNvSpPr txBox="1"/>
          <p:nvPr/>
        </p:nvSpPr>
        <p:spPr>
          <a:xfrm>
            <a:off x="548640" y="5623560"/>
            <a:ext cx="6720840" cy="457200"/>
          </a:xfrm>
          <a:prstGeom prst="rect">
            <a:avLst/>
          </a:prstGeom>
          <a:noFill/>
        </p:spPr>
        <p:txBody>
          <a:bodyPr wrap="square" lIns="0" rIns="0" tIns="0" bIns="0" anchor="t">
            <a:spAutoFit/>
          </a:bodyPr>
          <a:lstStyle/>
          <a:p>
            <a:pPr algn="l"/>
            <a:r>
              <a:rPr sz="1200" b="0" i="0">
                <a:solidFill>
                  <a:srgbClr val="6E6E7E"/>
                </a:solidFill>
                <a:latin typeface="Barlow"/>
              </a:rPr>
              <a:t>Corner caption, apex speed and gear come from the real fastest lap.</a:t>
            </a:r>
          </a:p>
        </p:txBody>
      </p:sp>
      <p:sp>
        <p:nvSpPr>
          <p:cNvPr id="13" name="Rectangle 12"/>
          <p:cNvSpPr/>
          <p:nvPr/>
        </p:nvSpPr>
        <p:spPr>
          <a:xfrm>
            <a:off x="7498079" y="1783080"/>
            <a:ext cx="4142232" cy="768096"/>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79" y="1783080"/>
            <a:ext cx="54864" cy="76809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1847088"/>
            <a:ext cx="3840480" cy="292608"/>
          </a:xfrm>
          <a:prstGeom prst="rect">
            <a:avLst/>
          </a:prstGeom>
          <a:noFill/>
        </p:spPr>
        <p:txBody>
          <a:bodyPr wrap="square" lIns="0" rIns="0" tIns="0" bIns="0" anchor="t">
            <a:spAutoFit/>
          </a:bodyPr>
          <a:lstStyle/>
          <a:p>
            <a:pPr algn="l"/>
            <a:r>
              <a:rPr sz="1500" b="1" i="1">
                <a:solidFill>
                  <a:srgbClr val="F5F5F7"/>
                </a:solidFill>
                <a:latin typeface="Barlow Condensed"/>
              </a:rPr>
              <a:t>CORNERS FROM BRAKING</a:t>
            </a:r>
          </a:p>
        </p:txBody>
      </p:sp>
      <p:sp>
        <p:nvSpPr>
          <p:cNvPr id="16" name="TextBox 15"/>
          <p:cNvSpPr txBox="1"/>
          <p:nvPr/>
        </p:nvSpPr>
        <p:spPr>
          <a:xfrm>
            <a:off x="7726679" y="2167128"/>
            <a:ext cx="1920240" cy="320040"/>
          </a:xfrm>
          <a:prstGeom prst="rect">
            <a:avLst/>
          </a:prstGeom>
          <a:noFill/>
        </p:spPr>
        <p:txBody>
          <a:bodyPr wrap="square" lIns="0" rIns="0" tIns="0" bIns="0" anchor="t">
            <a:spAutoFit/>
          </a:bodyPr>
          <a:lstStyle/>
          <a:p>
            <a:pPr algn="l"/>
            <a:r>
              <a:rPr sz="1050" b="0" i="0">
                <a:solidFill>
                  <a:srgbClr val="E10600"/>
                </a:solidFill>
                <a:latin typeface="JetBrains Mono"/>
              </a:rPr>
              <a:t>Δv ≥ 20 km/h</a:t>
            </a:r>
          </a:p>
        </p:txBody>
      </p:sp>
      <p:sp>
        <p:nvSpPr>
          <p:cNvPr id="17" name="TextBox 16"/>
          <p:cNvSpPr txBox="1"/>
          <p:nvPr/>
        </p:nvSpPr>
        <p:spPr>
          <a:xfrm>
            <a:off x="9646920" y="2148840"/>
            <a:ext cx="1938528" cy="384048"/>
          </a:xfrm>
          <a:prstGeom prst="rect">
            <a:avLst/>
          </a:prstGeom>
          <a:noFill/>
        </p:spPr>
        <p:txBody>
          <a:bodyPr wrap="square" lIns="0" rIns="0" tIns="0" bIns="0" anchor="t">
            <a:spAutoFit/>
          </a:bodyPr>
          <a:lstStyle/>
          <a:p>
            <a:pPr algn="l">
              <a:lnSpc>
                <a:spcPct val="100000"/>
              </a:lnSpc>
            </a:pPr>
            <a:r>
              <a:rPr sz="1050" b="0" i="0">
                <a:solidFill>
                  <a:srgbClr val="A9A9B8"/>
                </a:solidFill>
                <a:latin typeface="Barlow"/>
              </a:rPr>
              <a:t>Monza: all 6 braking zones found</a:t>
            </a:r>
          </a:p>
        </p:txBody>
      </p:sp>
      <p:sp>
        <p:nvSpPr>
          <p:cNvPr id="18" name="Rectangle 17"/>
          <p:cNvSpPr/>
          <p:nvPr/>
        </p:nvSpPr>
        <p:spPr>
          <a:xfrm>
            <a:off x="7498079" y="2642615"/>
            <a:ext cx="4142232" cy="768096"/>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79" y="2642615"/>
            <a:ext cx="54864" cy="76809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26679" y="2706623"/>
            <a:ext cx="3840480" cy="292608"/>
          </a:xfrm>
          <a:prstGeom prst="rect">
            <a:avLst/>
          </a:prstGeom>
          <a:noFill/>
        </p:spPr>
        <p:txBody>
          <a:bodyPr wrap="square" lIns="0" rIns="0" tIns="0" bIns="0" anchor="t">
            <a:spAutoFit/>
          </a:bodyPr>
          <a:lstStyle/>
          <a:p>
            <a:pPr algn="l"/>
            <a:r>
              <a:rPr sz="1500" b="1" i="1">
                <a:solidFill>
                  <a:srgbClr val="F5F5F7"/>
                </a:solidFill>
                <a:latin typeface="Barlow Condensed"/>
              </a:rPr>
              <a:t>LONG-LENS TRACKSIDE CAMS</a:t>
            </a:r>
          </a:p>
        </p:txBody>
      </p:sp>
      <p:sp>
        <p:nvSpPr>
          <p:cNvPr id="21" name="TextBox 20"/>
          <p:cNvSpPr txBox="1"/>
          <p:nvPr/>
        </p:nvSpPr>
        <p:spPr>
          <a:xfrm>
            <a:off x="7726679" y="3026663"/>
            <a:ext cx="1920240" cy="320040"/>
          </a:xfrm>
          <a:prstGeom prst="rect">
            <a:avLst/>
          </a:prstGeom>
          <a:noFill/>
        </p:spPr>
        <p:txBody>
          <a:bodyPr wrap="square" lIns="0" rIns="0" tIns="0" bIns="0" anchor="t">
            <a:spAutoFit/>
          </a:bodyPr>
          <a:lstStyle/>
          <a:p>
            <a:pPr algn="l"/>
            <a:r>
              <a:rPr sz="1050" b="0" i="0">
                <a:solidFill>
                  <a:srgbClr val="E10600"/>
                </a:solidFill>
                <a:latin typeface="JetBrains Mono"/>
              </a:rPr>
              <a:t>fov = 2·atan(7.5 m / d)</a:t>
            </a:r>
          </a:p>
        </p:txBody>
      </p:sp>
      <p:sp>
        <p:nvSpPr>
          <p:cNvPr id="22" name="TextBox 21"/>
          <p:cNvSpPr txBox="1"/>
          <p:nvPr/>
        </p:nvSpPr>
        <p:spPr>
          <a:xfrm>
            <a:off x="9646920" y="3008375"/>
            <a:ext cx="1938528" cy="384048"/>
          </a:xfrm>
          <a:prstGeom prst="rect">
            <a:avLst/>
          </a:prstGeom>
          <a:noFill/>
        </p:spPr>
        <p:txBody>
          <a:bodyPr wrap="square" lIns="0" rIns="0" tIns="0" bIns="0" anchor="t">
            <a:spAutoFit/>
          </a:bodyPr>
          <a:lstStyle/>
          <a:p>
            <a:pPr algn="l">
              <a:lnSpc>
                <a:spcPct val="100000"/>
              </a:lnSpc>
            </a:pPr>
            <a:r>
              <a:rPr sz="1050" b="0" i="0">
                <a:solidFill>
                  <a:srgbClr val="A9A9B8"/>
                </a:solidFill>
                <a:latin typeface="Barlow"/>
              </a:rPr>
              <a:t>outside each corner, zooming to hold the car</a:t>
            </a:r>
          </a:p>
        </p:txBody>
      </p:sp>
      <p:sp>
        <p:nvSpPr>
          <p:cNvPr id="23" name="Rectangle 22"/>
          <p:cNvSpPr/>
          <p:nvPr/>
        </p:nvSpPr>
        <p:spPr>
          <a:xfrm>
            <a:off x="7498079" y="3502152"/>
            <a:ext cx="4142232" cy="768096"/>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79" y="3502152"/>
            <a:ext cx="54864" cy="76809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26679" y="3566160"/>
            <a:ext cx="3840480" cy="292608"/>
          </a:xfrm>
          <a:prstGeom prst="rect">
            <a:avLst/>
          </a:prstGeom>
          <a:noFill/>
        </p:spPr>
        <p:txBody>
          <a:bodyPr wrap="square" lIns="0" rIns="0" tIns="0" bIns="0" anchor="t">
            <a:spAutoFit/>
          </a:bodyPr>
          <a:lstStyle/>
          <a:p>
            <a:pPr algn="l"/>
            <a:r>
              <a:rPr sz="1500" b="1" i="1">
                <a:solidFill>
                  <a:srgbClr val="F5F5F7"/>
                </a:solidFill>
                <a:latin typeface="Barlow Condensed"/>
              </a:rPr>
              <a:t>STEERING FROM CURVATURE</a:t>
            </a:r>
          </a:p>
        </p:txBody>
      </p:sp>
      <p:sp>
        <p:nvSpPr>
          <p:cNvPr id="26" name="TextBox 25"/>
          <p:cNvSpPr txBox="1"/>
          <p:nvPr/>
        </p:nvSpPr>
        <p:spPr>
          <a:xfrm>
            <a:off x="7726679" y="3886200"/>
            <a:ext cx="1920240" cy="320040"/>
          </a:xfrm>
          <a:prstGeom prst="rect">
            <a:avLst/>
          </a:prstGeom>
          <a:noFill/>
        </p:spPr>
        <p:txBody>
          <a:bodyPr wrap="square" lIns="0" rIns="0" tIns="0" bIns="0" anchor="t">
            <a:spAutoFit/>
          </a:bodyPr>
          <a:lstStyle/>
          <a:p>
            <a:pPr algn="l"/>
            <a:r>
              <a:rPr sz="1050" b="0" i="0">
                <a:solidFill>
                  <a:srgbClr val="E10600"/>
                </a:solidFill>
                <a:latin typeface="JetBrains Mono"/>
              </a:rPr>
              <a:t>δ = atan(3.6 m × κ)</a:t>
            </a:r>
          </a:p>
        </p:txBody>
      </p:sp>
      <p:sp>
        <p:nvSpPr>
          <p:cNvPr id="27" name="TextBox 26"/>
          <p:cNvSpPr txBox="1"/>
          <p:nvPr/>
        </p:nvSpPr>
        <p:spPr>
          <a:xfrm>
            <a:off x="9646920" y="3867912"/>
            <a:ext cx="1938528" cy="384048"/>
          </a:xfrm>
          <a:prstGeom prst="rect">
            <a:avLst/>
          </a:prstGeom>
          <a:noFill/>
        </p:spPr>
        <p:txBody>
          <a:bodyPr wrap="square" lIns="0" rIns="0" tIns="0" bIns="0" anchor="t">
            <a:spAutoFit/>
          </a:bodyPr>
          <a:lstStyle/>
          <a:p>
            <a:pPr algn="l">
              <a:lnSpc>
                <a:spcPct val="100000"/>
              </a:lnSpc>
            </a:pPr>
            <a:r>
              <a:rPr sz="1050" b="0" i="0">
                <a:solidFill>
                  <a:srgbClr val="A9A9B8"/>
                </a:solidFill>
                <a:latin typeface="Barlow"/>
              </a:rPr>
              <a:t>front wheels turn into each corner</a:t>
            </a:r>
          </a:p>
        </p:txBody>
      </p:sp>
      <p:sp>
        <p:nvSpPr>
          <p:cNvPr id="28" name="Rectangle 27"/>
          <p:cNvSpPr/>
          <p:nvPr/>
        </p:nvSpPr>
        <p:spPr>
          <a:xfrm>
            <a:off x="7498079" y="4361688"/>
            <a:ext cx="4142232" cy="768096"/>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98079" y="4361688"/>
            <a:ext cx="54864" cy="76809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26679" y="4425696"/>
            <a:ext cx="3840480" cy="292608"/>
          </a:xfrm>
          <a:prstGeom prst="rect">
            <a:avLst/>
          </a:prstGeom>
          <a:noFill/>
        </p:spPr>
        <p:txBody>
          <a:bodyPr wrap="square" lIns="0" rIns="0" tIns="0" bIns="0" anchor="t">
            <a:spAutoFit/>
          </a:bodyPr>
          <a:lstStyle/>
          <a:p>
            <a:pPr algn="l"/>
            <a:r>
              <a:rPr sz="1500" b="1" i="1">
                <a:solidFill>
                  <a:srgbClr val="F5F5F7"/>
                </a:solidFill>
                <a:latin typeface="Barlow Condensed"/>
              </a:rPr>
              <a:t>ROLL-FREE POSES</a:t>
            </a:r>
          </a:p>
        </p:txBody>
      </p:sp>
      <p:sp>
        <p:nvSpPr>
          <p:cNvPr id="31" name="TextBox 30"/>
          <p:cNvSpPr txBox="1"/>
          <p:nvPr/>
        </p:nvSpPr>
        <p:spPr>
          <a:xfrm>
            <a:off x="7726679" y="4745736"/>
            <a:ext cx="1920240" cy="320040"/>
          </a:xfrm>
          <a:prstGeom prst="rect">
            <a:avLst/>
          </a:prstGeom>
          <a:noFill/>
        </p:spPr>
        <p:txBody>
          <a:bodyPr wrap="square" lIns="0" rIns="0" tIns="0" bIns="0" anchor="t">
            <a:spAutoFit/>
          </a:bodyPr>
          <a:lstStyle/>
          <a:p>
            <a:pPr algn="l"/>
            <a:r>
              <a:rPr sz="1050" b="0" i="0">
                <a:solidFill>
                  <a:srgbClr val="E10600"/>
                </a:solidFill>
                <a:latin typeface="JetBrains Mono"/>
              </a:rPr>
              <a:t>yaw + pitch only</a:t>
            </a:r>
          </a:p>
        </p:txBody>
      </p:sp>
      <p:sp>
        <p:nvSpPr>
          <p:cNvPr id="32" name="TextBox 31"/>
          <p:cNvSpPr txBox="1"/>
          <p:nvPr/>
        </p:nvSpPr>
        <p:spPr>
          <a:xfrm>
            <a:off x="9646920" y="4727448"/>
            <a:ext cx="1938528" cy="384048"/>
          </a:xfrm>
          <a:prstGeom prst="rect">
            <a:avLst/>
          </a:prstGeom>
          <a:noFill/>
        </p:spPr>
        <p:txBody>
          <a:bodyPr wrap="square" lIns="0" rIns="0" tIns="0" bIns="0" anchor="t">
            <a:spAutoFit/>
          </a:bodyPr>
          <a:lstStyle/>
          <a:p>
            <a:pPr algn="l">
              <a:lnSpc>
                <a:spcPct val="100000"/>
              </a:lnSpc>
            </a:pPr>
            <a:r>
              <a:rPr sz="1050" b="0" i="0">
                <a:solidFill>
                  <a:srgbClr val="A9A9B8"/>
                </a:solidFill>
                <a:latin typeface="Barlow"/>
              </a:rPr>
              <a:t>the car can never flip</a:t>
            </a:r>
          </a:p>
        </p:txBody>
      </p:sp>
      <p:sp>
        <p:nvSpPr>
          <p:cNvPr id="33" name="Rectangle 32"/>
          <p:cNvSpPr/>
          <p:nvPr/>
        </p:nvSpPr>
        <p:spPr>
          <a:xfrm>
            <a:off x="7498079" y="5221224"/>
            <a:ext cx="4142232" cy="768096"/>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98079" y="5221224"/>
            <a:ext cx="54864" cy="76809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26679" y="5285232"/>
            <a:ext cx="3840480" cy="292608"/>
          </a:xfrm>
          <a:prstGeom prst="rect">
            <a:avLst/>
          </a:prstGeom>
          <a:noFill/>
        </p:spPr>
        <p:txBody>
          <a:bodyPr wrap="square" lIns="0" rIns="0" tIns="0" bIns="0" anchor="t">
            <a:spAutoFit/>
          </a:bodyPr>
          <a:lstStyle/>
          <a:p>
            <a:pPr algn="l"/>
            <a:r>
              <a:rPr sz="1500" b="1" i="1">
                <a:solidFill>
                  <a:srgbClr val="F5F5F7"/>
                </a:solidFill>
                <a:latin typeface="Barlow Condensed"/>
              </a:rPr>
              <a:t>DIRECTOR CUTS</a:t>
            </a:r>
          </a:p>
        </p:txBody>
      </p:sp>
      <p:sp>
        <p:nvSpPr>
          <p:cNvPr id="36" name="TextBox 35"/>
          <p:cNvSpPr txBox="1"/>
          <p:nvPr/>
        </p:nvSpPr>
        <p:spPr>
          <a:xfrm>
            <a:off x="7726679" y="5605272"/>
            <a:ext cx="1920240" cy="320040"/>
          </a:xfrm>
          <a:prstGeom prst="rect">
            <a:avLst/>
          </a:prstGeom>
          <a:noFill/>
        </p:spPr>
        <p:txBody>
          <a:bodyPr wrap="square" lIns="0" rIns="0" tIns="0" bIns="0" anchor="t">
            <a:spAutoFit/>
          </a:bodyPr>
          <a:lstStyle/>
          <a:p>
            <a:pPr algn="l"/>
            <a:r>
              <a:rPr sz="1050" b="0" i="0">
                <a:solidFill>
                  <a:srgbClr val="E10600"/>
                </a:solidFill>
                <a:latin typeface="JetBrains Mono"/>
              </a:rPr>
              <a:t>cut at every corner</a:t>
            </a:r>
          </a:p>
        </p:txBody>
      </p:sp>
      <p:sp>
        <p:nvSpPr>
          <p:cNvPr id="37" name="TextBox 36"/>
          <p:cNvSpPr txBox="1"/>
          <p:nvPr/>
        </p:nvSpPr>
        <p:spPr>
          <a:xfrm>
            <a:off x="9646920" y="5586984"/>
            <a:ext cx="1938528" cy="384048"/>
          </a:xfrm>
          <a:prstGeom prst="rect">
            <a:avLst/>
          </a:prstGeom>
          <a:noFill/>
        </p:spPr>
        <p:txBody>
          <a:bodyPr wrap="square" lIns="0" rIns="0" tIns="0" bIns="0" anchor="t">
            <a:spAutoFit/>
          </a:bodyPr>
          <a:lstStyle/>
          <a:p>
            <a:pPr algn="l">
              <a:lnSpc>
                <a:spcPct val="100000"/>
              </a:lnSpc>
            </a:pPr>
            <a:r>
              <a:rPr sz="1050" b="0" i="0">
                <a:solidFill>
                  <a:srgbClr val="A9A9B8"/>
                </a:solidFill>
                <a:latin typeface="Barlow"/>
              </a:rPr>
              <a:t>chase, side and aerial on straights; steady at 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LESSONS</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18</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10972525"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LESSONS</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FIVE THINGS </a:t>
            </a:r>
            <a:r>
              <a:rPr sz="4600" b="1" i="1">
                <a:solidFill>
                  <a:srgbClr val="E10600"/>
                </a:solidFill>
                <a:latin typeface="Barlow Condensed"/>
              </a:rPr>
              <a:t>THIS TAUGHT ME.</a:t>
            </a:r>
          </a:p>
        </p:txBody>
      </p:sp>
      <p:sp>
        <p:nvSpPr>
          <p:cNvPr id="10" name="TextBox 9"/>
          <p:cNvSpPr txBox="1"/>
          <p:nvPr/>
        </p:nvSpPr>
        <p:spPr>
          <a:xfrm>
            <a:off x="548640" y="1810512"/>
            <a:ext cx="914400" cy="731520"/>
          </a:xfrm>
          <a:prstGeom prst="rect">
            <a:avLst/>
          </a:prstGeom>
          <a:noFill/>
        </p:spPr>
        <p:txBody>
          <a:bodyPr wrap="square" lIns="0" rIns="0" tIns="0" bIns="0" anchor="ctr">
            <a:spAutoFit/>
          </a:bodyPr>
          <a:lstStyle/>
          <a:p>
            <a:pPr algn="l"/>
            <a:r>
              <a:rPr sz="4000" b="1" i="1">
                <a:solidFill>
                  <a:srgbClr val="E10600"/>
                </a:solidFill>
                <a:latin typeface="Barlow Condensed"/>
              </a:rPr>
              <a:t>01</a:t>
            </a:r>
          </a:p>
        </p:txBody>
      </p:sp>
      <p:sp>
        <p:nvSpPr>
          <p:cNvPr id="11" name="TextBox 10"/>
          <p:cNvSpPr txBox="1"/>
          <p:nvPr/>
        </p:nvSpPr>
        <p:spPr>
          <a:xfrm>
            <a:off x="1508760" y="1810512"/>
            <a:ext cx="5852160" cy="731520"/>
          </a:xfrm>
          <a:prstGeom prst="rect">
            <a:avLst/>
          </a:prstGeom>
          <a:noFill/>
        </p:spPr>
        <p:txBody>
          <a:bodyPr wrap="square" lIns="0" rIns="0" tIns="0" bIns="0" anchor="ctr">
            <a:spAutoFit/>
          </a:bodyPr>
          <a:lstStyle/>
          <a:p>
            <a:pPr algn="l"/>
            <a:r>
              <a:rPr sz="2700" b="1" i="1">
                <a:solidFill>
                  <a:srgbClr val="F5F5F7"/>
                </a:solidFill>
                <a:latin typeface="Barlow Condensed"/>
              </a:rPr>
              <a:t>A HIGH R² CAN BE A LOOKUP TABLE.</a:t>
            </a:r>
          </a:p>
        </p:txBody>
      </p:sp>
      <p:sp>
        <p:nvSpPr>
          <p:cNvPr id="12" name="TextBox 11"/>
          <p:cNvSpPr txBox="1"/>
          <p:nvPr/>
        </p:nvSpPr>
        <p:spPr>
          <a:xfrm>
            <a:off x="7498079" y="1810512"/>
            <a:ext cx="4142232" cy="731520"/>
          </a:xfrm>
          <a:prstGeom prst="rect">
            <a:avLst/>
          </a:prstGeom>
          <a:noFill/>
        </p:spPr>
        <p:txBody>
          <a:bodyPr wrap="square" lIns="0" rIns="0" tIns="0" bIns="0" anchor="ctr">
            <a:spAutoFit/>
          </a:bodyPr>
          <a:lstStyle/>
          <a:p>
            <a:pPr algn="l">
              <a:lnSpc>
                <a:spcPct val="105000"/>
              </a:lnSpc>
            </a:pPr>
            <a:r>
              <a:rPr sz="1450" b="0" i="0">
                <a:solidFill>
                  <a:srgbClr val="A9A9B8"/>
                </a:solidFill>
                <a:latin typeface="Barlow"/>
              </a:rPr>
              <a:t>Ablate before you believe it: 0.91 became 0.02.</a:t>
            </a:r>
          </a:p>
        </p:txBody>
      </p:sp>
      <p:cxnSp>
        <p:nvCxnSpPr>
          <p:cNvPr id="13" name="Connector 12"/>
          <p:cNvCxnSpPr/>
          <p:nvPr/>
        </p:nvCxnSpPr>
        <p:spPr>
          <a:xfrm>
            <a:off x="548640" y="2606040"/>
            <a:ext cx="11091672" cy="0"/>
          </a:xfrm>
          <a:prstGeom prst="line">
            <a:avLst/>
          </a:prstGeom>
          <a:ln w="12700">
            <a:solidFill>
              <a:srgbClr val="1E1E2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2660904"/>
            <a:ext cx="914400" cy="731520"/>
          </a:xfrm>
          <a:prstGeom prst="rect">
            <a:avLst/>
          </a:prstGeom>
          <a:noFill/>
        </p:spPr>
        <p:txBody>
          <a:bodyPr wrap="square" lIns="0" rIns="0" tIns="0" bIns="0" anchor="ctr">
            <a:spAutoFit/>
          </a:bodyPr>
          <a:lstStyle/>
          <a:p>
            <a:pPr algn="l"/>
            <a:r>
              <a:rPr sz="4000" b="1" i="1">
                <a:solidFill>
                  <a:srgbClr val="E10600"/>
                </a:solidFill>
                <a:latin typeface="Barlow Condensed"/>
              </a:rPr>
              <a:t>02</a:t>
            </a:r>
          </a:p>
        </p:txBody>
      </p:sp>
      <p:sp>
        <p:nvSpPr>
          <p:cNvPr id="15" name="TextBox 14"/>
          <p:cNvSpPr txBox="1"/>
          <p:nvPr/>
        </p:nvSpPr>
        <p:spPr>
          <a:xfrm>
            <a:off x="1508760" y="2660904"/>
            <a:ext cx="5852160" cy="731520"/>
          </a:xfrm>
          <a:prstGeom prst="rect">
            <a:avLst/>
          </a:prstGeom>
          <a:noFill/>
        </p:spPr>
        <p:txBody>
          <a:bodyPr wrap="square" lIns="0" rIns="0" tIns="0" bIns="0" anchor="ctr">
            <a:spAutoFit/>
          </a:bodyPr>
          <a:lstStyle/>
          <a:p>
            <a:pPr algn="l"/>
            <a:r>
              <a:rPr sz="2700" b="1" i="1">
                <a:solidFill>
                  <a:srgbClr val="F5F5F7"/>
                </a:solidFill>
                <a:latin typeface="Barlow Condensed"/>
              </a:rPr>
              <a:t>SEPARATE EFFECTS WHERE THEY DECOUPLE.</a:t>
            </a:r>
          </a:p>
        </p:txBody>
      </p:sp>
      <p:sp>
        <p:nvSpPr>
          <p:cNvPr id="16" name="TextBox 15"/>
          <p:cNvSpPr txBox="1"/>
          <p:nvPr/>
        </p:nvSpPr>
        <p:spPr>
          <a:xfrm>
            <a:off x="7498079" y="2660904"/>
            <a:ext cx="4142232" cy="731520"/>
          </a:xfrm>
          <a:prstGeom prst="rect">
            <a:avLst/>
          </a:prstGeom>
          <a:noFill/>
        </p:spPr>
        <p:txBody>
          <a:bodyPr wrap="square" lIns="0" rIns="0" tIns="0" bIns="0" anchor="ctr">
            <a:spAutoFit/>
          </a:bodyPr>
          <a:lstStyle/>
          <a:p>
            <a:pPr algn="l">
              <a:lnSpc>
                <a:spcPct val="105000"/>
              </a:lnSpc>
            </a:pPr>
            <a:r>
              <a:rPr sz="1450" b="0" i="0">
                <a:solidFill>
                  <a:srgbClr val="A9A9B8"/>
                </a:solidFill>
                <a:latin typeface="Barlow"/>
              </a:rPr>
              <a:t>The pit stop resets the tyres, not the fuel.</a:t>
            </a:r>
          </a:p>
        </p:txBody>
      </p:sp>
      <p:cxnSp>
        <p:nvCxnSpPr>
          <p:cNvPr id="17" name="Connector 16"/>
          <p:cNvCxnSpPr/>
          <p:nvPr/>
        </p:nvCxnSpPr>
        <p:spPr>
          <a:xfrm>
            <a:off x="548640" y="3456432"/>
            <a:ext cx="11091672" cy="0"/>
          </a:xfrm>
          <a:prstGeom prst="line">
            <a:avLst/>
          </a:prstGeom>
          <a:ln w="12700">
            <a:solidFill>
              <a:srgbClr val="1E1E2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3511296"/>
            <a:ext cx="914400" cy="731520"/>
          </a:xfrm>
          <a:prstGeom prst="rect">
            <a:avLst/>
          </a:prstGeom>
          <a:noFill/>
        </p:spPr>
        <p:txBody>
          <a:bodyPr wrap="square" lIns="0" rIns="0" tIns="0" bIns="0" anchor="ctr">
            <a:spAutoFit/>
          </a:bodyPr>
          <a:lstStyle/>
          <a:p>
            <a:pPr algn="l"/>
            <a:r>
              <a:rPr sz="4000" b="1" i="1">
                <a:solidFill>
                  <a:srgbClr val="E10600"/>
                </a:solidFill>
                <a:latin typeface="Barlow Condensed"/>
              </a:rPr>
              <a:t>03</a:t>
            </a:r>
          </a:p>
        </p:txBody>
      </p:sp>
      <p:sp>
        <p:nvSpPr>
          <p:cNvPr id="19" name="TextBox 18"/>
          <p:cNvSpPr txBox="1"/>
          <p:nvPr/>
        </p:nvSpPr>
        <p:spPr>
          <a:xfrm>
            <a:off x="1508760" y="3511296"/>
            <a:ext cx="5852160" cy="731520"/>
          </a:xfrm>
          <a:prstGeom prst="rect">
            <a:avLst/>
          </a:prstGeom>
          <a:noFill/>
        </p:spPr>
        <p:txBody>
          <a:bodyPr wrap="square" lIns="0" rIns="0" tIns="0" bIns="0" anchor="ctr">
            <a:spAutoFit/>
          </a:bodyPr>
          <a:lstStyle/>
          <a:p>
            <a:pPr algn="l"/>
            <a:r>
              <a:rPr sz="2700" b="1" i="1">
                <a:solidFill>
                  <a:srgbClr val="F5F5F7"/>
                </a:solidFill>
                <a:latin typeface="Barlow Condensed"/>
              </a:rPr>
              <a:t>LEAKS HIDE IN TIME.</a:t>
            </a:r>
          </a:p>
        </p:txBody>
      </p:sp>
      <p:sp>
        <p:nvSpPr>
          <p:cNvPr id="20" name="TextBox 19"/>
          <p:cNvSpPr txBox="1"/>
          <p:nvPr/>
        </p:nvSpPr>
        <p:spPr>
          <a:xfrm>
            <a:off x="7498079" y="3511296"/>
            <a:ext cx="4142232" cy="731520"/>
          </a:xfrm>
          <a:prstGeom prst="rect">
            <a:avLst/>
          </a:prstGeom>
          <a:noFill/>
        </p:spPr>
        <p:txBody>
          <a:bodyPr wrap="square" lIns="0" rIns="0" tIns="0" bIns="0" anchor="ctr">
            <a:spAutoFit/>
          </a:bodyPr>
          <a:lstStyle/>
          <a:p>
            <a:pPr algn="l">
              <a:lnSpc>
                <a:spcPct val="105000"/>
              </a:lnSpc>
            </a:pPr>
            <a:r>
              <a:rPr sz="1450" b="0" i="0">
                <a:solidFill>
                  <a:srgbClr val="A9A9B8"/>
                </a:solidFill>
                <a:latin typeface="Barlow"/>
              </a:rPr>
              <a:t>Use only what was known before the lap.</a:t>
            </a:r>
          </a:p>
        </p:txBody>
      </p:sp>
      <p:cxnSp>
        <p:nvCxnSpPr>
          <p:cNvPr id="21" name="Connector 20"/>
          <p:cNvCxnSpPr/>
          <p:nvPr/>
        </p:nvCxnSpPr>
        <p:spPr>
          <a:xfrm>
            <a:off x="548640" y="4306824"/>
            <a:ext cx="11091672" cy="0"/>
          </a:xfrm>
          <a:prstGeom prst="line">
            <a:avLst/>
          </a:prstGeom>
          <a:ln w="12700">
            <a:solidFill>
              <a:srgbClr val="1E1E2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4361688"/>
            <a:ext cx="914400" cy="731520"/>
          </a:xfrm>
          <a:prstGeom prst="rect">
            <a:avLst/>
          </a:prstGeom>
          <a:noFill/>
        </p:spPr>
        <p:txBody>
          <a:bodyPr wrap="square" lIns="0" rIns="0" tIns="0" bIns="0" anchor="ctr">
            <a:spAutoFit/>
          </a:bodyPr>
          <a:lstStyle/>
          <a:p>
            <a:pPr algn="l"/>
            <a:r>
              <a:rPr sz="4000" b="1" i="1">
                <a:solidFill>
                  <a:srgbClr val="E10600"/>
                </a:solidFill>
                <a:latin typeface="Barlow Condensed"/>
              </a:rPr>
              <a:t>04</a:t>
            </a:r>
          </a:p>
        </p:txBody>
      </p:sp>
      <p:sp>
        <p:nvSpPr>
          <p:cNvPr id="23" name="TextBox 22"/>
          <p:cNvSpPr txBox="1"/>
          <p:nvPr/>
        </p:nvSpPr>
        <p:spPr>
          <a:xfrm>
            <a:off x="1508760" y="4361688"/>
            <a:ext cx="5852160" cy="731520"/>
          </a:xfrm>
          <a:prstGeom prst="rect">
            <a:avLst/>
          </a:prstGeom>
          <a:noFill/>
        </p:spPr>
        <p:txBody>
          <a:bodyPr wrap="square" lIns="0" rIns="0" tIns="0" bIns="0" anchor="ctr">
            <a:spAutoFit/>
          </a:bodyPr>
          <a:lstStyle/>
          <a:p>
            <a:pPr algn="l"/>
            <a:r>
              <a:rPr sz="2700" b="1" i="1">
                <a:solidFill>
                  <a:srgbClr val="F5F5F7"/>
                </a:solidFill>
                <a:latin typeface="Barlow Condensed"/>
              </a:rPr>
              <a:t>HOLD OUT WHOLE SEASONS.</a:t>
            </a:r>
          </a:p>
        </p:txBody>
      </p:sp>
      <p:sp>
        <p:nvSpPr>
          <p:cNvPr id="24" name="TextBox 23"/>
          <p:cNvSpPr txBox="1"/>
          <p:nvPr/>
        </p:nvSpPr>
        <p:spPr>
          <a:xfrm>
            <a:off x="7498079" y="4361688"/>
            <a:ext cx="4142232" cy="731520"/>
          </a:xfrm>
          <a:prstGeom prst="rect">
            <a:avLst/>
          </a:prstGeom>
          <a:noFill/>
        </p:spPr>
        <p:txBody>
          <a:bodyPr wrap="square" lIns="0" rIns="0" tIns="0" bIns="0" anchor="ctr">
            <a:spAutoFit/>
          </a:bodyPr>
          <a:lstStyle/>
          <a:p>
            <a:pPr algn="l">
              <a:lnSpc>
                <a:spcPct val="105000"/>
              </a:lnSpc>
            </a:pPr>
            <a:r>
              <a:rPr sz="1450" b="0" i="0">
                <a:solidFill>
                  <a:srgbClr val="A9A9B8"/>
                </a:solidFill>
                <a:latin typeface="Barlow"/>
              </a:rPr>
              <a:t>Tune on 2024, score 2025 once.</a:t>
            </a:r>
          </a:p>
        </p:txBody>
      </p:sp>
      <p:cxnSp>
        <p:nvCxnSpPr>
          <p:cNvPr id="25" name="Connector 24"/>
          <p:cNvCxnSpPr/>
          <p:nvPr/>
        </p:nvCxnSpPr>
        <p:spPr>
          <a:xfrm>
            <a:off x="548640" y="5157216"/>
            <a:ext cx="11091672" cy="0"/>
          </a:xfrm>
          <a:prstGeom prst="line">
            <a:avLst/>
          </a:prstGeom>
          <a:ln w="12700">
            <a:solidFill>
              <a:srgbClr val="1E1E2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5212080"/>
            <a:ext cx="914400" cy="731520"/>
          </a:xfrm>
          <a:prstGeom prst="rect">
            <a:avLst/>
          </a:prstGeom>
          <a:noFill/>
        </p:spPr>
        <p:txBody>
          <a:bodyPr wrap="square" lIns="0" rIns="0" tIns="0" bIns="0" anchor="ctr">
            <a:spAutoFit/>
          </a:bodyPr>
          <a:lstStyle/>
          <a:p>
            <a:pPr algn="l"/>
            <a:r>
              <a:rPr sz="4000" b="1" i="1">
                <a:solidFill>
                  <a:srgbClr val="E10600"/>
                </a:solidFill>
                <a:latin typeface="Barlow Condensed"/>
              </a:rPr>
              <a:t>05</a:t>
            </a:r>
          </a:p>
        </p:txBody>
      </p:sp>
      <p:sp>
        <p:nvSpPr>
          <p:cNvPr id="27" name="TextBox 26"/>
          <p:cNvSpPr txBox="1"/>
          <p:nvPr/>
        </p:nvSpPr>
        <p:spPr>
          <a:xfrm>
            <a:off x="1508760" y="5212080"/>
            <a:ext cx="5852160" cy="731520"/>
          </a:xfrm>
          <a:prstGeom prst="rect">
            <a:avLst/>
          </a:prstGeom>
          <a:noFill/>
        </p:spPr>
        <p:txBody>
          <a:bodyPr wrap="square" lIns="0" rIns="0" tIns="0" bIns="0" anchor="ctr">
            <a:spAutoFit/>
          </a:bodyPr>
          <a:lstStyle/>
          <a:p>
            <a:pPr algn="l"/>
            <a:r>
              <a:rPr sz="2700" b="1" i="1">
                <a:solidFill>
                  <a:srgbClr val="F5F5F7"/>
                </a:solidFill>
                <a:latin typeface="Barlow Condensed"/>
              </a:rPr>
              <a:t>STABILITY IS A FEATURE.</a:t>
            </a:r>
          </a:p>
        </p:txBody>
      </p:sp>
      <p:sp>
        <p:nvSpPr>
          <p:cNvPr id="28" name="TextBox 27"/>
          <p:cNvSpPr txBox="1"/>
          <p:nvPr/>
        </p:nvSpPr>
        <p:spPr>
          <a:xfrm>
            <a:off x="7498079" y="5212080"/>
            <a:ext cx="4142232" cy="731520"/>
          </a:xfrm>
          <a:prstGeom prst="rect">
            <a:avLst/>
          </a:prstGeom>
          <a:noFill/>
        </p:spPr>
        <p:txBody>
          <a:bodyPr wrap="square" lIns="0" rIns="0" tIns="0" bIns="0" anchor="ctr">
            <a:spAutoFit/>
          </a:bodyPr>
          <a:lstStyle/>
          <a:p>
            <a:pPr algn="l">
              <a:lnSpc>
                <a:spcPct val="105000"/>
              </a:lnSpc>
            </a:pPr>
            <a:r>
              <a:rPr sz="1450" b="0" i="0">
                <a:solidFill>
                  <a:srgbClr val="A9A9B8"/>
                </a:solidFill>
                <a:latin typeface="Barlow"/>
              </a:rPr>
              <a:t>Smooth inputs and damped rigs beat clever cameras.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grid.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NEXT RACE</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19</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11582110"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521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0292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NEXT RACE</a:t>
            </a:r>
          </a:p>
        </p:txBody>
      </p:sp>
      <p:sp>
        <p:nvSpPr>
          <p:cNvPr id="9" name="TextBox 8"/>
          <p:cNvSpPr txBox="1"/>
          <p:nvPr/>
        </p:nvSpPr>
        <p:spPr>
          <a:xfrm>
            <a:off x="548640" y="749808"/>
            <a:ext cx="11155680" cy="914400"/>
          </a:xfrm>
          <a:prstGeom prst="rect">
            <a:avLst/>
          </a:prstGeom>
          <a:noFill/>
        </p:spPr>
        <p:txBody>
          <a:bodyPr wrap="square" lIns="0" rIns="0" tIns="0" bIns="0" anchor="t">
            <a:spAutoFit/>
          </a:bodyPr>
          <a:lstStyle/>
          <a:p>
            <a:pPr algn="l">
              <a:lnSpc>
                <a:spcPct val="90000"/>
              </a:lnSpc>
            </a:pPr>
            <a:r>
              <a:rPr sz="4600" b="1" i="1">
                <a:solidFill>
                  <a:srgbClr val="F5F5F7"/>
                </a:solidFill>
                <a:latin typeface="Barlow Condensed"/>
              </a:rPr>
              <a:t>WHAT'S </a:t>
            </a:r>
            <a:r>
              <a:rPr sz="4600" b="1" i="1">
                <a:solidFill>
                  <a:srgbClr val="E10600"/>
                </a:solidFill>
                <a:latin typeface="Barlow Condensed"/>
              </a:rPr>
              <a:t>NEXT.</a:t>
            </a:r>
          </a:p>
        </p:txBody>
      </p:sp>
      <p:sp>
        <p:nvSpPr>
          <p:cNvPr id="10" name="Rectangle 9"/>
          <p:cNvSpPr/>
          <p:nvPr/>
        </p:nvSpPr>
        <p:spPr>
          <a:xfrm>
            <a:off x="548640" y="1874519"/>
            <a:ext cx="3593592" cy="310896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74519"/>
            <a:ext cx="3593592" cy="5486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148840"/>
            <a:ext cx="914400" cy="548640"/>
          </a:xfrm>
          <a:prstGeom prst="rect">
            <a:avLst/>
          </a:prstGeom>
          <a:noFill/>
        </p:spPr>
        <p:txBody>
          <a:bodyPr wrap="square" lIns="0" rIns="0" tIns="0" bIns="0" anchor="t">
            <a:spAutoFit/>
          </a:bodyPr>
          <a:lstStyle/>
          <a:p>
            <a:pPr algn="l"/>
            <a:r>
              <a:rPr sz="3000" b="1" i="1">
                <a:solidFill>
                  <a:srgbClr val="E10600"/>
                </a:solidFill>
                <a:latin typeface="Barlow Condensed"/>
              </a:rPr>
              <a:t>01</a:t>
            </a:r>
          </a:p>
        </p:txBody>
      </p:sp>
      <p:sp>
        <p:nvSpPr>
          <p:cNvPr id="13" name="TextBox 12"/>
          <p:cNvSpPr txBox="1"/>
          <p:nvPr/>
        </p:nvSpPr>
        <p:spPr>
          <a:xfrm>
            <a:off x="822959" y="2743200"/>
            <a:ext cx="3108960" cy="822960"/>
          </a:xfrm>
          <a:prstGeom prst="rect">
            <a:avLst/>
          </a:prstGeom>
          <a:noFill/>
        </p:spPr>
        <p:txBody>
          <a:bodyPr wrap="square" lIns="0" rIns="0" tIns="0" bIns="0" anchor="t">
            <a:spAutoFit/>
          </a:bodyPr>
          <a:lstStyle/>
          <a:p>
            <a:pPr algn="l">
              <a:lnSpc>
                <a:spcPct val="95000"/>
              </a:lnSpc>
            </a:pPr>
            <a:r>
              <a:rPr sz="2500" b="1" i="1">
                <a:solidFill>
                  <a:srgbClr val="F5F5F7"/>
                </a:solidFill>
                <a:latin typeface="Barlow Condensed"/>
              </a:rPr>
              <a:t>TWO-CAR UNDERCUT MODEL</a:t>
            </a:r>
          </a:p>
        </p:txBody>
      </p:sp>
      <p:sp>
        <p:nvSpPr>
          <p:cNvPr id="14" name="TextBox 13"/>
          <p:cNvSpPr txBox="1"/>
          <p:nvPr/>
        </p:nvSpPr>
        <p:spPr>
          <a:xfrm>
            <a:off x="822959" y="3383280"/>
            <a:ext cx="3063240" cy="1463040"/>
          </a:xfrm>
          <a:prstGeom prst="rect">
            <a:avLst/>
          </a:prstGeom>
          <a:noFill/>
        </p:spPr>
        <p:txBody>
          <a:bodyPr wrap="square" lIns="0" rIns="0" tIns="0" bIns="0" anchor="t">
            <a:spAutoFit/>
          </a:bodyPr>
          <a:lstStyle/>
          <a:p>
            <a:pPr algn="l">
              <a:lnSpc>
                <a:spcPct val="115000"/>
              </a:lnSpc>
            </a:pPr>
            <a:r>
              <a:rPr sz="1350" b="0" i="0">
                <a:solidFill>
                  <a:srgbClr val="A9A9B8"/>
                </a:solidFill>
                <a:latin typeface="Barlow"/>
              </a:rPr>
              <a:t>The optimiser minimises one car's own time. Undercuts and covering rivals are why real calls differ. The gap features already exist.</a:t>
            </a:r>
          </a:p>
        </p:txBody>
      </p:sp>
      <p:sp>
        <p:nvSpPr>
          <p:cNvPr id="15" name="Rectangle 14"/>
          <p:cNvSpPr/>
          <p:nvPr/>
        </p:nvSpPr>
        <p:spPr>
          <a:xfrm>
            <a:off x="4297679" y="1874519"/>
            <a:ext cx="3593592" cy="310896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79" y="1874519"/>
            <a:ext cx="3593592" cy="54864"/>
          </a:xfrm>
          <a:prstGeom prst="rect">
            <a:avLst/>
          </a:prstGeom>
          <a:solidFill>
            <a:srgbClr val="FFD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1999" y="2148840"/>
            <a:ext cx="914400" cy="548640"/>
          </a:xfrm>
          <a:prstGeom prst="rect">
            <a:avLst/>
          </a:prstGeom>
          <a:noFill/>
        </p:spPr>
        <p:txBody>
          <a:bodyPr wrap="square" lIns="0" rIns="0" tIns="0" bIns="0" anchor="t">
            <a:spAutoFit/>
          </a:bodyPr>
          <a:lstStyle/>
          <a:p>
            <a:pPr algn="l"/>
            <a:r>
              <a:rPr sz="3000" b="1" i="1">
                <a:solidFill>
                  <a:srgbClr val="FFD12E"/>
                </a:solidFill>
                <a:latin typeface="Barlow Condensed"/>
              </a:rPr>
              <a:t>02</a:t>
            </a:r>
          </a:p>
        </p:txBody>
      </p:sp>
      <p:sp>
        <p:nvSpPr>
          <p:cNvPr id="18" name="TextBox 17"/>
          <p:cNvSpPr txBox="1"/>
          <p:nvPr/>
        </p:nvSpPr>
        <p:spPr>
          <a:xfrm>
            <a:off x="4571999" y="2743200"/>
            <a:ext cx="3108960" cy="822960"/>
          </a:xfrm>
          <a:prstGeom prst="rect">
            <a:avLst/>
          </a:prstGeom>
          <a:noFill/>
        </p:spPr>
        <p:txBody>
          <a:bodyPr wrap="square" lIns="0" rIns="0" tIns="0" bIns="0" anchor="t">
            <a:spAutoFit/>
          </a:bodyPr>
          <a:lstStyle/>
          <a:p>
            <a:pPr algn="l">
              <a:lnSpc>
                <a:spcPct val="95000"/>
              </a:lnSpc>
            </a:pPr>
            <a:r>
              <a:rPr sz="2500" b="1" i="1">
                <a:solidFill>
                  <a:srgbClr val="F5F5F7"/>
                </a:solidFill>
                <a:latin typeface="Barlow Condensed"/>
              </a:rPr>
              <a:t>C1-C5 ALLOCATION</a:t>
            </a:r>
          </a:p>
        </p:txBody>
      </p:sp>
      <p:sp>
        <p:nvSpPr>
          <p:cNvPr id="19" name="TextBox 18"/>
          <p:cNvSpPr txBox="1"/>
          <p:nvPr/>
        </p:nvSpPr>
        <p:spPr>
          <a:xfrm>
            <a:off x="4571999" y="3383280"/>
            <a:ext cx="3063240" cy="1463040"/>
          </a:xfrm>
          <a:prstGeom prst="rect">
            <a:avLst/>
          </a:prstGeom>
          <a:noFill/>
        </p:spPr>
        <p:txBody>
          <a:bodyPr wrap="square" lIns="0" rIns="0" tIns="0" bIns="0" anchor="t">
            <a:spAutoFit/>
          </a:bodyPr>
          <a:lstStyle/>
          <a:p>
            <a:pPr algn="l">
              <a:lnSpc>
                <a:spcPct val="115000"/>
              </a:lnSpc>
            </a:pPr>
            <a:r>
              <a:rPr sz="1350" b="0" i="0">
                <a:solidFill>
                  <a:srgbClr val="A9A9B8"/>
                </a:solidFill>
                <a:latin typeface="Barlow"/>
              </a:rPr>
              <a:t>Soft, medium and hard are relative per event. Mapping them to Pirelli's compounds would separate the curves.</a:t>
            </a:r>
          </a:p>
        </p:txBody>
      </p:sp>
      <p:sp>
        <p:nvSpPr>
          <p:cNvPr id="20" name="Rectangle 19"/>
          <p:cNvSpPr/>
          <p:nvPr/>
        </p:nvSpPr>
        <p:spPr>
          <a:xfrm>
            <a:off x="8046719" y="1874519"/>
            <a:ext cx="3593592" cy="310896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19" y="1874519"/>
            <a:ext cx="3593592" cy="54864"/>
          </a:xfrm>
          <a:prstGeom prst="rect">
            <a:avLst/>
          </a:prstGeom>
          <a:solidFill>
            <a:srgbClr val="2A8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2148840"/>
            <a:ext cx="914400" cy="548640"/>
          </a:xfrm>
          <a:prstGeom prst="rect">
            <a:avLst/>
          </a:prstGeom>
          <a:noFill/>
        </p:spPr>
        <p:txBody>
          <a:bodyPr wrap="square" lIns="0" rIns="0" tIns="0" bIns="0" anchor="t">
            <a:spAutoFit/>
          </a:bodyPr>
          <a:lstStyle/>
          <a:p>
            <a:pPr algn="l"/>
            <a:r>
              <a:rPr sz="3000" b="1" i="1">
                <a:solidFill>
                  <a:srgbClr val="2A8BDB"/>
                </a:solidFill>
                <a:latin typeface="Barlow Condensed"/>
              </a:rPr>
              <a:t>03</a:t>
            </a:r>
          </a:p>
        </p:txBody>
      </p:sp>
      <p:sp>
        <p:nvSpPr>
          <p:cNvPr id="23" name="TextBox 22"/>
          <p:cNvSpPr txBox="1"/>
          <p:nvPr/>
        </p:nvSpPr>
        <p:spPr>
          <a:xfrm>
            <a:off x="8321040" y="2743200"/>
            <a:ext cx="3108960" cy="822960"/>
          </a:xfrm>
          <a:prstGeom prst="rect">
            <a:avLst/>
          </a:prstGeom>
          <a:noFill/>
        </p:spPr>
        <p:txBody>
          <a:bodyPr wrap="square" lIns="0" rIns="0" tIns="0" bIns="0" anchor="t">
            <a:spAutoFit/>
          </a:bodyPr>
          <a:lstStyle/>
          <a:p>
            <a:pPr algn="l">
              <a:lnSpc>
                <a:spcPct val="95000"/>
              </a:lnSpc>
            </a:pPr>
            <a:r>
              <a:rPr sz="2500" b="1" i="1">
                <a:solidFill>
                  <a:srgbClr val="F5F5F7"/>
                </a:solidFill>
                <a:latin typeface="Barlow Condensed"/>
              </a:rPr>
              <a:t>FP2 LONG RUNS</a:t>
            </a:r>
          </a:p>
        </p:txBody>
      </p:sp>
      <p:sp>
        <p:nvSpPr>
          <p:cNvPr id="24" name="TextBox 23"/>
          <p:cNvSpPr txBox="1"/>
          <p:nvPr/>
        </p:nvSpPr>
        <p:spPr>
          <a:xfrm>
            <a:off x="8321040" y="3383280"/>
            <a:ext cx="3063240" cy="1463040"/>
          </a:xfrm>
          <a:prstGeom prst="rect">
            <a:avLst/>
          </a:prstGeom>
          <a:noFill/>
        </p:spPr>
        <p:txBody>
          <a:bodyPr wrap="square" lIns="0" rIns="0" tIns="0" bIns="0" anchor="t">
            <a:spAutoFit/>
          </a:bodyPr>
          <a:lstStyle/>
          <a:p>
            <a:pPr algn="l">
              <a:lnSpc>
                <a:spcPct val="115000"/>
              </a:lnSpc>
            </a:pPr>
            <a:r>
              <a:rPr sz="1350" b="0" i="0">
                <a:solidFill>
                  <a:srgbClr val="A9A9B8"/>
                </a:solidFill>
                <a:latin typeface="Barlow"/>
              </a:rPr>
              <a:t>Very old tyres are mostly seen on cars where they held up. Practice long runs counter that survivorship bias.</a:t>
            </a:r>
          </a:p>
        </p:txBody>
      </p:sp>
      <p:sp>
        <p:nvSpPr>
          <p:cNvPr id="25" name="Rectangle 24"/>
          <p:cNvSpPr/>
          <p:nvPr/>
        </p:nvSpPr>
        <p:spPr>
          <a:xfrm>
            <a:off x="548640" y="5212080"/>
            <a:ext cx="11091672" cy="777240"/>
          </a:xfrm>
          <a:prstGeom prst="rect">
            <a:avLst/>
          </a:prstGeom>
          <a:solidFill>
            <a:srgbClr val="15151E"/>
          </a:solidFill>
          <a:ln w="9525">
            <a:solidFill>
              <a:srgbClr val="2A2A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212080"/>
            <a:ext cx="10698480" cy="777240"/>
          </a:xfrm>
          <a:prstGeom prst="rect">
            <a:avLst/>
          </a:prstGeom>
          <a:noFill/>
        </p:spPr>
        <p:txBody>
          <a:bodyPr wrap="square" lIns="0" rIns="0" tIns="0" bIns="0" anchor="ctr">
            <a:spAutoFit/>
          </a:bodyPr>
          <a:lstStyle/>
          <a:p>
            <a:pPr algn="l">
              <a:lnSpc>
                <a:spcPct val="110000"/>
              </a:lnSpc>
            </a:pPr>
            <a:r>
              <a:rPr sz="1300" b="1" i="0">
                <a:solidFill>
                  <a:srgbClr val="F5F5F7"/>
                </a:solidFill>
                <a:latin typeface="Barlow"/>
              </a:rPr>
              <a:t>Known limits today: </a:t>
            </a:r>
            <a:r>
              <a:rPr sz="1300" b="0" i="0">
                <a:solidFill>
                  <a:srgbClr val="A9A9B8"/>
                </a:solidFill>
                <a:latin typeface="Barlow"/>
              </a:rPr>
              <a:t>What If assumes time gained becomes positions (traffic and overtaking are not modelled). Wet races are excluded. Before a race, a new season's car pace is the main unknown.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B10"/>
        </a:solidFill>
        <a:effectLst/>
      </p:bgPr>
    </p:bg>
    <p:spTree>
      <p:nvGrpSpPr>
        <p:cNvPr id="1" name=""/>
        <p:cNvGrpSpPr/>
        <p:nvPr/>
      </p:nvGrpSpPr>
      <p:grpSpPr/>
      <p:pic>
        <p:nvPicPr>
          <p:cNvPr id="2" name="Picture 1" descr="bg_fla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6382512"/>
            <a:ext cx="5486400" cy="274320"/>
          </a:xfrm>
          <a:prstGeom prst="rect">
            <a:avLst/>
          </a:prstGeom>
          <a:noFill/>
        </p:spPr>
        <p:txBody>
          <a:bodyPr wrap="square" lIns="0" rIns="0" tIns="0" bIns="0" anchor="t">
            <a:spAutoFit/>
          </a:bodyPr>
          <a:lstStyle/>
          <a:p>
            <a:pPr algn="l"/>
            <a:r>
              <a:rPr sz="1300" b="1" i="1" spc="150">
                <a:solidFill>
                  <a:srgbClr val="E10600"/>
                </a:solidFill>
                <a:latin typeface="Barlow Condensed"/>
              </a:rPr>
              <a:t>//</a:t>
            </a:r>
            <a:r>
              <a:rPr sz="1300" b="1" i="1" spc="150">
                <a:solidFill>
                  <a:srgbClr val="F5F5F7"/>
                </a:solidFill>
                <a:latin typeface="Barlow Condensed"/>
              </a:rPr>
              <a:t> PITWALL</a:t>
            </a:r>
            <a:r>
              <a:rPr sz="1100" b="1" i="0" spc="150">
                <a:solidFill>
                  <a:srgbClr val="6E6E7E"/>
                </a:solidFill>
                <a:latin typeface="Barlow Condensed"/>
              </a:rPr>
              <a:t>   ·   CHEQUERED FLAG</a:t>
            </a:r>
          </a:p>
        </p:txBody>
      </p:sp>
      <p:sp>
        <p:nvSpPr>
          <p:cNvPr id="4" name="TextBox 3"/>
          <p:cNvSpPr txBox="1"/>
          <p:nvPr/>
        </p:nvSpPr>
        <p:spPr>
          <a:xfrm>
            <a:off x="8897112" y="6391656"/>
            <a:ext cx="2743200" cy="274320"/>
          </a:xfrm>
          <a:prstGeom prst="rect">
            <a:avLst/>
          </a:prstGeom>
          <a:noFill/>
        </p:spPr>
        <p:txBody>
          <a:bodyPr wrap="square" lIns="0" rIns="0" tIns="0" bIns="0" anchor="t">
            <a:spAutoFit/>
          </a:bodyPr>
          <a:lstStyle/>
          <a:p>
            <a:pPr algn="r"/>
            <a:r>
              <a:rPr sz="1100" b="0" i="0">
                <a:solidFill>
                  <a:srgbClr val="6E6E7E"/>
                </a:solidFill>
                <a:latin typeface="JetBrains Mono"/>
              </a:rPr>
              <a:t>LAP </a:t>
            </a:r>
            <a:r>
              <a:rPr sz="1100" b="1" i="0">
                <a:solidFill>
                  <a:srgbClr val="F5F5F7"/>
                </a:solidFill>
                <a:latin typeface="JetBrains Mono"/>
              </a:rPr>
              <a:t>20</a:t>
            </a:r>
            <a:r>
              <a:rPr sz="1100" b="0" i="0">
                <a:solidFill>
                  <a:srgbClr val="6E6E7E"/>
                </a:solidFill>
                <a:latin typeface="JetBrains Mono"/>
              </a:rPr>
              <a:t> / 20</a:t>
            </a:r>
          </a:p>
        </p:txBody>
      </p:sp>
      <p:sp>
        <p:nvSpPr>
          <p:cNvPr id="5" name="Rectangle 4"/>
          <p:cNvSpPr/>
          <p:nvPr/>
        </p:nvSpPr>
        <p:spPr>
          <a:xfrm>
            <a:off x="0" y="6784848"/>
            <a:ext cx="12191695" cy="36576"/>
          </a:xfrm>
          <a:prstGeom prst="rect">
            <a:avLst/>
          </a:prstGeom>
          <a:solidFill>
            <a:srgbClr val="1E1E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12191695"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19"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9456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39"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59"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504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79"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8096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7824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2688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875519"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42416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7280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52144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2070080" y="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2959"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37160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2024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468879"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01752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56616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1480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66344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21208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6072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09359"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85800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40664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955279"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503919"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05256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60120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4984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69848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1247119"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1795760" y="274320"/>
            <a:ext cx="274320" cy="274320"/>
          </a:xfrm>
          <a:prstGeom prst="rect">
            <a:avLst/>
          </a:prstGeom>
          <a:solidFill>
            <a:srgbClr val="E8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48640" y="1225296"/>
            <a:ext cx="310896" cy="36576"/>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1143000"/>
            <a:ext cx="9144000" cy="274320"/>
          </a:xfrm>
          <a:prstGeom prst="rect">
            <a:avLst/>
          </a:prstGeom>
          <a:noFill/>
        </p:spPr>
        <p:txBody>
          <a:bodyPr wrap="square" lIns="0" rIns="0" tIns="0" bIns="0" anchor="t">
            <a:spAutoFit/>
          </a:bodyPr>
          <a:lstStyle/>
          <a:p>
            <a:pPr algn="l"/>
            <a:r>
              <a:rPr sz="1200" b="1" i="0" spc="300">
                <a:solidFill>
                  <a:srgbClr val="E10600"/>
                </a:solidFill>
                <a:latin typeface="Barlow Condensed"/>
              </a:rPr>
              <a:t>CHEQUERED FLAG</a:t>
            </a:r>
          </a:p>
        </p:txBody>
      </p:sp>
      <p:sp>
        <p:nvSpPr>
          <p:cNvPr id="54" name="TextBox 53"/>
          <p:cNvSpPr txBox="1"/>
          <p:nvPr/>
        </p:nvSpPr>
        <p:spPr>
          <a:xfrm>
            <a:off x="502920" y="1463040"/>
            <a:ext cx="11155680" cy="2011680"/>
          </a:xfrm>
          <a:prstGeom prst="rect">
            <a:avLst/>
          </a:prstGeom>
          <a:noFill/>
        </p:spPr>
        <p:txBody>
          <a:bodyPr wrap="square" lIns="0" rIns="0" tIns="0" bIns="0" anchor="t">
            <a:spAutoFit/>
          </a:bodyPr>
          <a:lstStyle/>
          <a:p>
            <a:pPr algn="l">
              <a:lnSpc>
                <a:spcPct val="85000"/>
              </a:lnSpc>
            </a:pPr>
            <a:r>
              <a:rPr sz="15000" b="1" i="1">
                <a:solidFill>
                  <a:srgbClr val="F5F5F7"/>
                </a:solidFill>
                <a:latin typeface="Barlow Condensed"/>
              </a:rPr>
              <a:t>BOX, </a:t>
            </a:r>
            <a:r>
              <a:rPr sz="15000" b="1" i="1">
                <a:solidFill>
                  <a:srgbClr val="E10600"/>
                </a:solidFill>
                <a:latin typeface="Barlow Condensed"/>
              </a:rPr>
              <a:t>BOX.</a:t>
            </a:r>
          </a:p>
        </p:txBody>
      </p:sp>
      <p:sp>
        <p:nvSpPr>
          <p:cNvPr id="55" name="TextBox 54"/>
          <p:cNvSpPr txBox="1"/>
          <p:nvPr/>
        </p:nvSpPr>
        <p:spPr>
          <a:xfrm>
            <a:off x="566928" y="3941063"/>
            <a:ext cx="2377440" cy="228600"/>
          </a:xfrm>
          <a:prstGeom prst="rect">
            <a:avLst/>
          </a:prstGeom>
          <a:noFill/>
        </p:spPr>
        <p:txBody>
          <a:bodyPr wrap="square" lIns="0" rIns="0" tIns="0" bIns="0" anchor="t">
            <a:spAutoFit/>
          </a:bodyPr>
          <a:lstStyle/>
          <a:p>
            <a:pPr algn="l"/>
            <a:r>
              <a:rPr sz="1200" b="1" i="0" spc="200">
                <a:solidFill>
                  <a:srgbClr val="6E6E7E"/>
                </a:solidFill>
                <a:latin typeface="Barlow Condensed"/>
              </a:rPr>
              <a:t>LIVE APP</a:t>
            </a:r>
          </a:p>
        </p:txBody>
      </p:sp>
      <p:sp>
        <p:nvSpPr>
          <p:cNvPr id="56" name="TextBox 55"/>
          <p:cNvSpPr txBox="1"/>
          <p:nvPr/>
        </p:nvSpPr>
        <p:spPr>
          <a:xfrm>
            <a:off x="2926080" y="3886200"/>
            <a:ext cx="8229600" cy="365760"/>
          </a:xfrm>
          <a:prstGeom prst="rect">
            <a:avLst/>
          </a:prstGeom>
          <a:noFill/>
        </p:spPr>
        <p:txBody>
          <a:bodyPr wrap="square" lIns="0" rIns="0" tIns="0" bIns="0" anchor="t">
            <a:spAutoFit/>
          </a:bodyPr>
          <a:lstStyle/>
          <a:p>
            <a:pPr algn="l"/>
            <a:r>
              <a:rPr sz="1700" b="0" i="0">
                <a:solidFill>
                  <a:srgbClr val="F5F5F7"/>
                </a:solidFill>
                <a:latin typeface="JetBrains Mono"/>
              </a:rPr>
              <a:t>b25bb1004-wq.github.io/F1-Pitstop_Strategy</a:t>
            </a:r>
          </a:p>
        </p:txBody>
      </p:sp>
      <p:sp>
        <p:nvSpPr>
          <p:cNvPr id="57" name="TextBox 56"/>
          <p:cNvSpPr txBox="1"/>
          <p:nvPr/>
        </p:nvSpPr>
        <p:spPr>
          <a:xfrm>
            <a:off x="566928" y="4443983"/>
            <a:ext cx="2377440" cy="228600"/>
          </a:xfrm>
          <a:prstGeom prst="rect">
            <a:avLst/>
          </a:prstGeom>
          <a:noFill/>
        </p:spPr>
        <p:txBody>
          <a:bodyPr wrap="square" lIns="0" rIns="0" tIns="0" bIns="0" anchor="t">
            <a:spAutoFit/>
          </a:bodyPr>
          <a:lstStyle/>
          <a:p>
            <a:pPr algn="l"/>
            <a:r>
              <a:rPr sz="1200" b="1" i="0" spc="200">
                <a:solidFill>
                  <a:srgbClr val="6E6E7E"/>
                </a:solidFill>
                <a:latin typeface="Barlow Condensed"/>
              </a:rPr>
              <a:t>CODE</a:t>
            </a:r>
          </a:p>
        </p:txBody>
      </p:sp>
      <p:sp>
        <p:nvSpPr>
          <p:cNvPr id="58" name="TextBox 57"/>
          <p:cNvSpPr txBox="1"/>
          <p:nvPr/>
        </p:nvSpPr>
        <p:spPr>
          <a:xfrm>
            <a:off x="2926080" y="4389120"/>
            <a:ext cx="8229600" cy="365760"/>
          </a:xfrm>
          <a:prstGeom prst="rect">
            <a:avLst/>
          </a:prstGeom>
          <a:noFill/>
        </p:spPr>
        <p:txBody>
          <a:bodyPr wrap="square" lIns="0" rIns="0" tIns="0" bIns="0" anchor="t">
            <a:spAutoFit/>
          </a:bodyPr>
          <a:lstStyle/>
          <a:p>
            <a:pPr algn="l"/>
            <a:r>
              <a:rPr sz="1700" b="0" i="0">
                <a:solidFill>
                  <a:srgbClr val="F5F5F7"/>
                </a:solidFill>
                <a:latin typeface="JetBrains Mono"/>
              </a:rPr>
              <a:t>github.com/b25bb1004-wq/F1-Pitstop_Strategy</a:t>
            </a:r>
          </a:p>
        </p:txBody>
      </p:sp>
      <p:sp>
        <p:nvSpPr>
          <p:cNvPr id="59" name="TextBox 58"/>
          <p:cNvSpPr txBox="1"/>
          <p:nvPr/>
        </p:nvSpPr>
        <p:spPr>
          <a:xfrm>
            <a:off x="566928" y="4946903"/>
            <a:ext cx="2377440" cy="228600"/>
          </a:xfrm>
          <a:prstGeom prst="rect">
            <a:avLst/>
          </a:prstGeom>
          <a:noFill/>
        </p:spPr>
        <p:txBody>
          <a:bodyPr wrap="square" lIns="0" rIns="0" tIns="0" bIns="0" anchor="t">
            <a:spAutoFit/>
          </a:bodyPr>
          <a:lstStyle/>
          <a:p>
            <a:pPr algn="l"/>
            <a:r>
              <a:rPr sz="1200" b="1" i="0" spc="200">
                <a:solidFill>
                  <a:srgbClr val="6E6E7E"/>
                </a:solidFill>
                <a:latin typeface="Barlow Condensed"/>
              </a:rPr>
              <a:t>HOW THE MODEL WORKS</a:t>
            </a:r>
          </a:p>
        </p:txBody>
      </p:sp>
      <p:sp>
        <p:nvSpPr>
          <p:cNvPr id="60" name="TextBox 59"/>
          <p:cNvSpPr txBox="1"/>
          <p:nvPr/>
        </p:nvSpPr>
        <p:spPr>
          <a:xfrm>
            <a:off x="2926080" y="4892040"/>
            <a:ext cx="8229600" cy="365760"/>
          </a:xfrm>
          <a:prstGeom prst="rect">
            <a:avLst/>
          </a:prstGeom>
          <a:noFill/>
        </p:spPr>
        <p:txBody>
          <a:bodyPr wrap="square" lIns="0" rIns="0" tIns="0" bIns="0" anchor="t">
            <a:spAutoFit/>
          </a:bodyPr>
          <a:lstStyle/>
          <a:p>
            <a:pPr algn="l"/>
            <a:r>
              <a:rPr sz="1700" b="0" i="0">
                <a:solidFill>
                  <a:srgbClr val="A9A9B8"/>
                </a:solidFill>
                <a:latin typeface="JetBrains Mono"/>
              </a:rPr>
              <a:t>notes/how_the_model_works.md</a:t>
            </a:r>
          </a:p>
        </p:txBody>
      </p:sp>
      <p:sp>
        <p:nvSpPr>
          <p:cNvPr id="61" name="TextBox 60"/>
          <p:cNvSpPr txBox="1"/>
          <p:nvPr/>
        </p:nvSpPr>
        <p:spPr>
          <a:xfrm>
            <a:off x="548640" y="5532120"/>
            <a:ext cx="11064240" cy="548640"/>
          </a:xfrm>
          <a:prstGeom prst="rect">
            <a:avLst/>
          </a:prstGeom>
          <a:noFill/>
        </p:spPr>
        <p:txBody>
          <a:bodyPr wrap="square" lIns="0" rIns="0" tIns="0" bIns="0" anchor="t">
            <a:spAutoFit/>
          </a:bodyPr>
          <a:lstStyle/>
          <a:p>
            <a:pPr algn="l">
              <a:lnSpc>
                <a:spcPct val="110000"/>
              </a:lnSpc>
            </a:pPr>
            <a:r>
              <a:rPr sz="1100" b="0" i="0">
                <a:solidFill>
                  <a:srgbClr val="6E6E7E"/>
                </a:solidFill>
                <a:latin typeface="Barlow"/>
              </a:rPr>
              <a:t>Arnav Yadav · FastF1 timing data 2021-2025 · frontend built with Claude Code · car model “Ferrari F1-75” by Sketcher, CC-BY-NC-4.0, de-branded · fonts: Barlow, JetBrains Mono (OFL)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